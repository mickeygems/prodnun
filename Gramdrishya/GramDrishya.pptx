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Layouts/slideLayout6.xml" ContentType="application/vnd.openxmlformats-officedocument.presentationml.slideLayout+xml"/>
  <Override PartName="/ppt/notesSlides/notesSlide38.xml" ContentType="application/vnd.openxmlformats-officedocument.presentationml.notesSlide+xml"/>
  <Override PartName="/ppt/notesSlides/notesSlide49.xml" ContentType="application/vnd.openxmlformats-officedocument.presentationml.notesSlide+xml"/>
  <Override PartName="/ppt/slides/slide25.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Override PartName="/ppt/notesSlides/notesSlide45.xml" ContentType="application/vnd.openxmlformats-officedocument.presentationml.notesSlide+xml"/>
  <Override PartName="/ppt/notesSlides/notesSlide56.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Default Extension="fntdata" ContentType="application/x-fontdata"/>
  <Override PartName="/ppt/notesSlides/notesSlide16.xml" ContentType="application/vnd.openxmlformats-officedocument.presentationml.notesSlide+xml"/>
  <Override PartName="/ppt/notesSlides/notesSlide34.xml" ContentType="application/vnd.openxmlformats-officedocument.presentationml.notesSlide+xml"/>
  <Override PartName="/ppt/notesSlides/notesSlide63.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23.xml" ContentType="application/vnd.openxmlformats-officedocument.presentationml.notesSlide+xml"/>
  <Override PartName="/ppt/notesSlides/notesSlide41.xml" ContentType="application/vnd.openxmlformats-officedocument.presentationml.notesSlide+xml"/>
  <Override PartName="/ppt/notesSlides/notesSlide52.xml" ContentType="application/vnd.openxmlformats-officedocument.presentationml.notesSlide+xml"/>
  <Override PartName="/ppt/notesSlides/notesSlide12.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notesSlides/notesSlide39.xml" ContentType="application/vnd.openxmlformats-officedocument.presentationml.notesSlide+xml"/>
  <Override PartName="/ppt/notesSlides/notesSlide48.xml" ContentType="application/vnd.openxmlformats-officedocument.presentationml.notesSlide+xml"/>
  <Override PartName="/ppt/notesSlides/notesSlide57.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37.xml" ContentType="application/vnd.openxmlformats-officedocument.presentationml.notesSlide+xml"/>
  <Override PartName="/ppt/notesSlides/notesSlide46.xml" ContentType="application/vnd.openxmlformats-officedocument.presentationml.notesSlide+xml"/>
  <Override PartName="/ppt/notesSlides/notesSlide55.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5.xml" ContentType="application/vnd.openxmlformats-officedocument.presentationml.notesSlide+xml"/>
  <Override PartName="/ppt/notesSlides/notesSlide44.xml" ContentType="application/vnd.openxmlformats-officedocument.presentationml.notesSlide+xml"/>
  <Override PartName="/ppt/notesSlides/notesSlide53.xml" ContentType="application/vnd.openxmlformats-officedocument.presentationml.notesSlide+xml"/>
  <Override PartName="/ppt/notesSlides/notesSlide62.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42.xml" ContentType="application/vnd.openxmlformats-officedocument.presentationml.notesSlide+xml"/>
  <Override PartName="/ppt/notesSlides/notesSlide51.xml" ContentType="application/vnd.openxmlformats-officedocument.presentationml.notesSlide+xml"/>
  <Override PartName="/ppt/notesSlides/notesSlide60.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40.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notesSlides/notesSlide29.xml" ContentType="application/vnd.openxmlformats-officedocument.presentationml.notesSlide+xml"/>
  <Override PartName="/ppt/notesSlides/notesSlide47.xml" ContentType="application/vnd.openxmlformats-officedocument.presentationml.notesSlide+xml"/>
  <Override PartName="/ppt/notesSlides/notesSlide58.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notesSlides/notesSlide18.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notesSlides/notesSlide25.xml" ContentType="application/vnd.openxmlformats-officedocument.presentationml.notesSlide+xml"/>
  <Override PartName="/ppt/notesSlides/notesSlide43.xml" ContentType="application/vnd.openxmlformats-officedocument.presentationml.notesSlide+xml"/>
  <Override PartName="/ppt/notesSlides/notesSlide54.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notesSlides/notesSlide61.xml" ContentType="application/vnd.openxmlformats-officedocument.presentationml.notes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notesSlides/notesSlide50.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notesSlides/notesSlide1.xml" ContentType="application/vnd.openxmlformats-officedocument.presentationml.notesSlide+xml"/>
  <Override PartName="/ppt/notesSlides/notesSlide59.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65"/>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19" r:id="rId64"/>
  </p:sldIdLst>
  <p:sldSz cx="9144000" cy="5143500" type="screen16x9"/>
  <p:notesSz cx="6858000" cy="9144000"/>
  <p:embeddedFontLst>
    <p:embeddedFont>
      <p:font typeface="Roboto Mono" charset="0"/>
      <p:regular r:id="rId66"/>
      <p:bold r:id="rId67"/>
      <p:italic r:id="rId68"/>
      <p:boldItalic r:id="rId6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p:cViewPr varScale="1">
        <p:scale>
          <a:sx n="111" d="100"/>
          <a:sy n="111" d="100"/>
        </p:scale>
        <p:origin x="-634" y="-82"/>
      </p:cViewPr>
      <p:guideLst>
        <p:guide orient="horz" pos="162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font" Target="fonts/font3.fntdata"/><Relationship Id="rId7" Type="http://schemas.openxmlformats.org/officeDocument/2006/relationships/slide" Target="slides/slide6.xml"/><Relationship Id="rId71"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font" Target="fonts/font4.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2.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dd3b61b21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dd3b61b21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3dd40ed2e0b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3dd40ed2e0b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3dd3b61b218_0_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3dd3b61b218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3dd40ed2e0b_0_17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3dd40ed2e0b_0_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g3dd3b61b218_0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 name="Google Shape;85;g3dd3b61b218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3dd3b61b218_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3dd3b61b218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3dd40ed2e0b_0_18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dd40ed2e0b_0_1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dd40ed2e0b_0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3dd40ed2e0b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3dd40ed2e0b_0_19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dd40ed2e0b_0_1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dd40ed2e0b_0_19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dd40ed2e0b_0_1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3dd40ed2e0b_0_20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3dd40ed2e0b_0_2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dd40ed2e0b_0_2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3dd40ed2e0b_0_2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3dd40ed2e0b_0_2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3dd40ed2e0b_0_2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dd40ed2e0b_0_2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3dd40ed2e0b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3dd40ed2e0b_0_2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3dd40ed2e0b_0_2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dd40ed2e0b_0_2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3dd40ed2e0b_0_2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3dd40ed2e0b_0_2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3dd40ed2e0b_0_2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3dd40ed2e0b_0_2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3dd40ed2e0b_0_2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3dd3b61b218_0_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3dd3b61b218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dd40ed2e0b_0_37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3dd40ed2e0b_0_3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dd3b61b218_0_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dd3b61b218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3dd40ed2e0b_0_2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 name="Google Shape;193;g3dd40ed2e0b_0_2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3dd40ed2e0b_0_3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3dd40ed2e0b_0_3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3dd40ed2e0b_0_26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 name="Google Shape;207;g3dd40ed2e0b_0_2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3dd40ed2e0b_0_2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 name="Google Shape;214;g3dd40ed2e0b_0_2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3dd40ed2e0b_0_27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3dd40ed2e0b_0_2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3dd40ed2e0b_0_3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 name="Google Shape;228;g3dd40ed2e0b_0_3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3dd40ed2e0b_0_28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3dd40ed2e0b_0_2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3dd40ed2e0b_0_28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2" name="Google Shape;242;g3dd40ed2e0b_0_2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3dd40ed2e0b_0_3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g3dd40ed2e0b_0_3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3dd40ed2e0b_0_2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5" name="Google Shape;255;g3dd40ed2e0b_0_2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3dd3b61b218_0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2" name="Google Shape;262;g3dd3b61b218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3dd40ed2e0b_0_3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 name="Google Shape;267;g3dd40ed2e0b_0_3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3dd40ed2e0b_0_3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4" name="Google Shape;274;g3dd40ed2e0b_0_3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3dd40ed2e0b_0_3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3dd40ed2e0b_0_3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3dd3b61b218_0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3dd3b61b218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g3dd40ed2e0b_0_29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4" name="Google Shape;294;g3dd40ed2e0b_0_2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g3dd40ed2e0b_0_30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1" name="Google Shape;301;g3dd40ed2e0b_0_3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3dd40ed2e0b_0_30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3dd40ed2e0b_0_3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g3dd40ed2e0b_0_3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5" name="Google Shape;315;g3dd40ed2e0b_0_3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g3dd3b61b218_0_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2" name="Google Shape;322;g3dd3b61b218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g3dd3b61b218_0_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8" name="Google Shape;328;g3dd3b61b218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g3dd40ed2e0b_0_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3" name="Google Shape;333;g3dd40ed2e0b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g3dd40ed2e0b_0_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8" name="Google Shape;338;g3dd40ed2e0b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g3dd40ed2e0b_0_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3" name="Google Shape;343;g3dd40ed2e0b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g3dd40ed2e0b_0_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8" name="Google Shape;348;g3dd40ed2e0b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3dd40ed2e0b_0_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4" name="Google Shape;354;g3dd40ed2e0b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g3dd40ed2e0b_0_7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0" name="Google Shape;360;g3dd40ed2e0b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g3dd3b61b218_0_7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7" name="Google Shape;367;g3dd3b61b218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g3dd40ed2e0b_0_8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2" name="Google Shape;372;g3dd40ed2e0b_0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g3dd40ed2e0b_0_9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7" name="Google Shape;377;g3dd40ed2e0b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g3dd40ed2e0b_0_9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2" name="Google Shape;382;g3dd40ed2e0b_0_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g3dd40ed2e0b_0_10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7" name="Google Shape;387;g3dd40ed2e0b_0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g3dd3b61b218_0_9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2" name="Google Shape;392;g3dd3b61b218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g3dd40ed2e0b_0_1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7" name="Google Shape;397;g3dd40ed2e0b_0_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g3dd40ed2e0b_0_1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2" name="Google Shape;402;g3dd40ed2e0b_0_1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g3dd40ed2e0b_0_1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8" name="Google Shape;408;g3dd40ed2e0b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g3dd3b61b218_0_10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3" name="Google Shape;413;g3dd3b61b218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g3dd40ed2e0b_0_1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8" name="Google Shape;418;g3dd40ed2e0b_0_1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g3dd3b61b218_0_10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3" name="Google Shape;423;g3dd3b61b218_0_1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g3dd40ed2e0b_0_15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8" name="Google Shape;428;g3dd40ed2e0b_0_1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g3dd3b61b218_0_1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5" name="Google Shape;435;g3dd3b61b218_0_1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g3dd40ed2e0b_0_3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3" name="Google Shape;443;g3dd40ed2e0b_0_3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figma.com/make/HrFiwWSmOGmCtXaorgV5fW/Mobile-Dataset-Collection-Platform?t=E5yFkoPCiljHXxr0-1"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www.figma.com/make/HrFiwWSmOGmCtXaorgV5fW/Mobile-Dataset-Collection-Platform?t=E5yFkoPCiljHXxr0-1"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p:nvPr/>
        </p:nvSpPr>
        <p:spPr>
          <a:xfrm>
            <a:off x="283225" y="598975"/>
            <a:ext cx="7337100" cy="4002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1200"/>
              </a:spcBef>
              <a:spcAft>
                <a:spcPts val="1200"/>
              </a:spcAft>
              <a:buNone/>
            </a:pPr>
            <a:r>
              <a:rPr lang="en-GB" b="1" u="sng">
                <a:solidFill>
                  <a:schemeClr val="dk1"/>
                </a:solidFill>
              </a:rPr>
              <a:t>TASK 1 :  Brief Explanation of the problem we’re solving</a:t>
            </a:r>
            <a:endParaRPr b="1" u="sng">
              <a:solidFill>
                <a:schemeClr val="dk1"/>
              </a:solidFill>
            </a:endParaRPr>
          </a:p>
        </p:txBody>
      </p:sp>
      <p:sp>
        <p:nvSpPr>
          <p:cNvPr id="61" name="Google Shape;61;p14"/>
          <p:cNvSpPr txBox="1"/>
          <p:nvPr/>
        </p:nvSpPr>
        <p:spPr>
          <a:xfrm>
            <a:off x="804925" y="1136200"/>
            <a:ext cx="6815400" cy="3894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GB" sz="1200">
                <a:solidFill>
                  <a:schemeClr val="dk1"/>
                </a:solidFill>
              </a:rPr>
              <a:t>India has over 600,000 villages, yet virtually none of them exist in the training data that powers today's AI vision models. These models can identify the Eiffel Tower in milliseconds but fail to recognize a Durga Puja pandal, a kuchcha house, or a hand-pump in rural Rajasthan — not because the technology is weak, but because the data was never collected.</a:t>
            </a:r>
            <a:endParaRPr sz="12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GB" sz="1200">
                <a:solidFill>
                  <a:schemeClr val="dk1"/>
                </a:solidFill>
              </a:rPr>
              <a:t>The root cause is structural: existing datasets are dominated by urban, western imagery scraped from the internet. Rural India doesn't have a strong internet-image footprint, so it simply doesn't appear. The result is AI that's blind to the everyday visual reality of 65% of India's population.</a:t>
            </a:r>
            <a:r>
              <a:rPr lang="en-GB" sz="1100">
                <a:solidFill>
                  <a:schemeClr val="dk1"/>
                </a:solidFill>
              </a:rPr>
              <a:t>This happens because: Existing datasets are </a:t>
            </a:r>
            <a:r>
              <a:rPr lang="en-GB" sz="1100" b="1">
                <a:solidFill>
                  <a:schemeClr val="dk1"/>
                </a:solidFill>
              </a:rPr>
              <a:t>urban-biased or </a:t>
            </a:r>
            <a:r>
              <a:rPr lang="en-GB" sz="1100">
                <a:solidFill>
                  <a:schemeClr val="dk1"/>
                </a:solidFill>
              </a:rPr>
              <a:t>Data is often </a:t>
            </a:r>
            <a:r>
              <a:rPr lang="en-GB" sz="1100" b="1">
                <a:solidFill>
                  <a:schemeClr val="dk1"/>
                </a:solidFill>
              </a:rPr>
              <a:t>poorly labeled or noisy.</a:t>
            </a:r>
            <a:endParaRPr sz="12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GB" sz="1200" b="1">
                <a:solidFill>
                  <a:schemeClr val="dk1"/>
                </a:solidFill>
              </a:rPr>
              <a:t>Gramin Drishya </a:t>
            </a:r>
            <a:r>
              <a:rPr lang="en-GB" sz="1200">
                <a:solidFill>
                  <a:schemeClr val="dk1"/>
                </a:solidFill>
              </a:rPr>
              <a:t>solves this by turning communities into data contributors — enabling field agents, NGO workers, and local residents to capture </a:t>
            </a:r>
            <a:r>
              <a:rPr lang="en-GB" sz="1200" b="1">
                <a:solidFill>
                  <a:schemeClr val="dk1"/>
                </a:solidFill>
              </a:rPr>
              <a:t>1,000 image-description pairs per village</a:t>
            </a:r>
            <a:r>
              <a:rPr lang="en-GB" sz="1200">
                <a:solidFill>
                  <a:schemeClr val="dk1"/>
                </a:solidFill>
              </a:rPr>
              <a:t>, building a dataset that reflects India as it actually is.</a:t>
            </a:r>
            <a:endParaRPr sz="1200">
              <a:solidFill>
                <a:schemeClr val="dk1"/>
              </a:solidFill>
            </a:endParaRPr>
          </a:p>
          <a:p>
            <a:pPr marL="0" lvl="0" indent="0" algn="l" rtl="0">
              <a:spcBef>
                <a:spcPts val="1200"/>
              </a:spcBef>
              <a:spcAft>
                <a:spcPts val="0"/>
              </a:spcAft>
              <a:buNone/>
            </a:pPr>
            <a:endParaRPr sz="1200">
              <a:solidFill>
                <a:schemeClr val="dk1"/>
              </a:solidFill>
            </a:endParaRPr>
          </a:p>
        </p:txBody>
      </p:sp>
      <p:sp>
        <p:nvSpPr>
          <p:cNvPr id="4" name="TextBox 3"/>
          <p:cNvSpPr txBox="1"/>
          <p:nvPr/>
        </p:nvSpPr>
        <p:spPr>
          <a:xfrm>
            <a:off x="2488818" y="467513"/>
            <a:ext cx="8195224" cy="307777"/>
          </a:xfrm>
          <a:prstGeom prst="rect">
            <a:avLst/>
          </a:prstGeom>
          <a:noFill/>
        </p:spPr>
        <p:txBody>
          <a:bodyPr wrap="square" rtlCol="0">
            <a:spAutoFit/>
          </a:bodyPr>
          <a:lstStyle/>
          <a:p>
            <a:r>
              <a:rPr lang="en-US" dirty="0" err="1" smtClean="0">
                <a:hlinkClick r:id="rId3"/>
              </a:rPr>
              <a:t>Prototype_Link</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67" name="Google Shape;67;p1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68" name="Google Shape;68;p15"/>
          <p:cNvPicPr preferRelativeResize="0"/>
          <p:nvPr/>
        </p:nvPicPr>
        <p:blipFill>
          <a:blip r:embed="rId3">
            <a:alphaModFix/>
          </a:blip>
          <a:stretch>
            <a:fillRect/>
          </a:stretch>
        </p:blipFill>
        <p:spPr>
          <a:xfrm>
            <a:off x="0" y="188386"/>
            <a:ext cx="9143999" cy="4766728"/>
          </a:xfrm>
          <a:prstGeom prst="rect">
            <a:avLst/>
          </a:prstGeom>
          <a:noFill/>
          <a:ln>
            <a:noFill/>
          </a:ln>
        </p:spPr>
      </p:pic>
      <p:sp>
        <p:nvSpPr>
          <p:cNvPr id="5" name="TextBox 4"/>
          <p:cNvSpPr txBox="1"/>
          <p:nvPr/>
        </p:nvSpPr>
        <p:spPr>
          <a:xfrm>
            <a:off x="467513" y="0"/>
            <a:ext cx="8195224" cy="307777"/>
          </a:xfrm>
          <a:prstGeom prst="rect">
            <a:avLst/>
          </a:prstGeom>
          <a:noFill/>
        </p:spPr>
        <p:txBody>
          <a:bodyPr wrap="square" rtlCol="0">
            <a:spAutoFit/>
          </a:bodyPr>
          <a:lstStyle/>
          <a:p>
            <a:r>
              <a:rPr lang="en-US" dirty="0" err="1" smtClean="0">
                <a:hlinkClick r:id="rId4"/>
              </a:rPr>
              <a:t>Prototype_Link</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284225" y="175600"/>
            <a:ext cx="7409100" cy="59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800" b="1" u="sng">
                <a:solidFill>
                  <a:schemeClr val="dk1"/>
                </a:solidFill>
              </a:rPr>
              <a:t>Key goals of our product </a:t>
            </a:r>
            <a:r>
              <a:rPr lang="en-GB" sz="1800" b="1">
                <a:solidFill>
                  <a:schemeClr val="dk1"/>
                </a:solidFill>
              </a:rPr>
              <a:t>:</a:t>
            </a:r>
            <a:endParaRPr sz="1800" b="1">
              <a:solidFill>
                <a:schemeClr val="dk1"/>
              </a:solidFill>
            </a:endParaRPr>
          </a:p>
        </p:txBody>
      </p:sp>
      <p:sp>
        <p:nvSpPr>
          <p:cNvPr id="74" name="Google Shape;74;p16"/>
          <p:cNvSpPr txBox="1"/>
          <p:nvPr/>
        </p:nvSpPr>
        <p:spPr>
          <a:xfrm>
            <a:off x="183725" y="659825"/>
            <a:ext cx="8715600" cy="2357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GB" sz="1100">
                <a:solidFill>
                  <a:schemeClr val="dk1"/>
                </a:solidFill>
              </a:rPr>
              <a:t>The product has three interconnected goals. </a:t>
            </a:r>
            <a:endParaRPr sz="1100">
              <a:solidFill>
                <a:schemeClr val="dk1"/>
              </a:solidFill>
            </a:endParaRPr>
          </a:p>
          <a:p>
            <a:pPr marL="0" lvl="0" indent="0" algn="l" rtl="0">
              <a:lnSpc>
                <a:spcPct val="115000"/>
              </a:lnSpc>
              <a:spcBef>
                <a:spcPts val="1200"/>
              </a:spcBef>
              <a:spcAft>
                <a:spcPts val="0"/>
              </a:spcAft>
              <a:buNone/>
            </a:pPr>
            <a:r>
              <a:rPr lang="en-GB" sz="1100">
                <a:solidFill>
                  <a:schemeClr val="dk1"/>
                </a:solidFill>
              </a:rPr>
              <a:t>First, geographic coverage at scale — we need to reach every district, not just the accessible ones, because an AI model trained on 40% of India will still be 60% blind. </a:t>
            </a:r>
            <a:endParaRPr sz="1100">
              <a:solidFill>
                <a:schemeClr val="dk1"/>
              </a:solidFill>
            </a:endParaRPr>
          </a:p>
          <a:p>
            <a:pPr marL="0" lvl="0" indent="0" algn="l" rtl="0">
              <a:lnSpc>
                <a:spcPct val="115000"/>
              </a:lnSpc>
              <a:spcBef>
                <a:spcPts val="1200"/>
              </a:spcBef>
              <a:spcAft>
                <a:spcPts val="0"/>
              </a:spcAft>
              <a:buNone/>
            </a:pPr>
            <a:r>
              <a:rPr lang="en-GB" sz="1100">
                <a:solidFill>
                  <a:schemeClr val="dk1"/>
                </a:solidFill>
              </a:rPr>
              <a:t>Second, data quality that meets enterprise standards — every image-description pair needs to be accurate enough that an AI company can use it directly for training without additional cleaning, which means our approval rate needs to stay above 85%. </a:t>
            </a:r>
            <a:endParaRPr sz="11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GB" sz="1100">
                <a:solidFill>
                  <a:schemeClr val="dk1"/>
                </a:solidFill>
              </a:rPr>
              <a:t>Third, contributor inclusivity — if the platform only works for educated, smartphone-savvy users, we'll recreate the same urban bias we're trying to fix. The product must work for a first-generation smartphone user which is even on a ₹7,000 Android with a 3G connection.</a:t>
            </a:r>
            <a:endParaRPr sz="11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GB" sz="1100">
                <a:solidFill>
                  <a:schemeClr val="dk1"/>
                </a:solidFill>
              </a:rPr>
              <a:t>These three goals create natural tension: quality is easier to achieve with fewer, better-trained contributors, but coverage requires volume. The platform is designed to resolve that tension through automated quality checks at the device level, so we're not choosing between scale and quality.</a:t>
            </a:r>
            <a:endParaRPr sz="1100">
              <a:solidFill>
                <a:schemeClr val="dk1"/>
              </a:solidFill>
            </a:endParaRPr>
          </a:p>
          <a:p>
            <a:pPr marL="0" lvl="0" indent="0" algn="l" rtl="0">
              <a:spcBef>
                <a:spcPts val="1200"/>
              </a:spcBef>
              <a:spcAft>
                <a:spcPts val="0"/>
              </a:spcAft>
              <a:buNone/>
            </a:pPr>
            <a:endParaRPr sz="1100">
              <a:solidFill>
                <a:schemeClr val="dk1"/>
              </a:solidFill>
            </a:endParaRPr>
          </a:p>
        </p:txBody>
      </p:sp>
      <p:sp>
        <p:nvSpPr>
          <p:cNvPr id="75" name="Google Shape;75;p16"/>
          <p:cNvSpPr txBox="1"/>
          <p:nvPr/>
        </p:nvSpPr>
        <p:spPr>
          <a:xfrm>
            <a:off x="183725" y="2883900"/>
            <a:ext cx="5865300" cy="1878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800"/>
              </a:spcBef>
              <a:spcAft>
                <a:spcPts val="0"/>
              </a:spcAft>
              <a:buClr>
                <a:schemeClr val="dk1"/>
              </a:buClr>
              <a:buSzPts val="1100"/>
              <a:buFont typeface="Arial"/>
              <a:buNone/>
            </a:pPr>
            <a:endParaRPr sz="1100">
              <a:solidFill>
                <a:schemeClr val="dk1"/>
              </a:solidFill>
            </a:endParaRPr>
          </a:p>
          <a:p>
            <a:pPr marL="0" lvl="0" indent="0" algn="l" rtl="0">
              <a:lnSpc>
                <a:spcPct val="115000"/>
              </a:lnSpc>
              <a:spcBef>
                <a:spcPts val="1200"/>
              </a:spcBef>
              <a:spcAft>
                <a:spcPts val="0"/>
              </a:spcAft>
              <a:buNone/>
            </a:pPr>
            <a:r>
              <a:rPr lang="en-GB" sz="1100">
                <a:solidFill>
                  <a:schemeClr val="dk1"/>
                </a:solidFill>
              </a:rPr>
              <a:t>Some of the success metrics that could be adopted:</a:t>
            </a:r>
            <a:endParaRPr sz="1100">
              <a:solidFill>
                <a:schemeClr val="dk1"/>
              </a:solidFill>
            </a:endParaRPr>
          </a:p>
          <a:p>
            <a:pPr marL="457200" lvl="0" indent="-298450" algn="l" rtl="0">
              <a:lnSpc>
                <a:spcPct val="115000"/>
              </a:lnSpc>
              <a:spcBef>
                <a:spcPts val="1200"/>
              </a:spcBef>
              <a:spcAft>
                <a:spcPts val="0"/>
              </a:spcAft>
              <a:buClr>
                <a:schemeClr val="dk1"/>
              </a:buClr>
              <a:buSzPts val="1100"/>
              <a:buChar char="●"/>
            </a:pPr>
            <a:r>
              <a:rPr lang="en-GB" sz="1100">
                <a:solidFill>
                  <a:schemeClr val="dk1"/>
                </a:solidFill>
              </a:rPr>
              <a:t>Images per village (coverage)</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GB" sz="1100">
                <a:solidFill>
                  <a:schemeClr val="dk1"/>
                </a:solidFill>
              </a:rPr>
              <a:t>Approval rate (quality signal)</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GB" sz="1100">
                <a:solidFill>
                  <a:schemeClr val="dk1"/>
                </a:solidFill>
              </a:rPr>
              <a:t>District completion %</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GB" sz="1100">
                <a:solidFill>
                  <a:schemeClr val="dk1"/>
                </a:solidFill>
              </a:rPr>
              <a:t>Avg. review turnaround time</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GB" sz="1100">
                <a:solidFill>
                  <a:schemeClr val="dk1"/>
                </a:solidFill>
              </a:rPr>
              <a:t>Contributor retention rate</a:t>
            </a:r>
            <a:endParaRPr sz="1100">
              <a:solidFill>
                <a:schemeClr val="dk1"/>
              </a:solidFill>
            </a:endParaRPr>
          </a:p>
          <a:p>
            <a:pPr marL="0" lvl="0" indent="0" algn="l" rtl="0">
              <a:lnSpc>
                <a:spcPct val="115000"/>
              </a:lnSpc>
              <a:spcBef>
                <a:spcPts val="1200"/>
              </a:spcBef>
              <a:spcAft>
                <a:spcPts val="0"/>
              </a:spcAft>
              <a:buNone/>
            </a:pPr>
            <a:endParaRPr sz="1100">
              <a:solidFill>
                <a:schemeClr val="dk1"/>
              </a:solidFill>
            </a:endParaRPr>
          </a:p>
          <a:p>
            <a:pPr marL="0" lvl="0" indent="0" algn="l" rtl="0">
              <a:spcBef>
                <a:spcPts val="1200"/>
              </a:spcBef>
              <a:spcAft>
                <a:spcPts val="0"/>
              </a:spcAft>
              <a:buClr>
                <a:schemeClr val="dk1"/>
              </a:buClr>
              <a:buSzPts val="1100"/>
              <a:buFont typeface="Arial"/>
              <a:buNone/>
            </a:pPr>
            <a:endParaRPr sz="1800">
              <a:solidFill>
                <a:schemeClr val="dk2"/>
              </a:solidFill>
            </a:endParaRPr>
          </a:p>
          <a:p>
            <a:pPr marL="0" lvl="0" indent="0" algn="l" rtl="0">
              <a:spcBef>
                <a:spcPts val="0"/>
              </a:spcBef>
              <a:spcAft>
                <a:spcPts val="0"/>
              </a:spcAft>
              <a:buClr>
                <a:schemeClr val="dk1"/>
              </a:buClr>
              <a:buSzPts val="1100"/>
              <a:buFont typeface="Arial"/>
              <a:buNone/>
            </a:pPr>
            <a:endParaRPr sz="18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81" name="Google Shape;81;p1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82" name="Google Shape;82;p17"/>
          <p:cNvPicPr preferRelativeResize="0"/>
          <p:nvPr/>
        </p:nvPicPr>
        <p:blipFill>
          <a:blip r:embed="rId3">
            <a:alphaModFix/>
          </a:blip>
          <a:stretch>
            <a:fillRect/>
          </a:stretch>
        </p:blipFill>
        <p:spPr>
          <a:xfrm>
            <a:off x="199085" y="0"/>
            <a:ext cx="8745828" cy="51434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8"/>
          <p:cNvSpPr txBox="1"/>
          <p:nvPr/>
        </p:nvSpPr>
        <p:spPr>
          <a:xfrm>
            <a:off x="147250" y="356200"/>
            <a:ext cx="7710600" cy="383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GB" sz="1100">
                <a:solidFill>
                  <a:schemeClr val="dk1"/>
                </a:solidFill>
              </a:rPr>
              <a:t>We are designing for two distinct user groups, and the product must effectively serve both.</a:t>
            </a:r>
            <a:endParaRPr sz="11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GB" sz="1100" b="1">
                <a:solidFill>
                  <a:schemeClr val="dk1"/>
                </a:solidFill>
              </a:rPr>
              <a:t>Contributors</a:t>
            </a:r>
            <a:r>
              <a:rPr lang="en-GB" sz="1100">
                <a:solidFill>
                  <a:schemeClr val="dk1"/>
                </a:solidFill>
              </a:rPr>
              <a:t> are on-ground participants such as local residents, NGO workers, and volunteers. Their primary constraints are </a:t>
            </a:r>
            <a:r>
              <a:rPr lang="en-GB" sz="1100" b="1">
                <a:solidFill>
                  <a:schemeClr val="dk1"/>
                </a:solidFill>
              </a:rPr>
              <a:t>limited digital literacy, low connectivity, and language barriers</a:t>
            </a:r>
            <a:r>
              <a:rPr lang="en-GB" sz="1100">
                <a:solidFill>
                  <a:schemeClr val="dk1"/>
                </a:solidFill>
              </a:rPr>
              <a:t>. The product should therefore be </a:t>
            </a:r>
            <a:r>
              <a:rPr lang="en-GB" sz="1100" b="1">
                <a:solidFill>
                  <a:schemeClr val="dk1"/>
                </a:solidFill>
              </a:rPr>
              <a:t>mobile-first, visual, multilingual, and offline-capable</a:t>
            </a:r>
            <a:r>
              <a:rPr lang="en-GB" sz="1100">
                <a:solidFill>
                  <a:schemeClr val="dk1"/>
                </a:solidFill>
              </a:rPr>
              <a:t>, with simple guidance and instant feedback. It should feel intuitive and engaging—more like documenting their community than completing a formal task.</a:t>
            </a:r>
            <a:endParaRPr sz="11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GB" sz="1100" b="1">
                <a:solidFill>
                  <a:schemeClr val="dk1"/>
                </a:solidFill>
              </a:rPr>
              <a:t>Admins</a:t>
            </a:r>
            <a:r>
              <a:rPr lang="en-GB" sz="1100">
                <a:solidFill>
                  <a:schemeClr val="dk1"/>
                </a:solidFill>
              </a:rPr>
              <a:t> are internal, tech-savvy users focused on </a:t>
            </a:r>
            <a:r>
              <a:rPr lang="en-GB" sz="1100" b="1">
                <a:solidFill>
                  <a:schemeClr val="dk1"/>
                </a:solidFill>
              </a:rPr>
              <a:t>quality control and coverage tracking</a:t>
            </a:r>
            <a:r>
              <a:rPr lang="en-GB" sz="1100">
                <a:solidFill>
                  <a:schemeClr val="dk1"/>
                </a:solidFill>
              </a:rPr>
              <a:t>. Their key need is </a:t>
            </a:r>
            <a:r>
              <a:rPr lang="en-GB" sz="1100" b="1">
                <a:solidFill>
                  <a:schemeClr val="dk1"/>
                </a:solidFill>
              </a:rPr>
              <a:t>efficiency at scale</a:t>
            </a:r>
            <a:r>
              <a:rPr lang="en-GB" sz="1100">
                <a:solidFill>
                  <a:schemeClr val="dk1"/>
                </a:solidFill>
              </a:rPr>
              <a:t>. The platform should provide </a:t>
            </a:r>
            <a:r>
              <a:rPr lang="en-GB" sz="1100" b="1">
                <a:solidFill>
                  <a:schemeClr val="dk1"/>
                </a:solidFill>
              </a:rPr>
              <a:t>fast filtering, clear approval workflows, and geographic insights</a:t>
            </a:r>
            <a:r>
              <a:rPr lang="en-GB" sz="1100">
                <a:solidFill>
                  <a:schemeClr val="dk1"/>
                </a:solidFill>
              </a:rPr>
              <a:t> to help them review large volumes of data consistently and identify gaps in coverage.</a:t>
            </a:r>
            <a:endParaRPr sz="1100">
              <a:solidFill>
                <a:schemeClr val="dk1"/>
              </a:solidFill>
            </a:endParaRPr>
          </a:p>
          <a:p>
            <a:pPr marL="0" lvl="0" indent="0" algn="l" rtl="0">
              <a:spcBef>
                <a:spcPts val="1200"/>
              </a:spcBef>
              <a:spcAft>
                <a:spcPts val="0"/>
              </a:spcAft>
              <a:buClr>
                <a:schemeClr val="dk1"/>
              </a:buClr>
              <a:buSzPts val="1100"/>
              <a:buFont typeface="Arial"/>
              <a:buNone/>
            </a:pPr>
            <a:endParaRPr sz="1300" b="1">
              <a:solidFill>
                <a:schemeClr val="dk1"/>
              </a:solidFill>
            </a:endParaRPr>
          </a:p>
          <a:p>
            <a:pPr marL="0" lvl="0" indent="0" algn="l" rtl="0">
              <a:spcBef>
                <a:spcPts val="0"/>
              </a:spcBef>
              <a:spcAft>
                <a:spcPts val="0"/>
              </a:spcAft>
              <a:buNone/>
            </a:pPr>
            <a:endParaRPr sz="1300">
              <a:solidFill>
                <a:schemeClr val="dk1"/>
              </a:solidFill>
            </a:endParaRPr>
          </a:p>
        </p:txBody>
      </p:sp>
      <p:sp>
        <p:nvSpPr>
          <p:cNvPr id="88" name="Google Shape;88;p18"/>
          <p:cNvSpPr txBox="1"/>
          <p:nvPr/>
        </p:nvSpPr>
        <p:spPr>
          <a:xfrm>
            <a:off x="329925" y="-73100"/>
            <a:ext cx="7199100" cy="42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800">
                <a:solidFill>
                  <a:schemeClr val="dk1"/>
                </a:solidFill>
              </a:rPr>
              <a:t>Our key users : </a:t>
            </a:r>
            <a:endParaRPr sz="1800">
              <a:solidFill>
                <a:schemeClr val="dk1"/>
              </a:solidFill>
            </a:endParaRPr>
          </a:p>
        </p:txBody>
      </p:sp>
      <p:pic>
        <p:nvPicPr>
          <p:cNvPr id="89" name="Google Shape;89;p18"/>
          <p:cNvPicPr preferRelativeResize="0"/>
          <p:nvPr/>
        </p:nvPicPr>
        <p:blipFill rotWithShape="1">
          <a:blip r:embed="rId3">
            <a:alphaModFix/>
          </a:blip>
          <a:srcRect t="3219" b="6618"/>
          <a:stretch/>
        </p:blipFill>
        <p:spPr>
          <a:xfrm>
            <a:off x="722775" y="2225325"/>
            <a:ext cx="7454899" cy="297499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9"/>
          <p:cNvSpPr txBox="1"/>
          <p:nvPr/>
        </p:nvSpPr>
        <p:spPr>
          <a:xfrm>
            <a:off x="0" y="292350"/>
            <a:ext cx="7995000" cy="37626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1800"/>
              </a:spcBef>
              <a:spcAft>
                <a:spcPts val="0"/>
              </a:spcAft>
              <a:buNone/>
            </a:pPr>
            <a:r>
              <a:rPr lang="en-GB" sz="1200" b="1" u="sng">
                <a:solidFill>
                  <a:schemeClr val="dk1"/>
                </a:solidFill>
              </a:rPr>
              <a:t>Walk through of the core user flow</a:t>
            </a:r>
            <a:r>
              <a:rPr lang="en-GB" sz="1200" b="1">
                <a:solidFill>
                  <a:schemeClr val="dk1"/>
                </a:solidFill>
              </a:rPr>
              <a:t> :</a:t>
            </a:r>
            <a:r>
              <a:rPr lang="en-GB" sz="1200" b="1" u="sng">
                <a:solidFill>
                  <a:schemeClr val="dk1"/>
                </a:solidFill>
              </a:rPr>
              <a:t>   </a:t>
            </a:r>
            <a:endParaRPr sz="1200" b="1" u="sng">
              <a:solidFill>
                <a:schemeClr val="dk1"/>
              </a:solidFill>
            </a:endParaRPr>
          </a:p>
          <a:p>
            <a:pPr marL="0" lvl="0" indent="0" algn="l" rtl="0">
              <a:lnSpc>
                <a:spcPct val="115000"/>
              </a:lnSpc>
              <a:spcBef>
                <a:spcPts val="1800"/>
              </a:spcBef>
              <a:spcAft>
                <a:spcPts val="0"/>
              </a:spcAft>
              <a:buNone/>
            </a:pPr>
            <a:endParaRPr sz="12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GB" sz="1100">
                <a:solidFill>
                  <a:schemeClr val="dk1"/>
                </a:solidFill>
              </a:rPr>
              <a:t>The contributor experience is designed to </a:t>
            </a:r>
            <a:r>
              <a:rPr lang="en-GB" sz="1100" b="1">
                <a:solidFill>
                  <a:schemeClr val="dk1"/>
                </a:solidFill>
              </a:rPr>
              <a:t>minimize effort and decision-making</a:t>
            </a:r>
            <a:r>
              <a:rPr lang="en-GB" sz="1100">
                <a:solidFill>
                  <a:schemeClr val="dk1"/>
                </a:solidFill>
              </a:rPr>
              <a:t> while ensuring valid submissions.</a:t>
            </a:r>
            <a:endParaRPr sz="11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GB" sz="1100">
                <a:solidFill>
                  <a:schemeClr val="dk1"/>
                </a:solidFill>
              </a:rPr>
              <a:t>Users open the app (with offline support) and confirm their </a:t>
            </a:r>
            <a:r>
              <a:rPr lang="en-GB" sz="1100" b="1">
                <a:solidFill>
                  <a:schemeClr val="dk1"/>
                </a:solidFill>
              </a:rPr>
              <a:t>location via GPS or manual selection</a:t>
            </a:r>
            <a:r>
              <a:rPr lang="en-GB" sz="1100">
                <a:solidFill>
                  <a:schemeClr val="dk1"/>
                </a:solidFill>
              </a:rPr>
              <a:t>, ensuring accurate dataset tagging. They then </a:t>
            </a:r>
            <a:r>
              <a:rPr lang="en-GB" sz="1100" b="1">
                <a:solidFill>
                  <a:schemeClr val="dk1"/>
                </a:solidFill>
              </a:rPr>
              <a:t>capture or upload an image</a:t>
            </a:r>
            <a:r>
              <a:rPr lang="en-GB" sz="1100">
                <a:solidFill>
                  <a:schemeClr val="dk1"/>
                </a:solidFill>
              </a:rPr>
              <a:t>, supported by basic quality checks (e.g., blur detection).</a:t>
            </a:r>
            <a:endParaRPr sz="11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GB" sz="1100">
                <a:solidFill>
                  <a:schemeClr val="dk1"/>
                </a:solidFill>
              </a:rPr>
              <a:t>Next, contributors add a </a:t>
            </a:r>
            <a:r>
              <a:rPr lang="en-GB" sz="1100" b="1">
                <a:solidFill>
                  <a:schemeClr val="dk1"/>
                </a:solidFill>
              </a:rPr>
              <a:t>description via voice or text</a:t>
            </a:r>
            <a:r>
              <a:rPr lang="en-GB" sz="1100">
                <a:solidFill>
                  <a:schemeClr val="dk1"/>
                </a:solidFill>
              </a:rPr>
              <a:t>, with multilingual support and prompts to encourage meaningful input. A final </a:t>
            </a:r>
            <a:r>
              <a:rPr lang="en-GB" sz="1100" b="1">
                <a:solidFill>
                  <a:schemeClr val="dk1"/>
                </a:solidFill>
              </a:rPr>
              <a:t>review screen</a:t>
            </a:r>
            <a:r>
              <a:rPr lang="en-GB" sz="1100">
                <a:solidFill>
                  <a:schemeClr val="dk1"/>
                </a:solidFill>
              </a:rPr>
              <a:t> allows users to verify image, location, and description before submission.</a:t>
            </a:r>
            <a:endParaRPr sz="11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GB" sz="1100">
                <a:solidFill>
                  <a:schemeClr val="dk1"/>
                </a:solidFill>
              </a:rPr>
              <a:t>Submissions are </a:t>
            </a:r>
            <a:r>
              <a:rPr lang="en-GB" sz="1100" b="1">
                <a:solidFill>
                  <a:schemeClr val="dk1"/>
                </a:solidFill>
              </a:rPr>
              <a:t>uploaded instantly if online</a:t>
            </a:r>
            <a:r>
              <a:rPr lang="en-GB" sz="1100">
                <a:solidFill>
                  <a:schemeClr val="dk1"/>
                </a:solidFill>
              </a:rPr>
              <a:t>, or </a:t>
            </a:r>
            <a:r>
              <a:rPr lang="en-GB" sz="1100" b="1">
                <a:solidFill>
                  <a:schemeClr val="dk1"/>
                </a:solidFill>
              </a:rPr>
              <a:t>stored locally and synced later</a:t>
            </a:r>
            <a:r>
              <a:rPr lang="en-GB" sz="1100">
                <a:solidFill>
                  <a:schemeClr val="dk1"/>
                </a:solidFill>
              </a:rPr>
              <a:t> in low-connectivity scenarios. Users receive </a:t>
            </a:r>
            <a:r>
              <a:rPr lang="en-GB" sz="1100" b="1">
                <a:solidFill>
                  <a:schemeClr val="dk1"/>
                </a:solidFill>
              </a:rPr>
              <a:t>immediate feedback or rewards</a:t>
            </a:r>
            <a:r>
              <a:rPr lang="en-GB" sz="1100">
                <a:solidFill>
                  <a:schemeClr val="dk1"/>
                </a:solidFill>
              </a:rPr>
              <a:t> to encourage continued participation.</a:t>
            </a:r>
            <a:endParaRPr sz="11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GB" sz="1100">
                <a:solidFill>
                  <a:schemeClr val="dk1"/>
                </a:solidFill>
              </a:rPr>
              <a:t>The admin flow enables </a:t>
            </a:r>
            <a:r>
              <a:rPr lang="en-GB" sz="1100" b="1">
                <a:solidFill>
                  <a:schemeClr val="dk1"/>
                </a:solidFill>
              </a:rPr>
              <a:t>efficient review through a centralized queue</a:t>
            </a:r>
            <a:r>
              <a:rPr lang="en-GB" sz="1100">
                <a:solidFill>
                  <a:schemeClr val="dk1"/>
                </a:solidFill>
              </a:rPr>
              <a:t>, with image, caption, and location details. Admins can </a:t>
            </a:r>
            <a:r>
              <a:rPr lang="en-GB" sz="1100" b="1">
                <a:solidFill>
                  <a:schemeClr val="dk1"/>
                </a:solidFill>
              </a:rPr>
              <a:t>approve/reject quickly</a:t>
            </a:r>
            <a:r>
              <a:rPr lang="en-GB" sz="1100">
                <a:solidFill>
                  <a:schemeClr val="dk1"/>
                </a:solidFill>
              </a:rPr>
              <a:t>, while a </a:t>
            </a:r>
            <a:r>
              <a:rPr lang="en-GB" sz="1100" b="1">
                <a:solidFill>
                  <a:schemeClr val="dk1"/>
                </a:solidFill>
              </a:rPr>
              <a:t>coverage dashboard</a:t>
            </a:r>
            <a:r>
              <a:rPr lang="en-GB" sz="1100">
                <a:solidFill>
                  <a:schemeClr val="dk1"/>
                </a:solidFill>
              </a:rPr>
              <a:t> highlights geographic gaps to guide contributor efforts.</a:t>
            </a:r>
            <a:endParaRPr sz="1100">
              <a:solidFill>
                <a:schemeClr val="dk1"/>
              </a:solidFill>
            </a:endParaRPr>
          </a:p>
          <a:p>
            <a:pPr marL="0" lvl="0" indent="0" algn="l" rtl="0">
              <a:lnSpc>
                <a:spcPct val="115000"/>
              </a:lnSpc>
              <a:spcBef>
                <a:spcPts val="1800"/>
              </a:spcBef>
              <a:spcAft>
                <a:spcPts val="400"/>
              </a:spcAft>
              <a:buNone/>
            </a:pPr>
            <a:endParaRPr sz="11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00" name="Google Shape;100;p2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01" name="Google Shape;101;p20"/>
          <p:cNvPicPr preferRelativeResize="0"/>
          <p:nvPr/>
        </p:nvPicPr>
        <p:blipFill>
          <a:blip r:embed="rId3">
            <a:alphaModFix/>
          </a:blip>
          <a:stretch>
            <a:fillRect/>
          </a:stretch>
        </p:blipFill>
        <p:spPr>
          <a:xfrm>
            <a:off x="247675" y="404000"/>
            <a:ext cx="8584626" cy="442215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21"/>
          <p:cNvSpPr txBox="1"/>
          <p:nvPr/>
        </p:nvSpPr>
        <p:spPr>
          <a:xfrm>
            <a:off x="128925" y="111650"/>
            <a:ext cx="4659300" cy="49425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1800"/>
              </a:spcBef>
              <a:spcAft>
                <a:spcPts val="0"/>
              </a:spcAft>
              <a:buClr>
                <a:schemeClr val="dk1"/>
              </a:buClr>
              <a:buSzPts val="1100"/>
              <a:buFont typeface="Arial"/>
              <a:buNone/>
            </a:pPr>
            <a:r>
              <a:rPr lang="en-GB" sz="1700" b="1" u="sng">
                <a:solidFill>
                  <a:schemeClr val="dk1"/>
                </a:solidFill>
              </a:rPr>
              <a:t>Contributor Core Flow</a:t>
            </a:r>
            <a:endParaRPr sz="1700" b="1" u="sng">
              <a:solidFill>
                <a:schemeClr val="dk1"/>
              </a:solidFill>
            </a:endParaRPr>
          </a:p>
          <a:p>
            <a:pPr marL="457200" lvl="0" indent="-298450" algn="l" rtl="0">
              <a:lnSpc>
                <a:spcPct val="115000"/>
              </a:lnSpc>
              <a:spcBef>
                <a:spcPts val="1200"/>
              </a:spcBef>
              <a:spcAft>
                <a:spcPts val="0"/>
              </a:spcAft>
              <a:buClr>
                <a:schemeClr val="dk1"/>
              </a:buClr>
              <a:buSzPts val="1100"/>
              <a:buAutoNum type="arabicPeriod"/>
            </a:pPr>
            <a:r>
              <a:rPr lang="en-GB" sz="1100" b="1">
                <a:solidFill>
                  <a:schemeClr val="dk1"/>
                </a:solidFill>
              </a:rPr>
              <a:t>Login &amp; Language Selection</a:t>
            </a:r>
            <a:br>
              <a:rPr lang="en-GB" sz="1100" b="1">
                <a:solidFill>
                  <a:schemeClr val="dk1"/>
                </a:solidFill>
              </a:rPr>
            </a:br>
            <a:r>
              <a:rPr lang="en-GB" sz="1100">
                <a:solidFill>
                  <a:schemeClr val="dk1"/>
                </a:solidFill>
              </a:rPr>
              <a:t> User logs in via OTP and selects preferred language.</a:t>
            </a:r>
            <a:endParaRPr sz="1100">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GB" sz="1100" b="1">
                <a:solidFill>
                  <a:schemeClr val="dk1"/>
                </a:solidFill>
              </a:rPr>
              <a:t>Location Confirmation</a:t>
            </a:r>
            <a:br>
              <a:rPr lang="en-GB" sz="1100" b="1">
                <a:solidFill>
                  <a:schemeClr val="dk1"/>
                </a:solidFill>
              </a:rPr>
            </a:br>
            <a:r>
              <a:rPr lang="en-GB" sz="1100">
                <a:solidFill>
                  <a:schemeClr val="dk1"/>
                </a:solidFill>
              </a:rPr>
              <a:t> GPS auto-detects location; user confirms or manually selects (State → District → Village).</a:t>
            </a:r>
            <a:endParaRPr sz="1100">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GB" sz="1100" b="1">
                <a:solidFill>
                  <a:schemeClr val="dk1"/>
                </a:solidFill>
              </a:rPr>
              <a:t>Capture / Upload Image</a:t>
            </a:r>
            <a:br>
              <a:rPr lang="en-GB" sz="1100" b="1">
                <a:solidFill>
                  <a:schemeClr val="dk1"/>
                </a:solidFill>
              </a:rPr>
            </a:br>
            <a:r>
              <a:rPr lang="en-GB" sz="1100">
                <a:solidFill>
                  <a:schemeClr val="dk1"/>
                </a:solidFill>
              </a:rPr>
              <a:t> User takes a photo or uploads from gallery with basic quality validation.</a:t>
            </a:r>
            <a:endParaRPr sz="1100">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GB" sz="1100" b="1">
                <a:solidFill>
                  <a:schemeClr val="dk1"/>
                </a:solidFill>
              </a:rPr>
              <a:t>Add Description</a:t>
            </a:r>
            <a:br>
              <a:rPr lang="en-GB" sz="1100" b="1">
                <a:solidFill>
                  <a:schemeClr val="dk1"/>
                </a:solidFill>
              </a:rPr>
            </a:br>
            <a:r>
              <a:rPr lang="en-GB" sz="1100">
                <a:solidFill>
                  <a:schemeClr val="dk1"/>
                </a:solidFill>
              </a:rPr>
              <a:t> User provides a short description via voice or text (with prompts for completeness).</a:t>
            </a:r>
            <a:endParaRPr sz="1100">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GB" sz="1100" b="1">
                <a:solidFill>
                  <a:schemeClr val="dk1"/>
                </a:solidFill>
              </a:rPr>
              <a:t>Review Submission</a:t>
            </a:r>
            <a:br>
              <a:rPr lang="en-GB" sz="1100" b="1">
                <a:solidFill>
                  <a:schemeClr val="dk1"/>
                </a:solidFill>
              </a:rPr>
            </a:br>
            <a:r>
              <a:rPr lang="en-GB" sz="1100">
                <a:solidFill>
                  <a:schemeClr val="dk1"/>
                </a:solidFill>
              </a:rPr>
              <a:t> User reviews image, location, and description before final submission.</a:t>
            </a:r>
            <a:endParaRPr sz="1100">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GB" sz="1100" b="1">
                <a:solidFill>
                  <a:schemeClr val="dk1"/>
                </a:solidFill>
              </a:rPr>
              <a:t>Submit &amp; Sync</a:t>
            </a:r>
            <a:endParaRPr sz="1100" b="1">
              <a:solidFill>
                <a:schemeClr val="dk1"/>
              </a:solidFill>
            </a:endParaRPr>
          </a:p>
          <a:p>
            <a:pPr marL="914400" lvl="1" indent="-298450" algn="l" rtl="0">
              <a:lnSpc>
                <a:spcPct val="115000"/>
              </a:lnSpc>
              <a:spcBef>
                <a:spcPts val="0"/>
              </a:spcBef>
              <a:spcAft>
                <a:spcPts val="0"/>
              </a:spcAft>
              <a:buClr>
                <a:schemeClr val="dk1"/>
              </a:buClr>
              <a:buSzPts val="1100"/>
              <a:buChar char="○"/>
            </a:pPr>
            <a:r>
              <a:rPr lang="en-GB" sz="1100">
                <a:solidFill>
                  <a:schemeClr val="dk1"/>
                </a:solidFill>
              </a:rPr>
              <a:t>Online: Instant upload</a:t>
            </a:r>
            <a:endParaRPr sz="1100">
              <a:solidFill>
                <a:schemeClr val="dk1"/>
              </a:solidFill>
            </a:endParaRPr>
          </a:p>
          <a:p>
            <a:pPr marL="914400" lvl="1" indent="-298450" algn="l" rtl="0">
              <a:lnSpc>
                <a:spcPct val="115000"/>
              </a:lnSpc>
              <a:spcBef>
                <a:spcPts val="0"/>
              </a:spcBef>
              <a:spcAft>
                <a:spcPts val="0"/>
              </a:spcAft>
              <a:buClr>
                <a:schemeClr val="dk1"/>
              </a:buClr>
              <a:buSzPts val="1100"/>
              <a:buChar char="○"/>
            </a:pPr>
            <a:r>
              <a:rPr lang="en-GB" sz="1100">
                <a:solidFill>
                  <a:schemeClr val="dk1"/>
                </a:solidFill>
              </a:rPr>
              <a:t>Offline: Saved locally and auto-synced later</a:t>
            </a:r>
            <a:endParaRPr sz="1100">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GB" sz="1100" b="1">
                <a:solidFill>
                  <a:schemeClr val="dk1"/>
                </a:solidFill>
              </a:rPr>
              <a:t>Feedback &amp; Incentive</a:t>
            </a:r>
            <a:br>
              <a:rPr lang="en-GB" sz="1100" b="1">
                <a:solidFill>
                  <a:schemeClr val="dk1"/>
                </a:solidFill>
              </a:rPr>
            </a:br>
            <a:r>
              <a:rPr lang="en-GB" sz="1100">
                <a:solidFill>
                  <a:schemeClr val="dk1"/>
                </a:solidFill>
              </a:rPr>
              <a:t> User receives confirmation, progress update, or reward points.</a:t>
            </a:r>
            <a:endParaRPr sz="1100">
              <a:solidFill>
                <a:schemeClr val="dk1"/>
              </a:solidFill>
            </a:endParaRPr>
          </a:p>
          <a:p>
            <a:pPr marL="0" lvl="0" indent="0" algn="l" rtl="0">
              <a:spcBef>
                <a:spcPts val="1200"/>
              </a:spcBef>
              <a:spcAft>
                <a:spcPts val="0"/>
              </a:spcAft>
              <a:buNone/>
            </a:pPr>
            <a:endParaRPr sz="1800">
              <a:solidFill>
                <a:schemeClr val="dk2"/>
              </a:solidFill>
            </a:endParaRPr>
          </a:p>
        </p:txBody>
      </p:sp>
      <p:sp>
        <p:nvSpPr>
          <p:cNvPr id="107" name="Google Shape;107;p21"/>
          <p:cNvSpPr txBox="1"/>
          <p:nvPr/>
        </p:nvSpPr>
        <p:spPr>
          <a:xfrm>
            <a:off x="4669450" y="155250"/>
            <a:ext cx="4312200" cy="48330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1800"/>
              </a:spcBef>
              <a:spcAft>
                <a:spcPts val="0"/>
              </a:spcAft>
              <a:buClr>
                <a:schemeClr val="dk1"/>
              </a:buClr>
              <a:buSzPts val="1100"/>
              <a:buFont typeface="Arial"/>
              <a:buNone/>
            </a:pPr>
            <a:r>
              <a:rPr lang="en-GB" sz="1700" b="1" u="sng">
                <a:solidFill>
                  <a:schemeClr val="dk1"/>
                </a:solidFill>
              </a:rPr>
              <a:t>Admin / Reviewer Core Flow</a:t>
            </a:r>
            <a:endParaRPr sz="1700" b="1" u="sng">
              <a:solidFill>
                <a:schemeClr val="dk1"/>
              </a:solidFill>
            </a:endParaRPr>
          </a:p>
          <a:p>
            <a:pPr marL="457200" lvl="0" indent="-298450" algn="l" rtl="0">
              <a:lnSpc>
                <a:spcPct val="115000"/>
              </a:lnSpc>
              <a:spcBef>
                <a:spcPts val="1200"/>
              </a:spcBef>
              <a:spcAft>
                <a:spcPts val="0"/>
              </a:spcAft>
              <a:buClr>
                <a:schemeClr val="dk1"/>
              </a:buClr>
              <a:buSzPts val="1100"/>
              <a:buAutoNum type="arabicPeriod"/>
            </a:pPr>
            <a:r>
              <a:rPr lang="en-GB" sz="1100" b="1">
                <a:solidFill>
                  <a:schemeClr val="dk1"/>
                </a:solidFill>
              </a:rPr>
              <a:t>Login to Dashboard</a:t>
            </a:r>
            <a:br>
              <a:rPr lang="en-GB" sz="1100" b="1">
                <a:solidFill>
                  <a:schemeClr val="dk1"/>
                </a:solidFill>
              </a:rPr>
            </a:br>
            <a:r>
              <a:rPr lang="en-GB" sz="1100">
                <a:solidFill>
                  <a:schemeClr val="dk1"/>
                </a:solidFill>
              </a:rPr>
              <a:t> Admin accesses centralized review interface.</a:t>
            </a:r>
            <a:endParaRPr sz="1100">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GB" sz="1100" b="1">
                <a:solidFill>
                  <a:schemeClr val="dk1"/>
                </a:solidFill>
              </a:rPr>
              <a:t>View Submission Queue</a:t>
            </a:r>
            <a:br>
              <a:rPr lang="en-GB" sz="1100" b="1">
                <a:solidFill>
                  <a:schemeClr val="dk1"/>
                </a:solidFill>
              </a:rPr>
            </a:br>
            <a:r>
              <a:rPr lang="en-GB" sz="1100">
                <a:solidFill>
                  <a:schemeClr val="dk1"/>
                </a:solidFill>
              </a:rPr>
              <a:t> Submissions sorted by status (pending, flagged, recent).</a:t>
            </a:r>
            <a:endParaRPr sz="1100">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GB" sz="1100" b="1">
                <a:solidFill>
                  <a:schemeClr val="dk1"/>
                </a:solidFill>
              </a:rPr>
              <a:t>Review Entry</a:t>
            </a:r>
            <a:br>
              <a:rPr lang="en-GB" sz="1100" b="1">
                <a:solidFill>
                  <a:schemeClr val="dk1"/>
                </a:solidFill>
              </a:rPr>
            </a:br>
            <a:r>
              <a:rPr lang="en-GB" sz="1100">
                <a:solidFill>
                  <a:schemeClr val="dk1"/>
                </a:solidFill>
              </a:rPr>
              <a:t> Admin views image, caption, and location details.</a:t>
            </a:r>
            <a:endParaRPr sz="1100">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GB" sz="1100" b="1">
                <a:solidFill>
                  <a:schemeClr val="dk1"/>
                </a:solidFill>
              </a:rPr>
              <a:t>Quality Check</a:t>
            </a:r>
            <a:br>
              <a:rPr lang="en-GB" sz="1100" b="1">
                <a:solidFill>
                  <a:schemeClr val="dk1"/>
                </a:solidFill>
              </a:rPr>
            </a:br>
            <a:r>
              <a:rPr lang="en-GB" sz="1100">
                <a:solidFill>
                  <a:schemeClr val="dk1"/>
                </a:solidFill>
              </a:rPr>
              <a:t> Evaluate for relevance, clarity, and correct tagging.</a:t>
            </a:r>
            <a:endParaRPr sz="1100">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GB" sz="1100" b="1">
                <a:solidFill>
                  <a:schemeClr val="dk1"/>
                </a:solidFill>
              </a:rPr>
              <a:t>Approve / Reject</a:t>
            </a:r>
            <a:endParaRPr sz="1100" b="1">
              <a:solidFill>
                <a:schemeClr val="dk1"/>
              </a:solidFill>
            </a:endParaRPr>
          </a:p>
          <a:p>
            <a:pPr marL="914400" lvl="1" indent="-298450" algn="l" rtl="0">
              <a:lnSpc>
                <a:spcPct val="115000"/>
              </a:lnSpc>
              <a:spcBef>
                <a:spcPts val="0"/>
              </a:spcBef>
              <a:spcAft>
                <a:spcPts val="0"/>
              </a:spcAft>
              <a:buClr>
                <a:schemeClr val="dk1"/>
              </a:buClr>
              <a:buSzPts val="1100"/>
              <a:buChar char="○"/>
            </a:pPr>
            <a:r>
              <a:rPr lang="en-GB" sz="1100">
                <a:solidFill>
                  <a:schemeClr val="dk1"/>
                </a:solidFill>
              </a:rPr>
              <a:t>Approve: Submission added to dataset</a:t>
            </a:r>
            <a:endParaRPr sz="1100">
              <a:solidFill>
                <a:schemeClr val="dk1"/>
              </a:solidFill>
            </a:endParaRPr>
          </a:p>
          <a:p>
            <a:pPr marL="914400" lvl="1" indent="-298450" algn="l" rtl="0">
              <a:lnSpc>
                <a:spcPct val="115000"/>
              </a:lnSpc>
              <a:spcBef>
                <a:spcPts val="0"/>
              </a:spcBef>
              <a:spcAft>
                <a:spcPts val="0"/>
              </a:spcAft>
              <a:buClr>
                <a:schemeClr val="dk1"/>
              </a:buClr>
              <a:buSzPts val="1100"/>
              <a:buChar char="○"/>
            </a:pPr>
            <a:r>
              <a:rPr lang="en-GB" sz="1100">
                <a:solidFill>
                  <a:schemeClr val="dk1"/>
                </a:solidFill>
              </a:rPr>
              <a:t>Reject: Reason selected (mandatory)</a:t>
            </a:r>
            <a:endParaRPr sz="1100">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GB" sz="1100" b="1">
                <a:solidFill>
                  <a:schemeClr val="dk1"/>
                </a:solidFill>
              </a:rPr>
              <a:t>Monitor Coverage</a:t>
            </a:r>
            <a:br>
              <a:rPr lang="en-GB" sz="1100" b="1">
                <a:solidFill>
                  <a:schemeClr val="dk1"/>
                </a:solidFill>
              </a:rPr>
            </a:br>
            <a:r>
              <a:rPr lang="en-GB" sz="1100">
                <a:solidFill>
                  <a:schemeClr val="dk1"/>
                </a:solidFill>
              </a:rPr>
              <a:t> Dashboard shows district-wise progress and gaps.</a:t>
            </a:r>
            <a:endParaRPr sz="1100">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GB" sz="1100" b="1">
                <a:solidFill>
                  <a:schemeClr val="dk1"/>
                </a:solidFill>
              </a:rPr>
              <a:t>Take Action</a:t>
            </a:r>
            <a:br>
              <a:rPr lang="en-GB" sz="1100" b="1">
                <a:solidFill>
                  <a:schemeClr val="dk1"/>
                </a:solidFill>
              </a:rPr>
            </a:br>
            <a:r>
              <a:rPr lang="en-GB" sz="1100">
                <a:solidFill>
                  <a:schemeClr val="dk1"/>
                </a:solidFill>
              </a:rPr>
              <a:t> Redirect contributor efforts to low-coverage areas.</a:t>
            </a:r>
            <a:endParaRPr sz="1100">
              <a:solidFill>
                <a:schemeClr val="dk1"/>
              </a:solidFill>
            </a:endParaRPr>
          </a:p>
          <a:p>
            <a:pPr marL="0" lvl="0" indent="0" algn="l" rtl="0">
              <a:spcBef>
                <a:spcPts val="1200"/>
              </a:spcBef>
              <a:spcAft>
                <a:spcPts val="0"/>
              </a:spcAft>
              <a:buNone/>
            </a:pPr>
            <a:endParaRPr sz="1800">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pic>
        <p:nvPicPr>
          <p:cNvPr id="112" name="Google Shape;112;p22"/>
          <p:cNvPicPr preferRelativeResize="0"/>
          <p:nvPr/>
        </p:nvPicPr>
        <p:blipFill>
          <a:blip r:embed="rId3">
            <a:alphaModFix/>
          </a:blip>
          <a:stretch>
            <a:fillRect/>
          </a:stretch>
        </p:blipFill>
        <p:spPr>
          <a:xfrm>
            <a:off x="1312675" y="152400"/>
            <a:ext cx="6133483" cy="483869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18" name="Google Shape;118;p2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19" name="Google Shape;119;p23"/>
          <p:cNvPicPr preferRelativeResize="0"/>
          <p:nvPr/>
        </p:nvPicPr>
        <p:blipFill>
          <a:blip r:embed="rId3">
            <a:alphaModFix/>
          </a:blip>
          <a:stretch>
            <a:fillRect/>
          </a:stretch>
        </p:blipFill>
        <p:spPr>
          <a:xfrm>
            <a:off x="269875" y="0"/>
            <a:ext cx="8604250" cy="51435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25" name="Google Shape;125;p2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26" name="Google Shape;126;p24"/>
          <p:cNvPicPr preferRelativeResize="0"/>
          <p:nvPr/>
        </p:nvPicPr>
        <p:blipFill>
          <a:blip r:embed="rId3">
            <a:alphaModFix/>
          </a:blip>
          <a:stretch>
            <a:fillRect/>
          </a:stretch>
        </p:blipFill>
        <p:spPr>
          <a:xfrm>
            <a:off x="1124725" y="69775"/>
            <a:ext cx="6680299" cy="50026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32" name="Google Shape;132;p2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33" name="Google Shape;133;p25"/>
          <p:cNvPicPr preferRelativeResize="0"/>
          <p:nvPr/>
        </p:nvPicPr>
        <p:blipFill>
          <a:blip r:embed="rId3">
            <a:alphaModFix/>
          </a:blip>
          <a:stretch>
            <a:fillRect/>
          </a:stretch>
        </p:blipFill>
        <p:spPr>
          <a:xfrm>
            <a:off x="1276464" y="0"/>
            <a:ext cx="6591072" cy="51435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39" name="Google Shape;139;p2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40" name="Google Shape;140;p26"/>
          <p:cNvPicPr preferRelativeResize="0"/>
          <p:nvPr/>
        </p:nvPicPr>
        <p:blipFill>
          <a:blip r:embed="rId3">
            <a:alphaModFix/>
          </a:blip>
          <a:stretch>
            <a:fillRect/>
          </a:stretch>
        </p:blipFill>
        <p:spPr>
          <a:xfrm>
            <a:off x="1105867" y="0"/>
            <a:ext cx="6932266" cy="51435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46" name="Google Shape;146;p2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47" name="Google Shape;147;p27"/>
          <p:cNvPicPr preferRelativeResize="0"/>
          <p:nvPr/>
        </p:nvPicPr>
        <p:blipFill>
          <a:blip r:embed="rId3">
            <a:alphaModFix/>
          </a:blip>
          <a:stretch>
            <a:fillRect/>
          </a:stretch>
        </p:blipFill>
        <p:spPr>
          <a:xfrm>
            <a:off x="1023181" y="0"/>
            <a:ext cx="7097637" cy="514349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pic>
        <p:nvPicPr>
          <p:cNvPr id="153" name="Google Shape;153;p28"/>
          <p:cNvPicPr preferRelativeResize="0"/>
          <p:nvPr/>
        </p:nvPicPr>
        <p:blipFill>
          <a:blip r:embed="rId3">
            <a:alphaModFix/>
          </a:blip>
          <a:stretch>
            <a:fillRect/>
          </a:stretch>
        </p:blipFill>
        <p:spPr>
          <a:xfrm>
            <a:off x="1033375" y="0"/>
            <a:ext cx="7089425" cy="514350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59" name="Google Shape;159;p2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60" name="Google Shape;160;p29"/>
          <p:cNvPicPr preferRelativeResize="0"/>
          <p:nvPr/>
        </p:nvPicPr>
        <p:blipFill>
          <a:blip r:embed="rId3">
            <a:alphaModFix/>
          </a:blip>
          <a:stretch>
            <a:fillRect/>
          </a:stretch>
        </p:blipFill>
        <p:spPr>
          <a:xfrm>
            <a:off x="795825" y="0"/>
            <a:ext cx="7427475" cy="514349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3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66" name="Google Shape;166;p3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67" name="Google Shape;167;p30"/>
          <p:cNvPicPr preferRelativeResize="0"/>
          <p:nvPr/>
        </p:nvPicPr>
        <p:blipFill>
          <a:blip r:embed="rId3">
            <a:alphaModFix/>
          </a:blip>
          <a:stretch>
            <a:fillRect/>
          </a:stretch>
        </p:blipFill>
        <p:spPr>
          <a:xfrm>
            <a:off x="660042" y="0"/>
            <a:ext cx="7823916" cy="51435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3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73" name="Google Shape;173;p3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74" name="Google Shape;174;p31"/>
          <p:cNvPicPr preferRelativeResize="0"/>
          <p:nvPr/>
        </p:nvPicPr>
        <p:blipFill>
          <a:blip r:embed="rId3">
            <a:alphaModFix/>
          </a:blip>
          <a:stretch>
            <a:fillRect/>
          </a:stretch>
        </p:blipFill>
        <p:spPr>
          <a:xfrm>
            <a:off x="887200" y="0"/>
            <a:ext cx="7162525" cy="51435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32"/>
          <p:cNvSpPr txBox="1"/>
          <p:nvPr/>
        </p:nvSpPr>
        <p:spPr>
          <a:xfrm>
            <a:off x="126225" y="-25"/>
            <a:ext cx="8745600" cy="51435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1400"/>
              </a:spcBef>
              <a:spcAft>
                <a:spcPts val="0"/>
              </a:spcAft>
              <a:buClr>
                <a:schemeClr val="dk1"/>
              </a:buClr>
              <a:buSzPts val="1100"/>
              <a:buFont typeface="Arial"/>
              <a:buNone/>
            </a:pPr>
            <a:r>
              <a:rPr lang="en-GB" sz="1300" b="1" u="sng">
                <a:solidFill>
                  <a:schemeClr val="dk1"/>
                </a:solidFill>
              </a:rPr>
              <a:t>Key Challenges and Solutions</a:t>
            </a:r>
            <a:endParaRPr sz="1300" b="1" u="sng">
              <a:solidFill>
                <a:schemeClr val="dk1"/>
              </a:solidFill>
            </a:endParaRPr>
          </a:p>
          <a:p>
            <a:pPr marL="457200" lvl="0" indent="-298450" algn="l" rtl="0">
              <a:lnSpc>
                <a:spcPct val="115000"/>
              </a:lnSpc>
              <a:spcBef>
                <a:spcPts val="1200"/>
              </a:spcBef>
              <a:spcAft>
                <a:spcPts val="0"/>
              </a:spcAft>
              <a:buClr>
                <a:schemeClr val="dk1"/>
              </a:buClr>
              <a:buSzPts val="1100"/>
              <a:buChar char="●"/>
            </a:pPr>
            <a:r>
              <a:rPr lang="en-GB" sz="1100" b="1">
                <a:solidFill>
                  <a:schemeClr val="dk1"/>
                </a:solidFill>
              </a:rPr>
              <a:t>Connectivity Constraints</a:t>
            </a:r>
            <a:endParaRPr sz="1100" b="1">
              <a:solidFill>
                <a:schemeClr val="dk1"/>
              </a:solidFill>
            </a:endParaRPr>
          </a:p>
          <a:p>
            <a:pPr marL="914400" lvl="1" indent="-298450" algn="l" rtl="0">
              <a:lnSpc>
                <a:spcPct val="115000"/>
              </a:lnSpc>
              <a:spcBef>
                <a:spcPts val="0"/>
              </a:spcBef>
              <a:spcAft>
                <a:spcPts val="0"/>
              </a:spcAft>
              <a:buClr>
                <a:schemeClr val="dk1"/>
              </a:buClr>
              <a:buSzPts val="1100"/>
              <a:buChar char="○"/>
            </a:pPr>
            <a:r>
              <a:rPr lang="en-GB" sz="1100">
                <a:solidFill>
                  <a:schemeClr val="dk1"/>
                </a:solidFill>
              </a:rPr>
              <a:t>Contributors often operate in </a:t>
            </a:r>
            <a:r>
              <a:rPr lang="en-GB" sz="1100" b="1">
                <a:solidFill>
                  <a:schemeClr val="dk1"/>
                </a:solidFill>
              </a:rPr>
              <a:t>low or no internet environments</a:t>
            </a:r>
            <a:r>
              <a:rPr lang="en-GB" sz="1100">
                <a:solidFill>
                  <a:schemeClr val="dk1"/>
                </a:solidFill>
              </a:rPr>
              <a:t>, making real-time uploads unreliable.</a:t>
            </a:r>
            <a:endParaRPr sz="1100">
              <a:solidFill>
                <a:schemeClr val="dk1"/>
              </a:solidFill>
            </a:endParaRPr>
          </a:p>
          <a:p>
            <a:pPr marL="914400" lvl="1" indent="-298450" algn="l" rtl="0">
              <a:lnSpc>
                <a:spcPct val="115000"/>
              </a:lnSpc>
              <a:spcBef>
                <a:spcPts val="0"/>
              </a:spcBef>
              <a:spcAft>
                <a:spcPts val="0"/>
              </a:spcAft>
              <a:buClr>
                <a:schemeClr val="dk1"/>
              </a:buClr>
              <a:buSzPts val="1100"/>
              <a:buChar char="○"/>
            </a:pPr>
            <a:r>
              <a:rPr lang="en-GB" sz="1100">
                <a:solidFill>
                  <a:schemeClr val="dk1"/>
                </a:solidFill>
              </a:rPr>
              <a:t>Challenge extends beyond offline access to handling </a:t>
            </a:r>
            <a:r>
              <a:rPr lang="en-GB" sz="1100" b="1">
                <a:solidFill>
                  <a:schemeClr val="dk1"/>
                </a:solidFill>
              </a:rPr>
              <a:t>bulk uploads, partial syncs, retry failures, and device storage limits</a:t>
            </a:r>
            <a:r>
              <a:rPr lang="en-GB" sz="1100">
                <a:solidFill>
                  <a:schemeClr val="dk1"/>
                </a:solidFill>
              </a:rPr>
              <a:t>.</a:t>
            </a:r>
            <a:endParaRPr sz="1100">
              <a:solidFill>
                <a:schemeClr val="dk1"/>
              </a:solidFill>
            </a:endParaRPr>
          </a:p>
          <a:p>
            <a:pPr marL="914400" lvl="1" indent="-298450" algn="l" rtl="0">
              <a:lnSpc>
                <a:spcPct val="115000"/>
              </a:lnSpc>
              <a:spcBef>
                <a:spcPts val="0"/>
              </a:spcBef>
              <a:spcAft>
                <a:spcPts val="0"/>
              </a:spcAft>
              <a:buClr>
                <a:schemeClr val="dk1"/>
              </a:buClr>
              <a:buSzPts val="1100"/>
              <a:buChar char="○"/>
            </a:pPr>
            <a:r>
              <a:rPr lang="en-GB" sz="1100">
                <a:solidFill>
                  <a:schemeClr val="dk1"/>
                </a:solidFill>
              </a:rPr>
              <a:t>Solution:</a:t>
            </a:r>
            <a:endParaRPr sz="1100">
              <a:solidFill>
                <a:schemeClr val="dk1"/>
              </a:solidFill>
            </a:endParaRPr>
          </a:p>
          <a:p>
            <a:pPr marL="1371600" lvl="2" indent="-298450" algn="l" rtl="0">
              <a:lnSpc>
                <a:spcPct val="115000"/>
              </a:lnSpc>
              <a:spcBef>
                <a:spcPts val="0"/>
              </a:spcBef>
              <a:spcAft>
                <a:spcPts val="0"/>
              </a:spcAft>
              <a:buClr>
                <a:schemeClr val="dk1"/>
              </a:buClr>
              <a:buSzPts val="1100"/>
              <a:buChar char="■"/>
            </a:pPr>
            <a:r>
              <a:rPr lang="en-GB" sz="1100">
                <a:solidFill>
                  <a:schemeClr val="dk1"/>
                </a:solidFill>
              </a:rPr>
              <a:t>Implement an </a:t>
            </a:r>
            <a:r>
              <a:rPr lang="en-GB" sz="1100" b="1">
                <a:solidFill>
                  <a:schemeClr val="dk1"/>
                </a:solidFill>
              </a:rPr>
              <a:t>offline-first system with encrypted local storage</a:t>
            </a:r>
            <a:endParaRPr sz="1100" b="1">
              <a:solidFill>
                <a:schemeClr val="dk1"/>
              </a:solidFill>
            </a:endParaRPr>
          </a:p>
          <a:p>
            <a:pPr marL="1371600" lvl="2" indent="-298450" algn="l" rtl="0">
              <a:lnSpc>
                <a:spcPct val="115000"/>
              </a:lnSpc>
              <a:spcBef>
                <a:spcPts val="0"/>
              </a:spcBef>
              <a:spcAft>
                <a:spcPts val="0"/>
              </a:spcAft>
              <a:buClr>
                <a:schemeClr val="dk1"/>
              </a:buClr>
              <a:buSzPts val="1100"/>
              <a:buChar char="■"/>
            </a:pPr>
            <a:r>
              <a:rPr lang="en-GB" sz="1100">
                <a:solidFill>
                  <a:schemeClr val="dk1"/>
                </a:solidFill>
              </a:rPr>
              <a:t>Enable </a:t>
            </a:r>
            <a:r>
              <a:rPr lang="en-GB" sz="1100" b="1">
                <a:solidFill>
                  <a:schemeClr val="dk1"/>
                </a:solidFill>
              </a:rPr>
              <a:t>auto-compression of images before saving</a:t>
            </a:r>
            <a:endParaRPr sz="1100" b="1">
              <a:solidFill>
                <a:schemeClr val="dk1"/>
              </a:solidFill>
            </a:endParaRPr>
          </a:p>
          <a:p>
            <a:pPr marL="1371600" lvl="2" indent="-298450" algn="l" rtl="0">
              <a:lnSpc>
                <a:spcPct val="115000"/>
              </a:lnSpc>
              <a:spcBef>
                <a:spcPts val="0"/>
              </a:spcBef>
              <a:spcAft>
                <a:spcPts val="0"/>
              </a:spcAft>
              <a:buClr>
                <a:schemeClr val="dk1"/>
              </a:buClr>
              <a:buSzPts val="1100"/>
              <a:buChar char="■"/>
            </a:pPr>
            <a:r>
              <a:rPr lang="en-GB" sz="1100">
                <a:solidFill>
                  <a:schemeClr val="dk1"/>
                </a:solidFill>
              </a:rPr>
              <a:t>Introduce </a:t>
            </a:r>
            <a:r>
              <a:rPr lang="en-GB" sz="1100" b="1">
                <a:solidFill>
                  <a:schemeClr val="dk1"/>
                </a:solidFill>
              </a:rPr>
              <a:t>retry logic and sync queues</a:t>
            </a:r>
            <a:endParaRPr sz="1100" b="1">
              <a:solidFill>
                <a:schemeClr val="dk1"/>
              </a:solidFill>
            </a:endParaRPr>
          </a:p>
          <a:p>
            <a:pPr marL="1371600" lvl="2" indent="-298450" algn="l" rtl="0">
              <a:lnSpc>
                <a:spcPct val="115000"/>
              </a:lnSpc>
              <a:spcBef>
                <a:spcPts val="0"/>
              </a:spcBef>
              <a:spcAft>
                <a:spcPts val="0"/>
              </a:spcAft>
              <a:buClr>
                <a:schemeClr val="dk1"/>
              </a:buClr>
              <a:buSzPts val="1100"/>
              <a:buChar char="■"/>
            </a:pPr>
            <a:r>
              <a:rPr lang="en-GB" sz="1100">
                <a:solidFill>
                  <a:schemeClr val="dk1"/>
                </a:solidFill>
              </a:rPr>
              <a:t>Provide </a:t>
            </a:r>
            <a:r>
              <a:rPr lang="en-GB" sz="1100" b="1">
                <a:solidFill>
                  <a:schemeClr val="dk1"/>
                </a:solidFill>
              </a:rPr>
              <a:t>low-storage alerts prompting users to sync</a:t>
            </a:r>
            <a:endParaRPr sz="1100" b="1">
              <a:solidFill>
                <a:schemeClr val="dk1"/>
              </a:solidFill>
            </a:endParaRPr>
          </a:p>
          <a:p>
            <a:pPr marL="457200" lvl="0" indent="-298450" algn="l" rtl="0">
              <a:lnSpc>
                <a:spcPct val="115000"/>
              </a:lnSpc>
              <a:spcBef>
                <a:spcPts val="0"/>
              </a:spcBef>
              <a:spcAft>
                <a:spcPts val="0"/>
              </a:spcAft>
              <a:buClr>
                <a:schemeClr val="dk1"/>
              </a:buClr>
              <a:buSzPts val="1100"/>
              <a:buChar char="●"/>
            </a:pPr>
            <a:r>
              <a:rPr lang="en-GB" sz="1100" b="1">
                <a:solidFill>
                  <a:schemeClr val="dk1"/>
                </a:solidFill>
              </a:rPr>
              <a:t>Data Quality Assurance</a:t>
            </a:r>
            <a:endParaRPr sz="1100" b="1">
              <a:solidFill>
                <a:schemeClr val="dk1"/>
              </a:solidFill>
            </a:endParaRPr>
          </a:p>
          <a:p>
            <a:pPr marL="914400" lvl="1" indent="-298450" algn="l" rtl="0">
              <a:lnSpc>
                <a:spcPct val="115000"/>
              </a:lnSpc>
              <a:spcBef>
                <a:spcPts val="0"/>
              </a:spcBef>
              <a:spcAft>
                <a:spcPts val="0"/>
              </a:spcAft>
              <a:buClr>
                <a:schemeClr val="dk1"/>
              </a:buClr>
              <a:buSzPts val="1100"/>
              <a:buChar char="○"/>
            </a:pPr>
            <a:r>
              <a:rPr lang="en-GB" sz="1100">
                <a:solidFill>
                  <a:schemeClr val="dk1"/>
                </a:solidFill>
              </a:rPr>
              <a:t>Data quality is primarily a </a:t>
            </a:r>
            <a:r>
              <a:rPr lang="en-GB" sz="1100" b="1">
                <a:solidFill>
                  <a:schemeClr val="dk1"/>
                </a:solidFill>
              </a:rPr>
              <a:t>human judgment challenge</a:t>
            </a:r>
            <a:r>
              <a:rPr lang="en-GB" sz="1100">
                <a:solidFill>
                  <a:schemeClr val="dk1"/>
                </a:solidFill>
              </a:rPr>
              <a:t>, not just a technical one.</a:t>
            </a:r>
            <a:endParaRPr sz="1100">
              <a:solidFill>
                <a:schemeClr val="dk1"/>
              </a:solidFill>
            </a:endParaRPr>
          </a:p>
          <a:p>
            <a:pPr marL="914400" lvl="1" indent="-298450" algn="l" rtl="0">
              <a:lnSpc>
                <a:spcPct val="115000"/>
              </a:lnSpc>
              <a:spcBef>
                <a:spcPts val="0"/>
              </a:spcBef>
              <a:spcAft>
                <a:spcPts val="0"/>
              </a:spcAft>
              <a:buClr>
                <a:schemeClr val="dk1"/>
              </a:buClr>
              <a:buSzPts val="1100"/>
              <a:buChar char="○"/>
            </a:pPr>
            <a:r>
              <a:rPr lang="en-GB" sz="1100">
                <a:solidFill>
                  <a:schemeClr val="dk1"/>
                </a:solidFill>
              </a:rPr>
              <a:t>Automated checks (e.g., blur detection, minimum caption length) can only catch </a:t>
            </a:r>
            <a:r>
              <a:rPr lang="en-GB" sz="1100" b="1">
                <a:solidFill>
                  <a:schemeClr val="dk1"/>
                </a:solidFill>
              </a:rPr>
              <a:t>surface-level issues</a:t>
            </a:r>
            <a:r>
              <a:rPr lang="en-GB" sz="1100">
                <a:solidFill>
                  <a:schemeClr val="dk1"/>
                </a:solidFill>
              </a:rPr>
              <a:t>.</a:t>
            </a:r>
            <a:endParaRPr sz="1100">
              <a:solidFill>
                <a:schemeClr val="dk1"/>
              </a:solidFill>
            </a:endParaRPr>
          </a:p>
          <a:p>
            <a:pPr marL="914400" lvl="1" indent="-298450" algn="l" rtl="0">
              <a:lnSpc>
                <a:spcPct val="115000"/>
              </a:lnSpc>
              <a:spcBef>
                <a:spcPts val="0"/>
              </a:spcBef>
              <a:spcAft>
                <a:spcPts val="0"/>
              </a:spcAft>
              <a:buClr>
                <a:schemeClr val="dk1"/>
              </a:buClr>
              <a:buSzPts val="1100"/>
              <a:buChar char="○"/>
            </a:pPr>
            <a:r>
              <a:rPr lang="en-GB" sz="1100">
                <a:solidFill>
                  <a:schemeClr val="dk1"/>
                </a:solidFill>
              </a:rPr>
              <a:t>Contextual errors (e.g., incorrect descriptions) require </a:t>
            </a:r>
            <a:r>
              <a:rPr lang="en-GB" sz="1100" b="1">
                <a:solidFill>
                  <a:schemeClr val="dk1"/>
                </a:solidFill>
              </a:rPr>
              <a:t>manual validation</a:t>
            </a:r>
            <a:r>
              <a:rPr lang="en-GB" sz="1100">
                <a:solidFill>
                  <a:schemeClr val="dk1"/>
                </a:solidFill>
              </a:rPr>
              <a:t>.</a:t>
            </a:r>
            <a:endParaRPr sz="1100">
              <a:solidFill>
                <a:schemeClr val="dk1"/>
              </a:solidFill>
            </a:endParaRPr>
          </a:p>
          <a:p>
            <a:pPr marL="914400" lvl="1" indent="-298450" algn="l" rtl="0">
              <a:lnSpc>
                <a:spcPct val="115000"/>
              </a:lnSpc>
              <a:spcBef>
                <a:spcPts val="0"/>
              </a:spcBef>
              <a:spcAft>
                <a:spcPts val="0"/>
              </a:spcAft>
              <a:buClr>
                <a:schemeClr val="dk1"/>
              </a:buClr>
              <a:buSzPts val="1100"/>
              <a:buChar char="○"/>
            </a:pPr>
            <a:r>
              <a:rPr lang="en-GB" sz="1100">
                <a:solidFill>
                  <a:schemeClr val="dk1"/>
                </a:solidFill>
              </a:rPr>
              <a:t>Solution:</a:t>
            </a:r>
            <a:endParaRPr sz="1100">
              <a:solidFill>
                <a:schemeClr val="dk1"/>
              </a:solidFill>
            </a:endParaRPr>
          </a:p>
          <a:p>
            <a:pPr marL="1371600" lvl="2" indent="-298450" algn="l" rtl="0">
              <a:lnSpc>
                <a:spcPct val="115000"/>
              </a:lnSpc>
              <a:spcBef>
                <a:spcPts val="0"/>
              </a:spcBef>
              <a:spcAft>
                <a:spcPts val="0"/>
              </a:spcAft>
              <a:buClr>
                <a:schemeClr val="dk1"/>
              </a:buClr>
              <a:buSzPts val="1100"/>
              <a:buChar char="■"/>
            </a:pPr>
            <a:r>
              <a:rPr lang="en-GB" sz="1100">
                <a:solidFill>
                  <a:schemeClr val="dk1"/>
                </a:solidFill>
              </a:rPr>
              <a:t>Maintain a </a:t>
            </a:r>
            <a:r>
              <a:rPr lang="en-GB" sz="1100" b="1">
                <a:solidFill>
                  <a:schemeClr val="dk1"/>
                </a:solidFill>
              </a:rPr>
              <a:t>mandatory human review layer (admin verification)</a:t>
            </a:r>
            <a:r>
              <a:rPr lang="en-GB" sz="1100">
                <a:solidFill>
                  <a:schemeClr val="dk1"/>
                </a:solidFill>
              </a:rPr>
              <a:t> in MVP</a:t>
            </a:r>
            <a:endParaRPr sz="1100">
              <a:solidFill>
                <a:schemeClr val="dk1"/>
              </a:solidFill>
            </a:endParaRPr>
          </a:p>
          <a:p>
            <a:pPr marL="1371600" lvl="2" indent="-298450" algn="l" rtl="0">
              <a:lnSpc>
                <a:spcPct val="115000"/>
              </a:lnSpc>
              <a:spcBef>
                <a:spcPts val="0"/>
              </a:spcBef>
              <a:spcAft>
                <a:spcPts val="0"/>
              </a:spcAft>
              <a:buClr>
                <a:schemeClr val="dk1"/>
              </a:buClr>
              <a:buSzPts val="1100"/>
              <a:buChar char="■"/>
            </a:pPr>
            <a:r>
              <a:rPr lang="en-GB" sz="1100">
                <a:solidFill>
                  <a:schemeClr val="dk1"/>
                </a:solidFill>
              </a:rPr>
              <a:t>Introduce a </a:t>
            </a:r>
            <a:r>
              <a:rPr lang="en-GB" sz="1100" b="1">
                <a:solidFill>
                  <a:schemeClr val="dk1"/>
                </a:solidFill>
              </a:rPr>
              <a:t>contributor quality scoring system</a:t>
            </a:r>
            <a:r>
              <a:rPr lang="en-GB" sz="1100">
                <a:solidFill>
                  <a:schemeClr val="dk1"/>
                </a:solidFill>
              </a:rPr>
              <a:t> based on approval rates</a:t>
            </a:r>
            <a:endParaRPr sz="1100">
              <a:solidFill>
                <a:schemeClr val="dk1"/>
              </a:solidFill>
            </a:endParaRPr>
          </a:p>
          <a:p>
            <a:pPr marL="1371600" lvl="2" indent="-298450" algn="l" rtl="0">
              <a:lnSpc>
                <a:spcPct val="115000"/>
              </a:lnSpc>
              <a:spcBef>
                <a:spcPts val="0"/>
              </a:spcBef>
              <a:spcAft>
                <a:spcPts val="0"/>
              </a:spcAft>
              <a:buClr>
                <a:schemeClr val="dk1"/>
              </a:buClr>
              <a:buSzPts val="1100"/>
              <a:buChar char="■"/>
            </a:pPr>
            <a:r>
              <a:rPr lang="en-GB" sz="1100">
                <a:solidFill>
                  <a:schemeClr val="dk1"/>
                </a:solidFill>
              </a:rPr>
              <a:t>Gradually </a:t>
            </a:r>
            <a:r>
              <a:rPr lang="en-GB" sz="1100" b="1">
                <a:solidFill>
                  <a:schemeClr val="dk1"/>
                </a:solidFill>
              </a:rPr>
              <a:t>prioritize high-quality contributors</a:t>
            </a:r>
            <a:r>
              <a:rPr lang="en-GB" sz="1100">
                <a:solidFill>
                  <a:schemeClr val="dk1"/>
                </a:solidFill>
              </a:rPr>
              <a:t> to reduce review load over time</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GB" sz="1100" b="1">
                <a:solidFill>
                  <a:schemeClr val="dk1"/>
                </a:solidFill>
              </a:rPr>
              <a:t>Location Accuracy</a:t>
            </a:r>
            <a:endParaRPr sz="1100" b="1">
              <a:solidFill>
                <a:schemeClr val="dk1"/>
              </a:solidFill>
            </a:endParaRPr>
          </a:p>
          <a:p>
            <a:pPr marL="914400" lvl="1" indent="-298450" algn="l" rtl="0">
              <a:lnSpc>
                <a:spcPct val="115000"/>
              </a:lnSpc>
              <a:spcBef>
                <a:spcPts val="0"/>
              </a:spcBef>
              <a:spcAft>
                <a:spcPts val="0"/>
              </a:spcAft>
              <a:buClr>
                <a:schemeClr val="dk1"/>
              </a:buClr>
              <a:buSzPts val="1100"/>
              <a:buChar char="○"/>
            </a:pPr>
            <a:r>
              <a:rPr lang="en-GB" sz="1100">
                <a:solidFill>
                  <a:schemeClr val="dk1"/>
                </a:solidFill>
              </a:rPr>
              <a:t>Small GPS inaccuracies can result in </a:t>
            </a:r>
            <a:r>
              <a:rPr lang="en-GB" sz="1100" b="1">
                <a:solidFill>
                  <a:schemeClr val="dk1"/>
                </a:solidFill>
              </a:rPr>
              <a:t>incorrect village tagging</a:t>
            </a:r>
            <a:r>
              <a:rPr lang="en-GB" sz="1100">
                <a:solidFill>
                  <a:schemeClr val="dk1"/>
                </a:solidFill>
              </a:rPr>
              <a:t>, compromising dataset integrity.</a:t>
            </a:r>
            <a:endParaRPr sz="1100">
              <a:solidFill>
                <a:schemeClr val="dk1"/>
              </a:solidFill>
            </a:endParaRPr>
          </a:p>
          <a:p>
            <a:pPr marL="914400" lvl="1" indent="-298450" algn="l" rtl="0">
              <a:lnSpc>
                <a:spcPct val="115000"/>
              </a:lnSpc>
              <a:spcBef>
                <a:spcPts val="0"/>
              </a:spcBef>
              <a:spcAft>
                <a:spcPts val="0"/>
              </a:spcAft>
              <a:buClr>
                <a:schemeClr val="dk1"/>
              </a:buClr>
              <a:buSzPts val="1100"/>
              <a:buChar char="○"/>
            </a:pPr>
            <a:r>
              <a:rPr lang="en-GB" sz="1100">
                <a:solidFill>
                  <a:schemeClr val="dk1"/>
                </a:solidFill>
              </a:rPr>
              <a:t>Sole reliance on GPS is insufficient for precise labeling.</a:t>
            </a:r>
            <a:endParaRPr sz="1100">
              <a:solidFill>
                <a:schemeClr val="dk1"/>
              </a:solidFill>
            </a:endParaRPr>
          </a:p>
          <a:p>
            <a:pPr marL="914400" lvl="1" indent="-298450" algn="l" rtl="0">
              <a:lnSpc>
                <a:spcPct val="115000"/>
              </a:lnSpc>
              <a:spcBef>
                <a:spcPts val="0"/>
              </a:spcBef>
              <a:spcAft>
                <a:spcPts val="0"/>
              </a:spcAft>
              <a:buClr>
                <a:schemeClr val="dk1"/>
              </a:buClr>
              <a:buSzPts val="1100"/>
              <a:buChar char="○"/>
            </a:pPr>
            <a:r>
              <a:rPr lang="en-GB" sz="1100">
                <a:solidFill>
                  <a:schemeClr val="dk1"/>
                </a:solidFill>
              </a:rPr>
              <a:t>Solution:</a:t>
            </a:r>
            <a:endParaRPr sz="1100">
              <a:solidFill>
                <a:schemeClr val="dk1"/>
              </a:solidFill>
            </a:endParaRPr>
          </a:p>
          <a:p>
            <a:pPr marL="1371600" lvl="2" indent="-298450" algn="l" rtl="0">
              <a:lnSpc>
                <a:spcPct val="115000"/>
              </a:lnSpc>
              <a:spcBef>
                <a:spcPts val="0"/>
              </a:spcBef>
              <a:spcAft>
                <a:spcPts val="0"/>
              </a:spcAft>
              <a:buClr>
                <a:schemeClr val="dk1"/>
              </a:buClr>
              <a:buSzPts val="1100"/>
              <a:buChar char="■"/>
            </a:pPr>
            <a:r>
              <a:rPr lang="en-GB" sz="1100">
                <a:solidFill>
                  <a:schemeClr val="dk1"/>
                </a:solidFill>
              </a:rPr>
              <a:t>Add a </a:t>
            </a:r>
            <a:r>
              <a:rPr lang="en-GB" sz="1100" b="1">
                <a:solidFill>
                  <a:schemeClr val="dk1"/>
                </a:solidFill>
              </a:rPr>
              <a:t>manual confirmation step displaying village name and submission count</a:t>
            </a:r>
            <a:endParaRPr sz="1100" b="1">
              <a:solidFill>
                <a:schemeClr val="dk1"/>
              </a:solidFill>
            </a:endParaRPr>
          </a:p>
          <a:p>
            <a:pPr marL="1371600" lvl="2" indent="-298450" algn="l" rtl="0">
              <a:lnSpc>
                <a:spcPct val="115000"/>
              </a:lnSpc>
              <a:spcBef>
                <a:spcPts val="0"/>
              </a:spcBef>
              <a:spcAft>
                <a:spcPts val="0"/>
              </a:spcAft>
              <a:buClr>
                <a:schemeClr val="dk1"/>
              </a:buClr>
              <a:buSzPts val="1100"/>
              <a:buChar char="■"/>
            </a:pPr>
            <a:r>
              <a:rPr lang="en-GB" sz="1100">
                <a:solidFill>
                  <a:schemeClr val="dk1"/>
                </a:solidFill>
              </a:rPr>
              <a:t>Create a </a:t>
            </a:r>
            <a:r>
              <a:rPr lang="en-GB" sz="1100" b="1">
                <a:solidFill>
                  <a:schemeClr val="dk1"/>
                </a:solidFill>
              </a:rPr>
              <a:t>user verification checkpoint</a:t>
            </a:r>
            <a:r>
              <a:rPr lang="en-GB" sz="1100">
                <a:solidFill>
                  <a:schemeClr val="dk1"/>
                </a:solidFill>
              </a:rPr>
              <a:t> to ensure correct location tagging</a:t>
            </a:r>
            <a:endParaRPr sz="1100">
              <a:solidFill>
                <a:schemeClr val="dk1"/>
              </a:solidFill>
            </a:endParaRPr>
          </a:p>
          <a:p>
            <a:pPr marL="0" lvl="0" indent="0" algn="l" rtl="0">
              <a:spcBef>
                <a:spcPts val="1200"/>
              </a:spcBef>
              <a:spcAft>
                <a:spcPts val="0"/>
              </a:spcAft>
              <a:buNone/>
            </a:pPr>
            <a:endParaRPr sz="1100" b="1">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pic>
        <p:nvPicPr>
          <p:cNvPr id="184" name="Google Shape;184;p33"/>
          <p:cNvPicPr preferRelativeResize="0"/>
          <p:nvPr/>
        </p:nvPicPr>
        <p:blipFill>
          <a:blip r:embed="rId3">
            <a:alphaModFix/>
          </a:blip>
          <a:stretch>
            <a:fillRect/>
          </a:stretch>
        </p:blipFill>
        <p:spPr>
          <a:xfrm>
            <a:off x="152400" y="152400"/>
            <a:ext cx="8335850" cy="48387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34"/>
          <p:cNvSpPr txBox="1"/>
          <p:nvPr/>
        </p:nvSpPr>
        <p:spPr>
          <a:xfrm>
            <a:off x="81625" y="99850"/>
            <a:ext cx="6753000" cy="4296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800"/>
              </a:spcBef>
              <a:spcAft>
                <a:spcPts val="0"/>
              </a:spcAft>
              <a:buClr>
                <a:schemeClr val="dk1"/>
              </a:buClr>
              <a:buSzPts val="1100"/>
              <a:buFont typeface="Arial"/>
              <a:buNone/>
            </a:pPr>
            <a:r>
              <a:rPr lang="en-GB" sz="1600" b="1">
                <a:solidFill>
                  <a:schemeClr val="dk1"/>
                </a:solidFill>
              </a:rPr>
              <a:t>  What features would you include in the MVP ?</a:t>
            </a:r>
            <a:endParaRPr sz="16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GB" sz="1000" b="1">
                <a:solidFill>
                  <a:schemeClr val="dk1"/>
                </a:solidFill>
              </a:rPr>
              <a:t>Guiding Principle:</a:t>
            </a:r>
            <a:r>
              <a:rPr lang="en-GB" sz="1000">
                <a:solidFill>
                  <a:schemeClr val="dk1"/>
                </a:solidFill>
              </a:rPr>
              <a:t>Define the minimum features required to </a:t>
            </a:r>
            <a:r>
              <a:rPr lang="en-GB" sz="1000" b="1">
                <a:solidFill>
                  <a:schemeClr val="dk1"/>
                </a:solidFill>
              </a:rPr>
              <a:t>collect valid, high-quality image–description pairs.</a:t>
            </a:r>
            <a:endParaRPr sz="10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GB" sz="1000" b="1">
                <a:solidFill>
                  <a:schemeClr val="dk1"/>
                </a:solidFill>
              </a:rPr>
              <a:t>             </a:t>
            </a:r>
            <a:r>
              <a:rPr lang="en-GB" sz="1000" b="1" u="sng">
                <a:solidFill>
                  <a:schemeClr val="dk1"/>
                </a:solidFill>
              </a:rPr>
              <a:t> Contributor-Side Features</a:t>
            </a:r>
            <a:endParaRPr sz="1000" b="1" u="sng">
              <a:solidFill>
                <a:schemeClr val="dk1"/>
              </a:solidFill>
            </a:endParaRPr>
          </a:p>
          <a:p>
            <a:pPr marL="457200" lvl="0" indent="-292100" algn="l" rtl="0">
              <a:lnSpc>
                <a:spcPct val="150000"/>
              </a:lnSpc>
              <a:spcBef>
                <a:spcPts val="1200"/>
              </a:spcBef>
              <a:spcAft>
                <a:spcPts val="0"/>
              </a:spcAft>
              <a:buClr>
                <a:schemeClr val="dk1"/>
              </a:buClr>
              <a:buSzPts val="1000"/>
              <a:buChar char="●"/>
            </a:pPr>
            <a:r>
              <a:rPr lang="en-GB" sz="1000" b="1">
                <a:solidFill>
                  <a:schemeClr val="dk1"/>
                </a:solidFill>
              </a:rPr>
              <a:t>Language-Aware Onboarding</a:t>
            </a:r>
            <a:endParaRPr sz="1000" b="1">
              <a:solidFill>
                <a:schemeClr val="dk1"/>
              </a:solidFill>
            </a:endParaRPr>
          </a:p>
          <a:p>
            <a:pPr marL="914400" lvl="1" indent="-292100" algn="l" rtl="0">
              <a:lnSpc>
                <a:spcPct val="150000"/>
              </a:lnSpc>
              <a:spcBef>
                <a:spcPts val="0"/>
              </a:spcBef>
              <a:spcAft>
                <a:spcPts val="0"/>
              </a:spcAft>
              <a:buClr>
                <a:schemeClr val="dk1"/>
              </a:buClr>
              <a:buSzPts val="1000"/>
              <a:buChar char="○"/>
            </a:pPr>
            <a:r>
              <a:rPr lang="en-GB" sz="1000" i="1">
                <a:solidFill>
                  <a:schemeClr val="dk1"/>
                </a:solidFill>
              </a:rPr>
              <a:t>Problem:</a:t>
            </a:r>
            <a:r>
              <a:rPr lang="en-GB" sz="1000">
                <a:solidFill>
                  <a:schemeClr val="dk1"/>
                </a:solidFill>
              </a:rPr>
              <a:t> Users may not understand instructions due to language barriers</a:t>
            </a:r>
            <a:endParaRPr sz="1000">
              <a:solidFill>
                <a:schemeClr val="dk1"/>
              </a:solidFill>
            </a:endParaRPr>
          </a:p>
          <a:p>
            <a:pPr marL="914400" lvl="1" indent="-292100" algn="l" rtl="0">
              <a:lnSpc>
                <a:spcPct val="150000"/>
              </a:lnSpc>
              <a:spcBef>
                <a:spcPts val="0"/>
              </a:spcBef>
              <a:spcAft>
                <a:spcPts val="0"/>
              </a:spcAft>
              <a:buClr>
                <a:schemeClr val="dk1"/>
              </a:buClr>
              <a:buSzPts val="1000"/>
              <a:buChar char="○"/>
            </a:pPr>
            <a:r>
              <a:rPr lang="en-GB" sz="1000" i="1">
                <a:solidFill>
                  <a:schemeClr val="dk1"/>
                </a:solidFill>
              </a:rPr>
              <a:t>Solution:</a:t>
            </a:r>
            <a:r>
              <a:rPr lang="en-GB" sz="1000">
                <a:solidFill>
                  <a:schemeClr val="dk1"/>
                </a:solidFill>
              </a:rPr>
              <a:t> Multilingual onboarding ensures accessibility and usability</a:t>
            </a:r>
            <a:endParaRPr sz="1000">
              <a:solidFill>
                <a:schemeClr val="dk1"/>
              </a:solidFill>
            </a:endParaRPr>
          </a:p>
          <a:p>
            <a:pPr marL="457200" lvl="0" indent="-292100" algn="l" rtl="0">
              <a:lnSpc>
                <a:spcPct val="150000"/>
              </a:lnSpc>
              <a:spcBef>
                <a:spcPts val="0"/>
              </a:spcBef>
              <a:spcAft>
                <a:spcPts val="0"/>
              </a:spcAft>
              <a:buClr>
                <a:schemeClr val="dk1"/>
              </a:buClr>
              <a:buSzPts val="1000"/>
              <a:buChar char="●"/>
            </a:pPr>
            <a:r>
              <a:rPr lang="en-GB" sz="1000" b="1">
                <a:solidFill>
                  <a:schemeClr val="dk1"/>
                </a:solidFill>
              </a:rPr>
              <a:t>GPS-Assisted Location Selection (with Manual Override)</a:t>
            </a:r>
            <a:endParaRPr sz="1000" b="1">
              <a:solidFill>
                <a:schemeClr val="dk1"/>
              </a:solidFill>
            </a:endParaRPr>
          </a:p>
          <a:p>
            <a:pPr marL="914400" lvl="1" indent="-292100" algn="l" rtl="0">
              <a:lnSpc>
                <a:spcPct val="150000"/>
              </a:lnSpc>
              <a:spcBef>
                <a:spcPts val="0"/>
              </a:spcBef>
              <a:spcAft>
                <a:spcPts val="0"/>
              </a:spcAft>
              <a:buClr>
                <a:schemeClr val="dk1"/>
              </a:buClr>
              <a:buSzPts val="1000"/>
              <a:buChar char="○"/>
            </a:pPr>
            <a:r>
              <a:rPr lang="en-GB" sz="1000" i="1">
                <a:solidFill>
                  <a:schemeClr val="dk1"/>
                </a:solidFill>
              </a:rPr>
              <a:t>Problem:</a:t>
            </a:r>
            <a:r>
              <a:rPr lang="en-GB" sz="1000">
                <a:solidFill>
                  <a:schemeClr val="dk1"/>
                </a:solidFill>
              </a:rPr>
              <a:t> Incorrect location tagging can corrupt dataset quality</a:t>
            </a:r>
            <a:endParaRPr sz="1000">
              <a:solidFill>
                <a:schemeClr val="dk1"/>
              </a:solidFill>
            </a:endParaRPr>
          </a:p>
          <a:p>
            <a:pPr marL="914400" lvl="1" indent="-292100" algn="l" rtl="0">
              <a:lnSpc>
                <a:spcPct val="150000"/>
              </a:lnSpc>
              <a:spcBef>
                <a:spcPts val="0"/>
              </a:spcBef>
              <a:spcAft>
                <a:spcPts val="0"/>
              </a:spcAft>
              <a:buClr>
                <a:schemeClr val="dk1"/>
              </a:buClr>
              <a:buSzPts val="1000"/>
              <a:buChar char="○"/>
            </a:pPr>
            <a:r>
              <a:rPr lang="en-GB" sz="1000" i="1">
                <a:solidFill>
                  <a:schemeClr val="dk1"/>
                </a:solidFill>
              </a:rPr>
              <a:t>Solution:</a:t>
            </a:r>
            <a:r>
              <a:rPr lang="en-GB" sz="1000">
                <a:solidFill>
                  <a:schemeClr val="dk1"/>
                </a:solidFill>
              </a:rPr>
              <a:t> GPS + manual confirmation ensures accurate geographic labeling</a:t>
            </a:r>
            <a:endParaRPr sz="1000">
              <a:solidFill>
                <a:schemeClr val="dk1"/>
              </a:solidFill>
            </a:endParaRPr>
          </a:p>
          <a:p>
            <a:pPr marL="457200" lvl="0" indent="-292100" algn="l" rtl="0">
              <a:lnSpc>
                <a:spcPct val="150000"/>
              </a:lnSpc>
              <a:spcBef>
                <a:spcPts val="0"/>
              </a:spcBef>
              <a:spcAft>
                <a:spcPts val="0"/>
              </a:spcAft>
              <a:buClr>
                <a:schemeClr val="dk1"/>
              </a:buClr>
              <a:buSzPts val="1000"/>
              <a:buChar char="●"/>
            </a:pPr>
            <a:r>
              <a:rPr lang="en-GB" sz="1000" b="1">
                <a:solidFill>
                  <a:schemeClr val="dk1"/>
                </a:solidFill>
              </a:rPr>
              <a:t>In-App Camera with Basic Quality Checks</a:t>
            </a:r>
            <a:endParaRPr sz="1000" b="1">
              <a:solidFill>
                <a:schemeClr val="dk1"/>
              </a:solidFill>
            </a:endParaRPr>
          </a:p>
          <a:p>
            <a:pPr marL="914400" lvl="1" indent="-292100" algn="l" rtl="0">
              <a:lnSpc>
                <a:spcPct val="150000"/>
              </a:lnSpc>
              <a:spcBef>
                <a:spcPts val="0"/>
              </a:spcBef>
              <a:spcAft>
                <a:spcPts val="0"/>
              </a:spcAft>
              <a:buClr>
                <a:schemeClr val="dk1"/>
              </a:buClr>
              <a:buSzPts val="1000"/>
              <a:buChar char="○"/>
            </a:pPr>
            <a:r>
              <a:rPr lang="en-GB" sz="1000" i="1">
                <a:solidFill>
                  <a:schemeClr val="dk1"/>
                </a:solidFill>
              </a:rPr>
              <a:t>Problem:</a:t>
            </a:r>
            <a:r>
              <a:rPr lang="en-GB" sz="1000">
                <a:solidFill>
                  <a:schemeClr val="dk1"/>
                </a:solidFill>
              </a:rPr>
              <a:t> Low-quality or unusable images reduce dataset value</a:t>
            </a:r>
            <a:endParaRPr sz="1000">
              <a:solidFill>
                <a:schemeClr val="dk1"/>
              </a:solidFill>
            </a:endParaRPr>
          </a:p>
          <a:p>
            <a:pPr marL="914400" lvl="1" indent="-292100" algn="l" rtl="0">
              <a:lnSpc>
                <a:spcPct val="150000"/>
              </a:lnSpc>
              <a:spcBef>
                <a:spcPts val="0"/>
              </a:spcBef>
              <a:spcAft>
                <a:spcPts val="0"/>
              </a:spcAft>
              <a:buClr>
                <a:schemeClr val="dk1"/>
              </a:buClr>
              <a:buSzPts val="1000"/>
              <a:buChar char="○"/>
            </a:pPr>
            <a:r>
              <a:rPr lang="en-GB" sz="1000" i="1">
                <a:solidFill>
                  <a:schemeClr val="dk1"/>
                </a:solidFill>
              </a:rPr>
              <a:t>Solution:</a:t>
            </a:r>
            <a:r>
              <a:rPr lang="en-GB" sz="1000">
                <a:solidFill>
                  <a:schemeClr val="dk1"/>
                </a:solidFill>
              </a:rPr>
              <a:t> Real-time checks (e.g., blur detection) improve input quality</a:t>
            </a:r>
            <a:endParaRPr sz="1000">
              <a:solidFill>
                <a:schemeClr val="dk1"/>
              </a:solidFill>
            </a:endParaRPr>
          </a:p>
          <a:p>
            <a:pPr marL="457200" lvl="0" indent="-292100" algn="l" rtl="0">
              <a:lnSpc>
                <a:spcPct val="150000"/>
              </a:lnSpc>
              <a:spcBef>
                <a:spcPts val="0"/>
              </a:spcBef>
              <a:spcAft>
                <a:spcPts val="0"/>
              </a:spcAft>
              <a:buClr>
                <a:schemeClr val="dk1"/>
              </a:buClr>
              <a:buSzPts val="1000"/>
              <a:buChar char="●"/>
            </a:pPr>
            <a:r>
              <a:rPr lang="en-GB" sz="1000" b="1">
                <a:solidFill>
                  <a:schemeClr val="dk1"/>
                </a:solidFill>
              </a:rPr>
              <a:t>Voice &amp; Text Description Input</a:t>
            </a:r>
            <a:endParaRPr sz="1000" b="1">
              <a:solidFill>
                <a:schemeClr val="dk1"/>
              </a:solidFill>
            </a:endParaRPr>
          </a:p>
          <a:p>
            <a:pPr marL="914400" lvl="1" indent="-292100" algn="l" rtl="0">
              <a:lnSpc>
                <a:spcPct val="150000"/>
              </a:lnSpc>
              <a:spcBef>
                <a:spcPts val="0"/>
              </a:spcBef>
              <a:spcAft>
                <a:spcPts val="0"/>
              </a:spcAft>
              <a:buClr>
                <a:schemeClr val="dk1"/>
              </a:buClr>
              <a:buSzPts val="1000"/>
              <a:buChar char="○"/>
            </a:pPr>
            <a:r>
              <a:rPr lang="en-GB" sz="1000" i="1">
                <a:solidFill>
                  <a:schemeClr val="dk1"/>
                </a:solidFill>
              </a:rPr>
              <a:t>Problem:</a:t>
            </a:r>
            <a:r>
              <a:rPr lang="en-GB" sz="1000">
                <a:solidFill>
                  <a:schemeClr val="dk1"/>
                </a:solidFill>
              </a:rPr>
              <a:t> Low literacy limits ability to provide descriptions</a:t>
            </a:r>
            <a:endParaRPr sz="1000">
              <a:solidFill>
                <a:schemeClr val="dk1"/>
              </a:solidFill>
            </a:endParaRPr>
          </a:p>
          <a:p>
            <a:pPr marL="914400" lvl="1" indent="-292100" algn="l" rtl="0">
              <a:lnSpc>
                <a:spcPct val="150000"/>
              </a:lnSpc>
              <a:spcBef>
                <a:spcPts val="0"/>
              </a:spcBef>
              <a:spcAft>
                <a:spcPts val="0"/>
              </a:spcAft>
              <a:buClr>
                <a:schemeClr val="dk1"/>
              </a:buClr>
              <a:buSzPts val="1000"/>
              <a:buChar char="○"/>
            </a:pPr>
            <a:r>
              <a:rPr lang="en-GB" sz="1000" i="1">
                <a:solidFill>
                  <a:schemeClr val="dk1"/>
                </a:solidFill>
              </a:rPr>
              <a:t>Solution:</a:t>
            </a:r>
            <a:r>
              <a:rPr lang="en-GB" sz="1000">
                <a:solidFill>
                  <a:schemeClr val="dk1"/>
                </a:solidFill>
              </a:rPr>
              <a:t> Voice input enables broader participation and richer data</a:t>
            </a:r>
            <a:endParaRPr sz="1000">
              <a:solidFill>
                <a:schemeClr val="dk1"/>
              </a:solidFill>
            </a:endParaRPr>
          </a:p>
          <a:p>
            <a:pPr marL="457200" lvl="0" indent="-292100" algn="l" rtl="0">
              <a:lnSpc>
                <a:spcPct val="150000"/>
              </a:lnSpc>
              <a:spcBef>
                <a:spcPts val="0"/>
              </a:spcBef>
              <a:spcAft>
                <a:spcPts val="0"/>
              </a:spcAft>
              <a:buClr>
                <a:schemeClr val="dk1"/>
              </a:buClr>
              <a:buSzPts val="1000"/>
              <a:buChar char="●"/>
            </a:pPr>
            <a:r>
              <a:rPr lang="en-GB" sz="1000" b="1">
                <a:solidFill>
                  <a:schemeClr val="dk1"/>
                </a:solidFill>
              </a:rPr>
              <a:t>Offline-First Storage with Background Sync</a:t>
            </a:r>
            <a:endParaRPr sz="1000" b="1">
              <a:solidFill>
                <a:schemeClr val="dk1"/>
              </a:solidFill>
            </a:endParaRPr>
          </a:p>
          <a:p>
            <a:pPr marL="914400" lvl="1" indent="-292100" algn="l" rtl="0">
              <a:lnSpc>
                <a:spcPct val="150000"/>
              </a:lnSpc>
              <a:spcBef>
                <a:spcPts val="0"/>
              </a:spcBef>
              <a:spcAft>
                <a:spcPts val="0"/>
              </a:spcAft>
              <a:buClr>
                <a:schemeClr val="dk1"/>
              </a:buClr>
              <a:buSzPts val="1000"/>
              <a:buChar char="○"/>
            </a:pPr>
            <a:r>
              <a:rPr lang="en-GB" sz="1000" i="1">
                <a:solidFill>
                  <a:schemeClr val="dk1"/>
                </a:solidFill>
              </a:rPr>
              <a:t>Problem:</a:t>
            </a:r>
            <a:r>
              <a:rPr lang="en-GB" sz="1000">
                <a:solidFill>
                  <a:schemeClr val="dk1"/>
                </a:solidFill>
              </a:rPr>
              <a:t> Poor connectivity disrupts submission flow</a:t>
            </a:r>
            <a:endParaRPr sz="1000">
              <a:solidFill>
                <a:schemeClr val="dk1"/>
              </a:solidFill>
            </a:endParaRPr>
          </a:p>
          <a:p>
            <a:pPr marL="914400" lvl="1" indent="-292100" algn="l" rtl="0">
              <a:lnSpc>
                <a:spcPct val="150000"/>
              </a:lnSpc>
              <a:spcBef>
                <a:spcPts val="0"/>
              </a:spcBef>
              <a:spcAft>
                <a:spcPts val="0"/>
              </a:spcAft>
              <a:buClr>
                <a:schemeClr val="dk1"/>
              </a:buClr>
              <a:buSzPts val="1000"/>
              <a:buChar char="○"/>
            </a:pPr>
            <a:r>
              <a:rPr lang="en-GB" sz="1000" i="1">
                <a:solidFill>
                  <a:schemeClr val="dk1"/>
                </a:solidFill>
              </a:rPr>
              <a:t>Solution:</a:t>
            </a:r>
            <a:r>
              <a:rPr lang="en-GB" sz="1000">
                <a:solidFill>
                  <a:schemeClr val="dk1"/>
                </a:solidFill>
              </a:rPr>
              <a:t> Local storage and delayed sync ensure uninterrupted usage</a:t>
            </a:r>
            <a:endParaRPr sz="1000">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sz="1000">
              <a:solidFill>
                <a:schemeClr val="dk1"/>
              </a:solidFill>
            </a:endParaRPr>
          </a:p>
          <a:p>
            <a:pPr marL="0" lvl="0" indent="0" algn="l" rtl="0">
              <a:spcBef>
                <a:spcPts val="0"/>
              </a:spcBef>
              <a:spcAft>
                <a:spcPts val="0"/>
              </a:spcAft>
              <a:buNone/>
            </a:pPr>
            <a:endParaRPr sz="1700">
              <a:solidFill>
                <a:schemeClr val="dk2"/>
              </a:solidFill>
            </a:endParaRPr>
          </a:p>
        </p:txBody>
      </p:sp>
      <p:sp>
        <p:nvSpPr>
          <p:cNvPr id="190" name="Google Shape;190;p34"/>
          <p:cNvSpPr txBox="1"/>
          <p:nvPr/>
        </p:nvSpPr>
        <p:spPr>
          <a:xfrm>
            <a:off x="5345500" y="1091675"/>
            <a:ext cx="3745800" cy="3852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GB" sz="1000" b="1">
                <a:solidFill>
                  <a:schemeClr val="dk1"/>
                </a:solidFill>
              </a:rPr>
              <a:t>             </a:t>
            </a:r>
            <a:r>
              <a:rPr lang="en-GB" sz="1000" b="1" u="sng">
                <a:solidFill>
                  <a:schemeClr val="dk1"/>
                </a:solidFill>
              </a:rPr>
              <a:t>Admin-Side Features</a:t>
            </a:r>
            <a:endParaRPr sz="1000" b="1" u="sng">
              <a:solidFill>
                <a:schemeClr val="dk1"/>
              </a:solidFill>
            </a:endParaRPr>
          </a:p>
          <a:p>
            <a:pPr marL="457200" lvl="0" indent="-292100" algn="l" rtl="0">
              <a:lnSpc>
                <a:spcPct val="150000"/>
              </a:lnSpc>
              <a:spcBef>
                <a:spcPts val="1200"/>
              </a:spcBef>
              <a:spcAft>
                <a:spcPts val="0"/>
              </a:spcAft>
              <a:buClr>
                <a:schemeClr val="dk1"/>
              </a:buClr>
              <a:buSzPts val="1000"/>
              <a:buChar char="●"/>
            </a:pPr>
            <a:r>
              <a:rPr lang="en-GB" sz="1000" b="1">
                <a:solidFill>
                  <a:schemeClr val="dk1"/>
                </a:solidFill>
              </a:rPr>
              <a:t>Review Queue (Image + Caption + Location)</a:t>
            </a:r>
            <a:endParaRPr sz="1000" b="1">
              <a:solidFill>
                <a:schemeClr val="dk1"/>
              </a:solidFill>
            </a:endParaRPr>
          </a:p>
          <a:p>
            <a:pPr marL="914400" lvl="1" indent="-292100" algn="l" rtl="0">
              <a:lnSpc>
                <a:spcPct val="150000"/>
              </a:lnSpc>
              <a:spcBef>
                <a:spcPts val="0"/>
              </a:spcBef>
              <a:spcAft>
                <a:spcPts val="0"/>
              </a:spcAft>
              <a:buClr>
                <a:schemeClr val="dk1"/>
              </a:buClr>
              <a:buSzPts val="1000"/>
              <a:buChar char="○"/>
            </a:pPr>
            <a:r>
              <a:rPr lang="en-GB" sz="1000" i="1">
                <a:solidFill>
                  <a:schemeClr val="dk1"/>
                </a:solidFill>
              </a:rPr>
              <a:t>Problem:</a:t>
            </a:r>
            <a:r>
              <a:rPr lang="en-GB" sz="1000">
                <a:solidFill>
                  <a:schemeClr val="dk1"/>
                </a:solidFill>
              </a:rPr>
              <a:t> Need for efficient validation of large submission volumes</a:t>
            </a:r>
            <a:endParaRPr sz="1000">
              <a:solidFill>
                <a:schemeClr val="dk1"/>
              </a:solidFill>
            </a:endParaRPr>
          </a:p>
          <a:p>
            <a:pPr marL="914400" lvl="1" indent="-292100" algn="l" rtl="0">
              <a:lnSpc>
                <a:spcPct val="150000"/>
              </a:lnSpc>
              <a:spcBef>
                <a:spcPts val="0"/>
              </a:spcBef>
              <a:spcAft>
                <a:spcPts val="0"/>
              </a:spcAft>
              <a:buClr>
                <a:schemeClr val="dk1"/>
              </a:buClr>
              <a:buSzPts val="1000"/>
              <a:buChar char="○"/>
            </a:pPr>
            <a:r>
              <a:rPr lang="en-GB" sz="1000" i="1">
                <a:solidFill>
                  <a:schemeClr val="dk1"/>
                </a:solidFill>
              </a:rPr>
              <a:t>Solution:</a:t>
            </a:r>
            <a:r>
              <a:rPr lang="en-GB" sz="1000">
                <a:solidFill>
                  <a:schemeClr val="dk1"/>
                </a:solidFill>
              </a:rPr>
              <a:t> Centralized queue enables structured review</a:t>
            </a:r>
            <a:endParaRPr sz="1000">
              <a:solidFill>
                <a:schemeClr val="dk1"/>
              </a:solidFill>
            </a:endParaRPr>
          </a:p>
          <a:p>
            <a:pPr marL="457200" lvl="0" indent="-292100" algn="l" rtl="0">
              <a:lnSpc>
                <a:spcPct val="150000"/>
              </a:lnSpc>
              <a:spcBef>
                <a:spcPts val="0"/>
              </a:spcBef>
              <a:spcAft>
                <a:spcPts val="0"/>
              </a:spcAft>
              <a:buClr>
                <a:schemeClr val="dk1"/>
              </a:buClr>
              <a:buSzPts val="1000"/>
              <a:buChar char="●"/>
            </a:pPr>
            <a:r>
              <a:rPr lang="en-GB" sz="1000" b="1">
                <a:solidFill>
                  <a:schemeClr val="dk1"/>
                </a:solidFill>
              </a:rPr>
              <a:t>Approve / Reject with Reason</a:t>
            </a:r>
            <a:endParaRPr sz="1000" b="1">
              <a:solidFill>
                <a:schemeClr val="dk1"/>
              </a:solidFill>
            </a:endParaRPr>
          </a:p>
          <a:p>
            <a:pPr marL="914400" lvl="1" indent="-292100" algn="l" rtl="0">
              <a:lnSpc>
                <a:spcPct val="150000"/>
              </a:lnSpc>
              <a:spcBef>
                <a:spcPts val="0"/>
              </a:spcBef>
              <a:spcAft>
                <a:spcPts val="0"/>
              </a:spcAft>
              <a:buClr>
                <a:schemeClr val="dk1"/>
              </a:buClr>
              <a:buSzPts val="1000"/>
              <a:buChar char="○"/>
            </a:pPr>
            <a:r>
              <a:rPr lang="en-GB" sz="1000" i="1">
                <a:solidFill>
                  <a:schemeClr val="dk1"/>
                </a:solidFill>
              </a:rPr>
              <a:t>Problem:</a:t>
            </a:r>
            <a:r>
              <a:rPr lang="en-GB" sz="1000">
                <a:solidFill>
                  <a:schemeClr val="dk1"/>
                </a:solidFill>
              </a:rPr>
              <a:t> Lack of feedback and quality control</a:t>
            </a:r>
            <a:endParaRPr sz="1000">
              <a:solidFill>
                <a:schemeClr val="dk1"/>
              </a:solidFill>
            </a:endParaRPr>
          </a:p>
          <a:p>
            <a:pPr marL="914400" lvl="1" indent="-292100" algn="l" rtl="0">
              <a:lnSpc>
                <a:spcPct val="150000"/>
              </a:lnSpc>
              <a:spcBef>
                <a:spcPts val="0"/>
              </a:spcBef>
              <a:spcAft>
                <a:spcPts val="0"/>
              </a:spcAft>
              <a:buClr>
                <a:schemeClr val="dk1"/>
              </a:buClr>
              <a:buSzPts val="1000"/>
              <a:buChar char="○"/>
            </a:pPr>
            <a:r>
              <a:rPr lang="en-GB" sz="1000" i="1">
                <a:solidFill>
                  <a:schemeClr val="dk1"/>
                </a:solidFill>
              </a:rPr>
              <a:t>Solution:</a:t>
            </a:r>
            <a:r>
              <a:rPr lang="en-GB" sz="1000">
                <a:solidFill>
                  <a:schemeClr val="dk1"/>
                </a:solidFill>
              </a:rPr>
              <a:t> Ensures dataset integrity and contributor learning</a:t>
            </a:r>
            <a:endParaRPr sz="1000">
              <a:solidFill>
                <a:schemeClr val="dk1"/>
              </a:solidFill>
            </a:endParaRPr>
          </a:p>
          <a:p>
            <a:pPr marL="457200" lvl="0" indent="-292100" algn="l" rtl="0">
              <a:lnSpc>
                <a:spcPct val="150000"/>
              </a:lnSpc>
              <a:spcBef>
                <a:spcPts val="0"/>
              </a:spcBef>
              <a:spcAft>
                <a:spcPts val="0"/>
              </a:spcAft>
              <a:buClr>
                <a:schemeClr val="dk1"/>
              </a:buClr>
              <a:buSzPts val="1000"/>
              <a:buChar char="●"/>
            </a:pPr>
            <a:r>
              <a:rPr lang="en-GB" sz="1000" b="1">
                <a:solidFill>
                  <a:schemeClr val="dk1"/>
                </a:solidFill>
              </a:rPr>
              <a:t>Coverage Dashboard (State/District Level)</a:t>
            </a:r>
            <a:endParaRPr sz="1000" b="1">
              <a:solidFill>
                <a:schemeClr val="dk1"/>
              </a:solidFill>
            </a:endParaRPr>
          </a:p>
          <a:p>
            <a:pPr marL="914400" lvl="1" indent="-292100" algn="l" rtl="0">
              <a:lnSpc>
                <a:spcPct val="150000"/>
              </a:lnSpc>
              <a:spcBef>
                <a:spcPts val="0"/>
              </a:spcBef>
              <a:spcAft>
                <a:spcPts val="0"/>
              </a:spcAft>
              <a:buClr>
                <a:schemeClr val="dk1"/>
              </a:buClr>
              <a:buSzPts val="1000"/>
              <a:buChar char="○"/>
            </a:pPr>
            <a:r>
              <a:rPr lang="en-GB" sz="1000" i="1">
                <a:solidFill>
                  <a:schemeClr val="dk1"/>
                </a:solidFill>
              </a:rPr>
              <a:t>Problem:</a:t>
            </a:r>
            <a:r>
              <a:rPr lang="en-GB" sz="1000">
                <a:solidFill>
                  <a:schemeClr val="dk1"/>
                </a:solidFill>
              </a:rPr>
              <a:t> Uneven data collection across regions</a:t>
            </a:r>
            <a:endParaRPr sz="1000">
              <a:solidFill>
                <a:schemeClr val="dk1"/>
              </a:solidFill>
            </a:endParaRPr>
          </a:p>
          <a:p>
            <a:pPr marL="914400" lvl="1" indent="-292100" algn="l" rtl="0">
              <a:lnSpc>
                <a:spcPct val="150000"/>
              </a:lnSpc>
              <a:spcBef>
                <a:spcPts val="0"/>
              </a:spcBef>
              <a:spcAft>
                <a:spcPts val="0"/>
              </a:spcAft>
              <a:buClr>
                <a:schemeClr val="dk1"/>
              </a:buClr>
              <a:buSzPts val="1000"/>
              <a:buChar char="○"/>
            </a:pPr>
            <a:r>
              <a:rPr lang="en-GB" sz="1000" i="1">
                <a:solidFill>
                  <a:schemeClr val="dk1"/>
                </a:solidFill>
              </a:rPr>
              <a:t>Solution:</a:t>
            </a:r>
            <a:r>
              <a:rPr lang="en-GB" sz="1000">
                <a:solidFill>
                  <a:schemeClr val="dk1"/>
                </a:solidFill>
              </a:rPr>
              <a:t> Visibility into gaps enables targeted data collection</a:t>
            </a:r>
            <a:endParaRPr sz="1000">
              <a:solidFill>
                <a:schemeClr val="dk1"/>
              </a:solidFill>
            </a:endParaRPr>
          </a:p>
          <a:p>
            <a:pPr marL="0" lvl="0" indent="0" algn="l" rtl="0">
              <a:lnSpc>
                <a:spcPct val="150000"/>
              </a:lnSpc>
              <a:spcBef>
                <a:spcPts val="1400"/>
              </a:spcBef>
              <a:spcAft>
                <a:spcPts val="0"/>
              </a:spcAft>
              <a:buClr>
                <a:schemeClr val="dk1"/>
              </a:buClr>
              <a:buSzPts val="1100"/>
              <a:buFont typeface="Arial"/>
              <a:buNone/>
            </a:pPr>
            <a:endParaRPr sz="1200" b="1">
              <a:solidFill>
                <a:schemeClr val="dk1"/>
              </a:solidFill>
            </a:endParaRPr>
          </a:p>
          <a:p>
            <a:pPr marL="0" lvl="0" indent="0" algn="l" rtl="0">
              <a:spcBef>
                <a:spcPts val="400"/>
              </a:spcBef>
              <a:spcAft>
                <a:spcPts val="0"/>
              </a:spcAft>
              <a:buClr>
                <a:schemeClr val="dk1"/>
              </a:buClr>
              <a:buSzPts val="1100"/>
              <a:buFont typeface="Arial"/>
              <a:buNone/>
            </a:pPr>
            <a:endParaRPr sz="1700">
              <a:solidFill>
                <a:schemeClr val="dk2"/>
              </a:solidFill>
            </a:endParaRPr>
          </a:p>
          <a:p>
            <a:pPr marL="0" lvl="0" indent="0" algn="l" rtl="0">
              <a:spcBef>
                <a:spcPts val="0"/>
              </a:spcBef>
              <a:spcAft>
                <a:spcPts val="0"/>
              </a:spcAft>
              <a:buNone/>
            </a:pPr>
            <a:endParaRPr sz="1800">
              <a:solidFill>
                <a:schemeClr val="dk2"/>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3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96" name="Google Shape;196;p3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97" name="Google Shape;197;p35"/>
          <p:cNvPicPr preferRelativeResize="0"/>
          <p:nvPr/>
        </p:nvPicPr>
        <p:blipFill>
          <a:blip r:embed="rId3">
            <a:alphaModFix/>
          </a:blip>
          <a:stretch>
            <a:fillRect/>
          </a:stretch>
        </p:blipFill>
        <p:spPr>
          <a:xfrm>
            <a:off x="439525" y="0"/>
            <a:ext cx="7838599" cy="51435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3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203" name="Google Shape;203;p3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204" name="Google Shape;204;p36"/>
          <p:cNvPicPr preferRelativeResize="0"/>
          <p:nvPr/>
        </p:nvPicPr>
        <p:blipFill>
          <a:blip r:embed="rId3">
            <a:alphaModFix/>
          </a:blip>
          <a:stretch>
            <a:fillRect/>
          </a:stretch>
        </p:blipFill>
        <p:spPr>
          <a:xfrm>
            <a:off x="1216075" y="0"/>
            <a:ext cx="6842776" cy="514349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3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210" name="Google Shape;210;p3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211" name="Google Shape;211;p37"/>
          <p:cNvPicPr preferRelativeResize="0"/>
          <p:nvPr/>
        </p:nvPicPr>
        <p:blipFill>
          <a:blip r:embed="rId3">
            <a:alphaModFix/>
          </a:blip>
          <a:stretch>
            <a:fillRect/>
          </a:stretch>
        </p:blipFill>
        <p:spPr>
          <a:xfrm>
            <a:off x="804975" y="0"/>
            <a:ext cx="7326976" cy="51435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3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217" name="Google Shape;217;p3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218" name="Google Shape;218;p38"/>
          <p:cNvPicPr preferRelativeResize="0"/>
          <p:nvPr/>
        </p:nvPicPr>
        <p:blipFill>
          <a:blip r:embed="rId3">
            <a:alphaModFix/>
          </a:blip>
          <a:stretch>
            <a:fillRect/>
          </a:stretch>
        </p:blipFill>
        <p:spPr>
          <a:xfrm>
            <a:off x="768425" y="0"/>
            <a:ext cx="7363524" cy="51435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3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224" name="Google Shape;224;p3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225" name="Google Shape;225;p39"/>
          <p:cNvPicPr preferRelativeResize="0"/>
          <p:nvPr/>
        </p:nvPicPr>
        <p:blipFill>
          <a:blip r:embed="rId3">
            <a:alphaModFix/>
          </a:blip>
          <a:stretch>
            <a:fillRect/>
          </a:stretch>
        </p:blipFill>
        <p:spPr>
          <a:xfrm>
            <a:off x="987700" y="0"/>
            <a:ext cx="7162526" cy="51435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4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231" name="Google Shape;231;p4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232" name="Google Shape;232;p40"/>
          <p:cNvPicPr preferRelativeResize="0"/>
          <p:nvPr/>
        </p:nvPicPr>
        <p:blipFill>
          <a:blip r:embed="rId3">
            <a:alphaModFix/>
          </a:blip>
          <a:stretch>
            <a:fillRect/>
          </a:stretch>
        </p:blipFill>
        <p:spPr>
          <a:xfrm>
            <a:off x="1106450" y="0"/>
            <a:ext cx="6934149" cy="51435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4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238" name="Google Shape;238;p4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239" name="Google Shape;239;p41"/>
          <p:cNvPicPr preferRelativeResize="0"/>
          <p:nvPr/>
        </p:nvPicPr>
        <p:blipFill>
          <a:blip r:embed="rId3">
            <a:alphaModFix/>
          </a:blip>
          <a:stretch>
            <a:fillRect/>
          </a:stretch>
        </p:blipFill>
        <p:spPr>
          <a:xfrm>
            <a:off x="814100" y="0"/>
            <a:ext cx="7253901" cy="5143499"/>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4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pic>
        <p:nvPicPr>
          <p:cNvPr id="245" name="Google Shape;245;p42"/>
          <p:cNvPicPr preferRelativeResize="0"/>
          <p:nvPr/>
        </p:nvPicPr>
        <p:blipFill>
          <a:blip r:embed="rId3">
            <a:alphaModFix/>
          </a:blip>
          <a:stretch>
            <a:fillRect/>
          </a:stretch>
        </p:blipFill>
        <p:spPr>
          <a:xfrm>
            <a:off x="932875" y="0"/>
            <a:ext cx="7162524" cy="5143499"/>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4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251" name="Google Shape;251;p4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252" name="Google Shape;252;p43"/>
          <p:cNvPicPr preferRelativeResize="0"/>
          <p:nvPr/>
        </p:nvPicPr>
        <p:blipFill>
          <a:blip r:embed="rId3">
            <a:alphaModFix/>
          </a:blip>
          <a:stretch>
            <a:fillRect/>
          </a:stretch>
        </p:blipFill>
        <p:spPr>
          <a:xfrm>
            <a:off x="1956100" y="0"/>
            <a:ext cx="5371899" cy="5143501"/>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4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258" name="Google Shape;258;p4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259" name="Google Shape;259;p44"/>
          <p:cNvPicPr preferRelativeResize="0"/>
          <p:nvPr/>
        </p:nvPicPr>
        <p:blipFill>
          <a:blip r:embed="rId3">
            <a:alphaModFix/>
          </a:blip>
          <a:stretch>
            <a:fillRect/>
          </a:stretch>
        </p:blipFill>
        <p:spPr>
          <a:xfrm>
            <a:off x="0" y="453891"/>
            <a:ext cx="9144001" cy="4235719"/>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45"/>
          <p:cNvSpPr txBox="1"/>
          <p:nvPr/>
        </p:nvSpPr>
        <p:spPr>
          <a:xfrm>
            <a:off x="274089" y="338000"/>
            <a:ext cx="7967400" cy="39204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1800"/>
              </a:spcBef>
              <a:spcAft>
                <a:spcPts val="0"/>
              </a:spcAft>
              <a:buNone/>
            </a:pPr>
            <a:r>
              <a:rPr lang="en-GB" sz="1500" b="1">
                <a:solidFill>
                  <a:schemeClr val="dk1"/>
                </a:solidFill>
              </a:rPr>
              <a:t>How will you ensure data quality?</a:t>
            </a:r>
            <a:endParaRPr sz="1500" b="1" u="sng">
              <a:solidFill>
                <a:schemeClr val="dk1"/>
              </a:solidFill>
            </a:endParaRPr>
          </a:p>
          <a:p>
            <a:pPr marL="0" lvl="0" indent="0" algn="l" rtl="0">
              <a:lnSpc>
                <a:spcPct val="115000"/>
              </a:lnSpc>
              <a:spcBef>
                <a:spcPts val="1200"/>
              </a:spcBef>
              <a:spcAft>
                <a:spcPts val="0"/>
              </a:spcAft>
              <a:buNone/>
            </a:pPr>
            <a:r>
              <a:rPr lang="en-GB" sz="1100">
                <a:solidFill>
                  <a:schemeClr val="dk1"/>
                </a:solidFill>
              </a:rPr>
              <a:t>Quality is enforced at three key stages:</a:t>
            </a:r>
            <a:endParaRPr sz="1100">
              <a:solidFill>
                <a:schemeClr val="dk1"/>
              </a:solidFill>
            </a:endParaRPr>
          </a:p>
          <a:p>
            <a:pPr marL="457200" lvl="0" indent="-298450" algn="l" rtl="0">
              <a:lnSpc>
                <a:spcPct val="115000"/>
              </a:lnSpc>
              <a:spcBef>
                <a:spcPts val="1200"/>
              </a:spcBef>
              <a:spcAft>
                <a:spcPts val="0"/>
              </a:spcAft>
              <a:buClr>
                <a:schemeClr val="dk1"/>
              </a:buClr>
              <a:buSzPts val="1100"/>
              <a:buChar char="●"/>
            </a:pPr>
            <a:r>
              <a:rPr lang="en-GB" sz="1100" b="1">
                <a:solidFill>
                  <a:schemeClr val="dk1"/>
                </a:solidFill>
              </a:rPr>
              <a:t>At Capture:</a:t>
            </a:r>
            <a:br>
              <a:rPr lang="en-GB" sz="1100" b="1">
                <a:solidFill>
                  <a:schemeClr val="dk1"/>
                </a:solidFill>
              </a:rPr>
            </a:br>
            <a:r>
              <a:rPr lang="en-GB" sz="1100">
                <a:solidFill>
                  <a:schemeClr val="dk1"/>
                </a:solidFill>
              </a:rPr>
              <a:t> On-device checks for blur and lighting → prevents </a:t>
            </a:r>
            <a:r>
              <a:rPr lang="en-GB" sz="1100" b="1">
                <a:solidFill>
                  <a:schemeClr val="dk1"/>
                </a:solidFill>
              </a:rPr>
              <a:t>low-quality images before submission</a:t>
            </a:r>
            <a:r>
              <a:rPr lang="en-GB" sz="1100">
                <a:solidFill>
                  <a:schemeClr val="dk1"/>
                </a:solidFill>
              </a:rPr>
              <a:t>.</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GB" sz="1100" b="1">
                <a:solidFill>
                  <a:schemeClr val="dk1"/>
                </a:solidFill>
              </a:rPr>
              <a:t>At Submission:</a:t>
            </a:r>
            <a:br>
              <a:rPr lang="en-GB" sz="1100" b="1">
                <a:solidFill>
                  <a:schemeClr val="dk1"/>
                </a:solidFill>
              </a:rPr>
            </a:br>
            <a:r>
              <a:rPr lang="en-GB" sz="1100">
                <a:solidFill>
                  <a:schemeClr val="dk1"/>
                </a:solidFill>
              </a:rPr>
              <a:t> Automated validation (caption length, duplicates, GPS data) →</a:t>
            </a:r>
            <a:endParaRPr sz="1100">
              <a:solidFill>
                <a:schemeClr val="dk1"/>
              </a:solidFill>
            </a:endParaRPr>
          </a:p>
          <a:p>
            <a:pPr marL="914400" lvl="1" indent="-298450" algn="l" rtl="0">
              <a:lnSpc>
                <a:spcPct val="115000"/>
              </a:lnSpc>
              <a:spcBef>
                <a:spcPts val="0"/>
              </a:spcBef>
              <a:spcAft>
                <a:spcPts val="0"/>
              </a:spcAft>
              <a:buClr>
                <a:schemeClr val="dk1"/>
              </a:buClr>
              <a:buSzPts val="1100"/>
              <a:buChar char="○"/>
            </a:pPr>
            <a:r>
              <a:rPr lang="en-GB" sz="1100">
                <a:solidFill>
                  <a:schemeClr val="dk1"/>
                </a:solidFill>
              </a:rPr>
              <a:t>Invalid entries are </a:t>
            </a:r>
            <a:r>
              <a:rPr lang="en-GB" sz="1100" b="1">
                <a:solidFill>
                  <a:schemeClr val="dk1"/>
                </a:solidFill>
              </a:rPr>
              <a:t>blocked</a:t>
            </a:r>
            <a:endParaRPr sz="1100" b="1">
              <a:solidFill>
                <a:schemeClr val="dk1"/>
              </a:solidFill>
            </a:endParaRPr>
          </a:p>
          <a:p>
            <a:pPr marL="914400" lvl="1" indent="-298450" algn="l" rtl="0">
              <a:lnSpc>
                <a:spcPct val="115000"/>
              </a:lnSpc>
              <a:spcBef>
                <a:spcPts val="0"/>
              </a:spcBef>
              <a:spcAft>
                <a:spcPts val="0"/>
              </a:spcAft>
              <a:buClr>
                <a:schemeClr val="dk1"/>
              </a:buClr>
              <a:buSzPts val="1100"/>
              <a:buChar char="○"/>
            </a:pPr>
            <a:r>
              <a:rPr lang="en-GB" sz="1100">
                <a:solidFill>
                  <a:schemeClr val="dk1"/>
                </a:solidFill>
              </a:rPr>
              <a:t>Uncertain cases are </a:t>
            </a:r>
            <a:r>
              <a:rPr lang="en-GB" sz="1100" b="1">
                <a:solidFill>
                  <a:schemeClr val="dk1"/>
                </a:solidFill>
              </a:rPr>
              <a:t>flagged for review</a:t>
            </a:r>
            <a:endParaRPr sz="1100" b="1">
              <a:solidFill>
                <a:schemeClr val="dk1"/>
              </a:solidFill>
            </a:endParaRPr>
          </a:p>
          <a:p>
            <a:pPr marL="457200" lvl="0" indent="-298450" algn="l" rtl="0">
              <a:lnSpc>
                <a:spcPct val="115000"/>
              </a:lnSpc>
              <a:spcBef>
                <a:spcPts val="0"/>
              </a:spcBef>
              <a:spcAft>
                <a:spcPts val="0"/>
              </a:spcAft>
              <a:buClr>
                <a:schemeClr val="dk1"/>
              </a:buClr>
              <a:buSzPts val="1100"/>
              <a:buChar char="●"/>
            </a:pPr>
            <a:r>
              <a:rPr lang="en-GB" sz="1100" b="1">
                <a:solidFill>
                  <a:schemeClr val="dk1"/>
                </a:solidFill>
              </a:rPr>
              <a:t>Post-Review:</a:t>
            </a:r>
            <a:br>
              <a:rPr lang="en-GB" sz="1100" b="1">
                <a:solidFill>
                  <a:schemeClr val="dk1"/>
                </a:solidFill>
              </a:rPr>
            </a:br>
            <a:r>
              <a:rPr lang="en-GB" sz="1100">
                <a:solidFill>
                  <a:schemeClr val="dk1"/>
                </a:solidFill>
              </a:rPr>
              <a:t> Contributor quality scoring based on approval rate →</a:t>
            </a:r>
            <a:endParaRPr sz="1100">
              <a:solidFill>
                <a:schemeClr val="dk1"/>
              </a:solidFill>
            </a:endParaRPr>
          </a:p>
          <a:p>
            <a:pPr marL="914400" lvl="1" indent="-298450" algn="l" rtl="0">
              <a:lnSpc>
                <a:spcPct val="115000"/>
              </a:lnSpc>
              <a:spcBef>
                <a:spcPts val="0"/>
              </a:spcBef>
              <a:spcAft>
                <a:spcPts val="0"/>
              </a:spcAft>
              <a:buClr>
                <a:schemeClr val="dk1"/>
              </a:buClr>
              <a:buSzPts val="1100"/>
              <a:buChar char="○"/>
            </a:pPr>
            <a:r>
              <a:rPr lang="en-GB" sz="1100">
                <a:solidFill>
                  <a:schemeClr val="dk1"/>
                </a:solidFill>
              </a:rPr>
              <a:t>High performers get </a:t>
            </a:r>
            <a:r>
              <a:rPr lang="en-GB" sz="1100" b="1">
                <a:solidFill>
                  <a:schemeClr val="dk1"/>
                </a:solidFill>
              </a:rPr>
              <a:t>fast-tracked (trusted badge)</a:t>
            </a:r>
            <a:endParaRPr sz="1100" b="1">
              <a:solidFill>
                <a:schemeClr val="dk1"/>
              </a:solidFill>
            </a:endParaRPr>
          </a:p>
          <a:p>
            <a:pPr marL="914400" lvl="1" indent="-298450" algn="l" rtl="0">
              <a:lnSpc>
                <a:spcPct val="115000"/>
              </a:lnSpc>
              <a:spcBef>
                <a:spcPts val="0"/>
              </a:spcBef>
              <a:spcAft>
                <a:spcPts val="0"/>
              </a:spcAft>
              <a:buClr>
                <a:schemeClr val="dk1"/>
              </a:buClr>
              <a:buSzPts val="1100"/>
              <a:buChar char="○"/>
            </a:pPr>
            <a:r>
              <a:rPr lang="en-GB" sz="1100">
                <a:solidFill>
                  <a:schemeClr val="dk1"/>
                </a:solidFill>
              </a:rPr>
              <a:t>Low performers receive </a:t>
            </a:r>
            <a:r>
              <a:rPr lang="en-GB" sz="1100" b="1">
                <a:solidFill>
                  <a:schemeClr val="dk1"/>
                </a:solidFill>
              </a:rPr>
              <a:t>guidance and improvement tips</a:t>
            </a:r>
            <a:endParaRPr sz="1100" b="1">
              <a:solidFill>
                <a:schemeClr val="dk1"/>
              </a:solidFill>
            </a:endParaRPr>
          </a:p>
          <a:p>
            <a:pPr marL="0" lvl="0" indent="0" algn="l" rtl="0">
              <a:lnSpc>
                <a:spcPct val="115000"/>
              </a:lnSpc>
              <a:spcBef>
                <a:spcPts val="1200"/>
              </a:spcBef>
              <a:spcAft>
                <a:spcPts val="0"/>
              </a:spcAft>
              <a:buNone/>
            </a:pPr>
            <a:endParaRPr sz="1100">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sz="1100">
              <a:solidFill>
                <a:schemeClr val="dk1"/>
              </a:solidFill>
            </a:endParaRPr>
          </a:p>
          <a:p>
            <a:pPr marL="0" lvl="0" indent="0" algn="l" rtl="0">
              <a:lnSpc>
                <a:spcPct val="115000"/>
              </a:lnSpc>
              <a:spcBef>
                <a:spcPts val="1200"/>
              </a:spcBef>
              <a:spcAft>
                <a:spcPts val="1200"/>
              </a:spcAft>
              <a:buNone/>
            </a:pPr>
            <a:endParaRPr sz="1100">
              <a:solidFill>
                <a:schemeClr val="dk1"/>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4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270" name="Google Shape;270;p4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271" name="Google Shape;271;p46"/>
          <p:cNvPicPr preferRelativeResize="0"/>
          <p:nvPr/>
        </p:nvPicPr>
        <p:blipFill>
          <a:blip r:embed="rId3">
            <a:alphaModFix/>
          </a:blip>
          <a:stretch>
            <a:fillRect/>
          </a:stretch>
        </p:blipFill>
        <p:spPr>
          <a:xfrm>
            <a:off x="1873875" y="0"/>
            <a:ext cx="5335349" cy="5143499"/>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p4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277" name="Google Shape;277;p4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278" name="Google Shape;278;p47"/>
          <p:cNvPicPr preferRelativeResize="0"/>
          <p:nvPr/>
        </p:nvPicPr>
        <p:blipFill>
          <a:blip r:embed="rId3">
            <a:alphaModFix/>
          </a:blip>
          <a:stretch>
            <a:fillRect/>
          </a:stretch>
        </p:blipFill>
        <p:spPr>
          <a:xfrm>
            <a:off x="1526700" y="0"/>
            <a:ext cx="6011424" cy="51435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4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284" name="Google Shape;284;p4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285" name="Google Shape;285;p48"/>
          <p:cNvPicPr preferRelativeResize="0"/>
          <p:nvPr/>
        </p:nvPicPr>
        <p:blipFill>
          <a:blip r:embed="rId3">
            <a:alphaModFix/>
          </a:blip>
          <a:stretch>
            <a:fillRect/>
          </a:stretch>
        </p:blipFill>
        <p:spPr>
          <a:xfrm>
            <a:off x="1015498" y="0"/>
            <a:ext cx="7113005" cy="51435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9"/>
          <p:cNvSpPr txBox="1"/>
          <p:nvPr/>
        </p:nvSpPr>
        <p:spPr>
          <a:xfrm>
            <a:off x="0" y="0"/>
            <a:ext cx="3000000" cy="400200"/>
          </a:xfrm>
          <a:prstGeom prst="rect">
            <a:avLst/>
          </a:prstGeom>
          <a:noFill/>
          <a:ln>
            <a:noFill/>
          </a:ln>
        </p:spPr>
        <p:txBody>
          <a:bodyPr spcFirstLastPara="1" wrap="square" lIns="91425" tIns="91425" rIns="91425" bIns="91425" anchor="t" anchorCtr="0">
            <a:spAutoFit/>
          </a:bodyPr>
          <a:lstStyle/>
          <a:p>
            <a:pPr marL="914400" lvl="1" indent="-298450" algn="l" rtl="0">
              <a:lnSpc>
                <a:spcPct val="115000"/>
              </a:lnSpc>
              <a:spcBef>
                <a:spcPts val="1200"/>
              </a:spcBef>
              <a:spcAft>
                <a:spcPts val="0"/>
              </a:spcAft>
              <a:buClr>
                <a:schemeClr val="dk1"/>
              </a:buClr>
              <a:buSzPts val="1100"/>
              <a:buChar char="○"/>
            </a:pPr>
            <a:endParaRPr>
              <a:solidFill>
                <a:schemeClr val="dk1"/>
              </a:solidFill>
            </a:endParaRPr>
          </a:p>
        </p:txBody>
      </p:sp>
      <p:sp>
        <p:nvSpPr>
          <p:cNvPr id="291" name="Google Shape;291;p49"/>
          <p:cNvSpPr txBox="1"/>
          <p:nvPr/>
        </p:nvSpPr>
        <p:spPr>
          <a:xfrm>
            <a:off x="686200" y="175600"/>
            <a:ext cx="8368500" cy="4878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800"/>
              </a:spcBef>
              <a:spcAft>
                <a:spcPts val="0"/>
              </a:spcAft>
              <a:buClr>
                <a:schemeClr val="dk1"/>
              </a:buClr>
              <a:buSzPts val="1100"/>
              <a:buFont typeface="Arial"/>
              <a:buNone/>
            </a:pPr>
            <a:r>
              <a:rPr lang="en-GB" sz="1700" b="1">
                <a:solidFill>
                  <a:schemeClr val="dk1"/>
                </a:solidFill>
              </a:rPr>
              <a:t>How would you measure success?”</a:t>
            </a:r>
            <a:endParaRPr sz="1100">
              <a:solidFill>
                <a:schemeClr val="dk1"/>
              </a:solidFill>
            </a:endParaRPr>
          </a:p>
          <a:p>
            <a:pPr marL="457200" lvl="0" indent="-298450" algn="l" rtl="0">
              <a:lnSpc>
                <a:spcPct val="115000"/>
              </a:lnSpc>
              <a:spcBef>
                <a:spcPts val="1200"/>
              </a:spcBef>
              <a:spcAft>
                <a:spcPts val="0"/>
              </a:spcAft>
              <a:buClr>
                <a:schemeClr val="dk1"/>
              </a:buClr>
              <a:buSzPts val="1100"/>
              <a:buAutoNum type="arabicPeriod"/>
            </a:pPr>
            <a:r>
              <a:rPr lang="en-GB" sz="1100" b="1">
                <a:solidFill>
                  <a:schemeClr val="dk1"/>
                </a:solidFill>
              </a:rPr>
              <a:t>Villages Completed</a:t>
            </a:r>
            <a:endParaRPr sz="1100" b="1">
              <a:solidFill>
                <a:schemeClr val="dk1"/>
              </a:solidFill>
            </a:endParaRPr>
          </a:p>
          <a:p>
            <a:pPr marL="914400" lvl="1" indent="-298450" algn="l" rtl="0">
              <a:lnSpc>
                <a:spcPct val="115000"/>
              </a:lnSpc>
              <a:spcBef>
                <a:spcPts val="0"/>
              </a:spcBef>
              <a:spcAft>
                <a:spcPts val="0"/>
              </a:spcAft>
              <a:buClr>
                <a:schemeClr val="dk1"/>
              </a:buClr>
              <a:buSzPts val="1100"/>
              <a:buChar char="○"/>
            </a:pPr>
            <a:r>
              <a:rPr lang="en-GB" sz="1100" i="1">
                <a:solidFill>
                  <a:schemeClr val="dk1"/>
                </a:solidFill>
              </a:rPr>
              <a:t>Definition:</a:t>
            </a:r>
            <a:r>
              <a:rPr lang="en-GB" sz="1100">
                <a:solidFill>
                  <a:schemeClr val="dk1"/>
                </a:solidFill>
              </a:rPr>
              <a:t> Number of villages with ≥1000 approved image–description pairs</a:t>
            </a:r>
            <a:endParaRPr sz="1100">
              <a:solidFill>
                <a:schemeClr val="dk1"/>
              </a:solidFill>
            </a:endParaRPr>
          </a:p>
          <a:p>
            <a:pPr marL="914400" lvl="1" indent="-298450" algn="l" rtl="0">
              <a:lnSpc>
                <a:spcPct val="115000"/>
              </a:lnSpc>
              <a:spcBef>
                <a:spcPts val="0"/>
              </a:spcBef>
              <a:spcAft>
                <a:spcPts val="0"/>
              </a:spcAft>
              <a:buClr>
                <a:schemeClr val="dk1"/>
              </a:buClr>
              <a:buSzPts val="1100"/>
              <a:buChar char="○"/>
            </a:pPr>
            <a:r>
              <a:rPr lang="en-GB" sz="1100" i="1">
                <a:solidFill>
                  <a:schemeClr val="dk1"/>
                </a:solidFill>
              </a:rPr>
              <a:t>Purpose:</a:t>
            </a:r>
            <a:r>
              <a:rPr lang="en-GB" sz="1100">
                <a:solidFill>
                  <a:schemeClr val="dk1"/>
                </a:solidFill>
              </a:rPr>
              <a:t> Directly measures progress toward building a </a:t>
            </a:r>
            <a:r>
              <a:rPr lang="en-GB" sz="1100" b="1">
                <a:solidFill>
                  <a:schemeClr val="dk1"/>
                </a:solidFill>
              </a:rPr>
              <a:t>complete and usable dataset</a:t>
            </a:r>
            <a:endParaRPr sz="1100" b="1">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GB" sz="1100" b="1">
                <a:solidFill>
                  <a:schemeClr val="dk1"/>
                </a:solidFill>
              </a:rPr>
              <a:t> Quality Metrics</a:t>
            </a:r>
            <a:endParaRPr sz="1100" b="1">
              <a:solidFill>
                <a:schemeClr val="dk1"/>
              </a:solidFill>
            </a:endParaRPr>
          </a:p>
          <a:p>
            <a:pPr marL="457200" lvl="0" indent="-298450" algn="l" rtl="0">
              <a:lnSpc>
                <a:spcPct val="115000"/>
              </a:lnSpc>
              <a:spcBef>
                <a:spcPts val="0"/>
              </a:spcBef>
              <a:spcAft>
                <a:spcPts val="0"/>
              </a:spcAft>
              <a:buClr>
                <a:schemeClr val="dk1"/>
              </a:buClr>
              <a:buSzPts val="1100"/>
              <a:buChar char="●"/>
            </a:pPr>
            <a:r>
              <a:rPr lang="en-GB" sz="1100" b="1">
                <a:solidFill>
                  <a:schemeClr val="dk1"/>
                </a:solidFill>
              </a:rPr>
              <a:t>Approval Rate (&gt;85% target)</a:t>
            </a:r>
            <a:endParaRPr sz="1100" b="1">
              <a:solidFill>
                <a:schemeClr val="dk1"/>
              </a:solidFill>
            </a:endParaRPr>
          </a:p>
          <a:p>
            <a:pPr marL="914400" lvl="1" indent="-298450" algn="l" rtl="0">
              <a:lnSpc>
                <a:spcPct val="115000"/>
              </a:lnSpc>
              <a:spcBef>
                <a:spcPts val="0"/>
              </a:spcBef>
              <a:spcAft>
                <a:spcPts val="0"/>
              </a:spcAft>
              <a:buClr>
                <a:schemeClr val="dk1"/>
              </a:buClr>
              <a:buSzPts val="1100"/>
              <a:buChar char="○"/>
            </a:pPr>
            <a:r>
              <a:rPr lang="en-GB" sz="1100" i="1">
                <a:solidFill>
                  <a:schemeClr val="dk1"/>
                </a:solidFill>
              </a:rPr>
              <a:t>Problem:</a:t>
            </a:r>
            <a:r>
              <a:rPr lang="en-GB" sz="1100">
                <a:solidFill>
                  <a:schemeClr val="dk1"/>
                </a:solidFill>
              </a:rPr>
              <a:t> Ensures collected data is usable and meets quality standards</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GB" sz="1100" b="1">
                <a:solidFill>
                  <a:schemeClr val="dk1"/>
                </a:solidFill>
              </a:rPr>
              <a:t>Average Quality Score</a:t>
            </a:r>
            <a:endParaRPr sz="1100" b="1">
              <a:solidFill>
                <a:schemeClr val="dk1"/>
              </a:solidFill>
            </a:endParaRPr>
          </a:p>
          <a:p>
            <a:pPr marL="914400" lvl="1" indent="-298450" algn="l" rtl="0">
              <a:lnSpc>
                <a:spcPct val="115000"/>
              </a:lnSpc>
              <a:spcBef>
                <a:spcPts val="0"/>
              </a:spcBef>
              <a:spcAft>
                <a:spcPts val="0"/>
              </a:spcAft>
              <a:buClr>
                <a:schemeClr val="dk1"/>
              </a:buClr>
              <a:buSzPts val="1100"/>
              <a:buChar char="○"/>
            </a:pPr>
            <a:r>
              <a:rPr lang="en-GB" sz="1100" i="1">
                <a:solidFill>
                  <a:schemeClr val="dk1"/>
                </a:solidFill>
              </a:rPr>
              <a:t>Problem:</a:t>
            </a:r>
            <a:r>
              <a:rPr lang="en-GB" sz="1100">
                <a:solidFill>
                  <a:schemeClr val="dk1"/>
                </a:solidFill>
              </a:rPr>
              <a:t> Measures overall dataset reliability and consistency</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GB" sz="1100" b="1">
                <a:solidFill>
                  <a:schemeClr val="dk1"/>
                </a:solidFill>
              </a:rPr>
              <a:t>Rejection Reason Distribution</a:t>
            </a:r>
            <a:endParaRPr sz="1100" b="1">
              <a:solidFill>
                <a:schemeClr val="dk1"/>
              </a:solidFill>
            </a:endParaRPr>
          </a:p>
          <a:p>
            <a:pPr marL="914400" lvl="1" indent="-298450" algn="l" rtl="0">
              <a:lnSpc>
                <a:spcPct val="115000"/>
              </a:lnSpc>
              <a:spcBef>
                <a:spcPts val="0"/>
              </a:spcBef>
              <a:spcAft>
                <a:spcPts val="0"/>
              </a:spcAft>
              <a:buClr>
                <a:schemeClr val="dk1"/>
              </a:buClr>
              <a:buSzPts val="1100"/>
              <a:buChar char="○"/>
            </a:pPr>
            <a:r>
              <a:rPr lang="en-GB" sz="1100" i="1">
                <a:solidFill>
                  <a:schemeClr val="dk1"/>
                </a:solidFill>
              </a:rPr>
              <a:t>Problem:</a:t>
            </a:r>
            <a:r>
              <a:rPr lang="en-GB" sz="1100">
                <a:solidFill>
                  <a:schemeClr val="dk1"/>
                </a:solidFill>
              </a:rPr>
              <a:t> Identifies recurring issues in submissions (e.g., poor images, wrong descriptions)</a:t>
            </a:r>
            <a:endParaRPr sz="1100">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GB" sz="1100" b="1">
                <a:solidFill>
                  <a:schemeClr val="dk1"/>
                </a:solidFill>
              </a:rPr>
              <a:t> Efficiency Metrics</a:t>
            </a:r>
            <a:endParaRPr sz="1100" b="1">
              <a:solidFill>
                <a:schemeClr val="dk1"/>
              </a:solidFill>
            </a:endParaRPr>
          </a:p>
          <a:p>
            <a:pPr marL="457200" lvl="0" indent="-298450" algn="l" rtl="0">
              <a:lnSpc>
                <a:spcPct val="115000"/>
              </a:lnSpc>
              <a:spcBef>
                <a:spcPts val="0"/>
              </a:spcBef>
              <a:spcAft>
                <a:spcPts val="0"/>
              </a:spcAft>
              <a:buClr>
                <a:schemeClr val="dk1"/>
              </a:buClr>
              <a:buSzPts val="1100"/>
              <a:buChar char="●"/>
            </a:pPr>
            <a:r>
              <a:rPr lang="en-GB" sz="1100" b="1">
                <a:solidFill>
                  <a:schemeClr val="dk1"/>
                </a:solidFill>
              </a:rPr>
              <a:t>Review Turnaround Time</a:t>
            </a:r>
            <a:endParaRPr sz="1100" b="1">
              <a:solidFill>
                <a:schemeClr val="dk1"/>
              </a:solidFill>
            </a:endParaRPr>
          </a:p>
          <a:p>
            <a:pPr marL="914400" lvl="1" indent="-298450" algn="l" rtl="0">
              <a:lnSpc>
                <a:spcPct val="115000"/>
              </a:lnSpc>
              <a:spcBef>
                <a:spcPts val="0"/>
              </a:spcBef>
              <a:spcAft>
                <a:spcPts val="0"/>
              </a:spcAft>
              <a:buClr>
                <a:schemeClr val="dk1"/>
              </a:buClr>
              <a:buSzPts val="1100"/>
              <a:buChar char="○"/>
            </a:pPr>
            <a:r>
              <a:rPr lang="en-GB" sz="1100" i="1">
                <a:solidFill>
                  <a:schemeClr val="dk1"/>
                </a:solidFill>
              </a:rPr>
              <a:t>Problem:</a:t>
            </a:r>
            <a:r>
              <a:rPr lang="en-GB" sz="1100">
                <a:solidFill>
                  <a:schemeClr val="dk1"/>
                </a:solidFill>
              </a:rPr>
              <a:t> Delays in validation slow down dataset creation</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GB" sz="1100" b="1">
                <a:solidFill>
                  <a:schemeClr val="dk1"/>
                </a:solidFill>
              </a:rPr>
              <a:t>Cost per Approved Image</a:t>
            </a:r>
            <a:endParaRPr sz="1100" b="1">
              <a:solidFill>
                <a:schemeClr val="dk1"/>
              </a:solidFill>
            </a:endParaRPr>
          </a:p>
          <a:p>
            <a:pPr marL="914400" lvl="1" indent="-298450" algn="l" rtl="0">
              <a:lnSpc>
                <a:spcPct val="115000"/>
              </a:lnSpc>
              <a:spcBef>
                <a:spcPts val="0"/>
              </a:spcBef>
              <a:spcAft>
                <a:spcPts val="0"/>
              </a:spcAft>
              <a:buClr>
                <a:schemeClr val="dk1"/>
              </a:buClr>
              <a:buSzPts val="1100"/>
              <a:buChar char="○"/>
            </a:pPr>
            <a:r>
              <a:rPr lang="en-GB" sz="1100" i="1">
                <a:solidFill>
                  <a:schemeClr val="dk1"/>
                </a:solidFill>
              </a:rPr>
              <a:t>Problem:</a:t>
            </a:r>
            <a:r>
              <a:rPr lang="en-GB" sz="1100">
                <a:solidFill>
                  <a:schemeClr val="dk1"/>
                </a:solidFill>
              </a:rPr>
              <a:t> Ensures operational scalability and cost efficiency</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GB" sz="1100" b="1">
                <a:solidFill>
                  <a:schemeClr val="dk1"/>
                </a:solidFill>
              </a:rPr>
              <a:t>Contributor Retention Rate</a:t>
            </a:r>
            <a:endParaRPr sz="1100" b="1">
              <a:solidFill>
                <a:schemeClr val="dk1"/>
              </a:solidFill>
            </a:endParaRPr>
          </a:p>
          <a:p>
            <a:pPr marL="914400" lvl="1" indent="-298450" algn="l" rtl="0">
              <a:lnSpc>
                <a:spcPct val="115000"/>
              </a:lnSpc>
              <a:spcBef>
                <a:spcPts val="0"/>
              </a:spcBef>
              <a:spcAft>
                <a:spcPts val="0"/>
              </a:spcAft>
              <a:buClr>
                <a:schemeClr val="dk1"/>
              </a:buClr>
              <a:buSzPts val="1100"/>
              <a:buChar char="○"/>
            </a:pPr>
            <a:r>
              <a:rPr lang="en-GB" sz="1100" i="1">
                <a:solidFill>
                  <a:schemeClr val="dk1"/>
                </a:solidFill>
              </a:rPr>
              <a:t>Problem:</a:t>
            </a:r>
            <a:r>
              <a:rPr lang="en-GB" sz="1100">
                <a:solidFill>
                  <a:schemeClr val="dk1"/>
                </a:solidFill>
              </a:rPr>
              <a:t> High churn reduces long-term scalability and increases acquisition cost</a:t>
            </a:r>
            <a:endParaRPr sz="1300" b="1">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GB" sz="1100" b="1">
                <a:solidFill>
                  <a:schemeClr val="dk1"/>
                </a:solidFill>
              </a:rPr>
              <a:t>Geographic Diversity Index</a:t>
            </a:r>
            <a:endParaRPr sz="1100" b="1">
              <a:solidFill>
                <a:schemeClr val="dk1"/>
              </a:solidFill>
            </a:endParaRPr>
          </a:p>
          <a:p>
            <a:pPr marL="914400" lvl="1" indent="-298450" algn="l" rtl="0">
              <a:lnSpc>
                <a:spcPct val="115000"/>
              </a:lnSpc>
              <a:spcBef>
                <a:spcPts val="0"/>
              </a:spcBef>
              <a:spcAft>
                <a:spcPts val="0"/>
              </a:spcAft>
              <a:buClr>
                <a:schemeClr val="dk1"/>
              </a:buClr>
              <a:buSzPts val="1100"/>
              <a:buChar char="○"/>
            </a:pPr>
            <a:r>
              <a:rPr lang="en-GB" sz="1100" i="1">
                <a:solidFill>
                  <a:schemeClr val="dk1"/>
                </a:solidFill>
              </a:rPr>
              <a:t>Problem:</a:t>
            </a:r>
            <a:r>
              <a:rPr lang="en-GB" sz="1100">
                <a:solidFill>
                  <a:schemeClr val="dk1"/>
                </a:solidFill>
              </a:rPr>
              <a:t> Risk of over-representation from easily accessible regions</a:t>
            </a:r>
            <a:endParaRPr sz="1100">
              <a:solidFill>
                <a:schemeClr val="dk1"/>
              </a:solidFill>
            </a:endParaRPr>
          </a:p>
          <a:p>
            <a:pPr marL="914400" lvl="1" indent="-298450" algn="l" rtl="0">
              <a:lnSpc>
                <a:spcPct val="115000"/>
              </a:lnSpc>
              <a:spcBef>
                <a:spcPts val="0"/>
              </a:spcBef>
              <a:spcAft>
                <a:spcPts val="0"/>
              </a:spcAft>
              <a:buClr>
                <a:schemeClr val="dk1"/>
              </a:buClr>
              <a:buSzPts val="1100"/>
              <a:buChar char="○"/>
            </a:pPr>
            <a:r>
              <a:rPr lang="en-GB" sz="1100" i="1">
                <a:solidFill>
                  <a:schemeClr val="dk1"/>
                </a:solidFill>
              </a:rPr>
              <a:t>Purpose:</a:t>
            </a:r>
            <a:r>
              <a:rPr lang="en-GB" sz="1100">
                <a:solidFill>
                  <a:schemeClr val="dk1"/>
                </a:solidFill>
              </a:rPr>
              <a:t> Ensures </a:t>
            </a:r>
            <a:r>
              <a:rPr lang="en-GB" sz="1100" b="1">
                <a:solidFill>
                  <a:schemeClr val="dk1"/>
                </a:solidFill>
              </a:rPr>
              <a:t>balanced data collection across all states</a:t>
            </a:r>
            <a:r>
              <a:rPr lang="en-GB" sz="1100">
                <a:solidFill>
                  <a:schemeClr val="dk1"/>
                </a:solidFill>
              </a:rPr>
              <a:t>, preventing regional bias</a:t>
            </a:r>
            <a:endParaRPr sz="1100">
              <a:solidFill>
                <a:schemeClr val="dk1"/>
              </a:solidFill>
            </a:endParaRPr>
          </a:p>
          <a:p>
            <a:pPr marL="0" lvl="0" indent="0" algn="l" rtl="0">
              <a:spcBef>
                <a:spcPts val="1200"/>
              </a:spcBef>
              <a:spcAft>
                <a:spcPts val="0"/>
              </a:spcAft>
              <a:buNone/>
            </a:pPr>
            <a:endParaRPr sz="1200">
              <a:solidFill>
                <a:schemeClr val="dk1"/>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5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297" name="Google Shape;297;p5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298" name="Google Shape;298;p50"/>
          <p:cNvPicPr preferRelativeResize="0"/>
          <p:nvPr/>
        </p:nvPicPr>
        <p:blipFill>
          <a:blip r:embed="rId3">
            <a:alphaModFix/>
          </a:blip>
          <a:stretch>
            <a:fillRect/>
          </a:stretch>
        </p:blipFill>
        <p:spPr>
          <a:xfrm>
            <a:off x="823811" y="0"/>
            <a:ext cx="7496377" cy="51435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5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304" name="Google Shape;304;p5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305" name="Google Shape;305;p51"/>
          <p:cNvPicPr preferRelativeResize="0"/>
          <p:nvPr/>
        </p:nvPicPr>
        <p:blipFill>
          <a:blip r:embed="rId3">
            <a:alphaModFix/>
          </a:blip>
          <a:stretch>
            <a:fillRect/>
          </a:stretch>
        </p:blipFill>
        <p:spPr>
          <a:xfrm>
            <a:off x="339657" y="0"/>
            <a:ext cx="8464685" cy="5143499"/>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5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311" name="Google Shape;311;p5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312" name="Google Shape;312;p52"/>
          <p:cNvPicPr preferRelativeResize="0"/>
          <p:nvPr/>
        </p:nvPicPr>
        <p:blipFill>
          <a:blip r:embed="rId3">
            <a:alphaModFix/>
          </a:blip>
          <a:stretch>
            <a:fillRect/>
          </a:stretch>
        </p:blipFill>
        <p:spPr>
          <a:xfrm>
            <a:off x="732486" y="0"/>
            <a:ext cx="7679027" cy="5143499"/>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5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318" name="Google Shape;318;p5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319" name="Google Shape;319;p53"/>
          <p:cNvPicPr preferRelativeResize="0"/>
          <p:nvPr/>
        </p:nvPicPr>
        <p:blipFill>
          <a:blip r:embed="rId3">
            <a:alphaModFix/>
          </a:blip>
          <a:stretch>
            <a:fillRect/>
          </a:stretch>
        </p:blipFill>
        <p:spPr>
          <a:xfrm>
            <a:off x="506976" y="0"/>
            <a:ext cx="8130050" cy="5143501"/>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p54"/>
          <p:cNvSpPr txBox="1"/>
          <p:nvPr/>
        </p:nvSpPr>
        <p:spPr>
          <a:xfrm>
            <a:off x="265800" y="77750"/>
            <a:ext cx="8263500" cy="4935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GB" sz="1100" b="1" u="sng">
                <a:solidFill>
                  <a:schemeClr val="dk1"/>
                </a:solidFill>
              </a:rPr>
              <a:t>Post MVP features</a:t>
            </a:r>
            <a:r>
              <a:rPr lang="en-GB" sz="1100" b="1">
                <a:solidFill>
                  <a:schemeClr val="dk1"/>
                </a:solidFill>
              </a:rPr>
              <a:t> :</a:t>
            </a:r>
            <a:endParaRPr sz="1100"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GB" sz="1100" b="1">
                <a:solidFill>
                  <a:schemeClr val="dk1"/>
                </a:solidFill>
              </a:rPr>
              <a:t>AI-Assisted Quality Scoring</a:t>
            </a:r>
            <a:endParaRPr sz="1100" b="1">
              <a:solidFill>
                <a:schemeClr val="dk1"/>
              </a:solidFill>
            </a:endParaRPr>
          </a:p>
          <a:p>
            <a:pPr marL="914400" lvl="1" indent="-298450" algn="l" rtl="0">
              <a:lnSpc>
                <a:spcPct val="115000"/>
              </a:lnSpc>
              <a:spcBef>
                <a:spcPts val="0"/>
              </a:spcBef>
              <a:spcAft>
                <a:spcPts val="0"/>
              </a:spcAft>
              <a:buClr>
                <a:schemeClr val="dk1"/>
              </a:buClr>
              <a:buSzPts val="1100"/>
              <a:buAutoNum type="alphaLcPeriod"/>
            </a:pPr>
            <a:r>
              <a:rPr lang="en-GB" sz="1100" i="1">
                <a:solidFill>
                  <a:schemeClr val="dk1"/>
                </a:solidFill>
              </a:rPr>
              <a:t>Purpose:</a:t>
            </a:r>
            <a:r>
              <a:rPr lang="en-GB" sz="1100">
                <a:solidFill>
                  <a:schemeClr val="dk1"/>
                </a:solidFill>
              </a:rPr>
              <a:t> Prioritize review queue by predicting approval likelihood</a:t>
            </a:r>
            <a:endParaRPr sz="1100">
              <a:solidFill>
                <a:schemeClr val="dk1"/>
              </a:solidFill>
            </a:endParaRPr>
          </a:p>
          <a:p>
            <a:pPr marL="914400" lvl="1" indent="-298450" algn="l" rtl="0">
              <a:lnSpc>
                <a:spcPct val="115000"/>
              </a:lnSpc>
              <a:spcBef>
                <a:spcPts val="0"/>
              </a:spcBef>
              <a:spcAft>
                <a:spcPts val="0"/>
              </a:spcAft>
              <a:buClr>
                <a:schemeClr val="dk1"/>
              </a:buClr>
              <a:buSzPts val="1100"/>
              <a:buAutoNum type="alphaLcPeriod"/>
            </a:pPr>
            <a:r>
              <a:rPr lang="en-GB" sz="1100" i="1">
                <a:solidFill>
                  <a:schemeClr val="dk1"/>
                </a:solidFill>
              </a:rPr>
              <a:t>Benefit:</a:t>
            </a:r>
            <a:r>
              <a:rPr lang="en-GB" sz="1100">
                <a:solidFill>
                  <a:schemeClr val="dk1"/>
                </a:solidFill>
              </a:rPr>
              <a:t> Enables admins to focus on </a:t>
            </a:r>
            <a:r>
              <a:rPr lang="en-GB" sz="1100" b="1">
                <a:solidFill>
                  <a:schemeClr val="dk1"/>
                </a:solidFill>
              </a:rPr>
              <a:t>edge cases</a:t>
            </a:r>
            <a:r>
              <a:rPr lang="en-GB" sz="1100">
                <a:solidFill>
                  <a:schemeClr val="dk1"/>
                </a:solidFill>
              </a:rPr>
              <a:t>, improving efficiency</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GB" sz="1100" b="1">
                <a:solidFill>
                  <a:schemeClr val="dk1"/>
                </a:solidFill>
              </a:rPr>
              <a:t>Contributor Reputation &amp; Incentive System</a:t>
            </a:r>
            <a:endParaRPr sz="1100" b="1">
              <a:solidFill>
                <a:schemeClr val="dk1"/>
              </a:solidFill>
            </a:endParaRPr>
          </a:p>
          <a:p>
            <a:pPr marL="914400" lvl="1" indent="-298450" algn="l" rtl="0">
              <a:lnSpc>
                <a:spcPct val="115000"/>
              </a:lnSpc>
              <a:spcBef>
                <a:spcPts val="0"/>
              </a:spcBef>
              <a:spcAft>
                <a:spcPts val="0"/>
              </a:spcAft>
              <a:buClr>
                <a:schemeClr val="dk1"/>
              </a:buClr>
              <a:buSzPts val="1100"/>
              <a:buAutoNum type="alphaLcPeriod"/>
            </a:pPr>
            <a:r>
              <a:rPr lang="en-GB" sz="1100" i="1">
                <a:solidFill>
                  <a:schemeClr val="dk1"/>
                </a:solidFill>
              </a:rPr>
              <a:t>Purpose:</a:t>
            </a:r>
            <a:r>
              <a:rPr lang="en-GB" sz="1100">
                <a:solidFill>
                  <a:schemeClr val="dk1"/>
                </a:solidFill>
              </a:rPr>
              <a:t> Reward contributors based on performance and behavior</a:t>
            </a:r>
            <a:endParaRPr sz="1100">
              <a:solidFill>
                <a:schemeClr val="dk1"/>
              </a:solidFill>
            </a:endParaRPr>
          </a:p>
          <a:p>
            <a:pPr marL="914400" lvl="1" indent="-298450" algn="l" rtl="0">
              <a:lnSpc>
                <a:spcPct val="115000"/>
              </a:lnSpc>
              <a:spcBef>
                <a:spcPts val="0"/>
              </a:spcBef>
              <a:spcAft>
                <a:spcPts val="0"/>
              </a:spcAft>
              <a:buClr>
                <a:schemeClr val="dk1"/>
              </a:buClr>
              <a:buSzPts val="1100"/>
              <a:buAutoNum type="alphaLcPeriod"/>
            </a:pPr>
            <a:r>
              <a:rPr lang="en-GB" sz="1100" i="1">
                <a:solidFill>
                  <a:schemeClr val="dk1"/>
                </a:solidFill>
              </a:rPr>
              <a:t>Benefit:</a:t>
            </a:r>
            <a:r>
              <a:rPr lang="en-GB" sz="1100">
                <a:solidFill>
                  <a:schemeClr val="dk1"/>
                </a:solidFill>
              </a:rPr>
              <a:t> Improves </a:t>
            </a:r>
            <a:r>
              <a:rPr lang="en-GB" sz="1100" b="1">
                <a:solidFill>
                  <a:schemeClr val="dk1"/>
                </a:solidFill>
              </a:rPr>
              <a:t>quality, motivation, and retention</a:t>
            </a:r>
            <a:r>
              <a:rPr lang="en-GB" sz="1100">
                <a:solidFill>
                  <a:schemeClr val="dk1"/>
                </a:solidFill>
              </a:rPr>
              <a:t> through targeted incentives</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GB" sz="1100" b="1">
                <a:solidFill>
                  <a:schemeClr val="dk1"/>
                </a:solidFill>
              </a:rPr>
              <a:t>NGO &amp; Institutional Partnerships</a:t>
            </a:r>
            <a:endParaRPr sz="1100" b="1">
              <a:solidFill>
                <a:schemeClr val="dk1"/>
              </a:solidFill>
            </a:endParaRPr>
          </a:p>
          <a:p>
            <a:pPr marL="914400" lvl="1" indent="-298450" algn="l" rtl="0">
              <a:lnSpc>
                <a:spcPct val="115000"/>
              </a:lnSpc>
              <a:spcBef>
                <a:spcPts val="0"/>
              </a:spcBef>
              <a:spcAft>
                <a:spcPts val="0"/>
              </a:spcAft>
              <a:buClr>
                <a:schemeClr val="dk1"/>
              </a:buClr>
              <a:buSzPts val="1100"/>
              <a:buAutoNum type="alphaLcPeriod"/>
            </a:pPr>
            <a:r>
              <a:rPr lang="en-GB" sz="1100" i="1">
                <a:solidFill>
                  <a:schemeClr val="dk1"/>
                </a:solidFill>
              </a:rPr>
              <a:t>Purpose:</a:t>
            </a:r>
            <a:r>
              <a:rPr lang="en-GB" sz="1100">
                <a:solidFill>
                  <a:schemeClr val="dk1"/>
                </a:solidFill>
              </a:rPr>
              <a:t> Leverage existing field networks for data collection</a:t>
            </a:r>
            <a:endParaRPr sz="1100">
              <a:solidFill>
                <a:schemeClr val="dk1"/>
              </a:solidFill>
            </a:endParaRPr>
          </a:p>
          <a:p>
            <a:pPr marL="914400" lvl="1" indent="-298450" algn="l" rtl="0">
              <a:lnSpc>
                <a:spcPct val="115000"/>
              </a:lnSpc>
              <a:spcBef>
                <a:spcPts val="0"/>
              </a:spcBef>
              <a:spcAft>
                <a:spcPts val="0"/>
              </a:spcAft>
              <a:buClr>
                <a:schemeClr val="dk1"/>
              </a:buClr>
              <a:buSzPts val="1100"/>
              <a:buAutoNum type="alphaLcPeriod"/>
            </a:pPr>
            <a:r>
              <a:rPr lang="en-GB" sz="1100" i="1">
                <a:solidFill>
                  <a:schemeClr val="dk1"/>
                </a:solidFill>
              </a:rPr>
              <a:t>Benefit:</a:t>
            </a:r>
            <a:r>
              <a:rPr lang="en-GB" sz="1100">
                <a:solidFill>
                  <a:schemeClr val="dk1"/>
                </a:solidFill>
              </a:rPr>
              <a:t> Ensures </a:t>
            </a:r>
            <a:r>
              <a:rPr lang="en-GB" sz="1100" b="1">
                <a:solidFill>
                  <a:schemeClr val="dk1"/>
                </a:solidFill>
              </a:rPr>
              <a:t>scalable, reliable contributor acquisition</a:t>
            </a:r>
            <a:r>
              <a:rPr lang="en-GB" sz="1100">
                <a:solidFill>
                  <a:schemeClr val="dk1"/>
                </a:solidFill>
              </a:rPr>
              <a:t> compared to individuals</a:t>
            </a:r>
            <a:endParaRPr sz="1100">
              <a:solidFill>
                <a:schemeClr val="dk1"/>
              </a:solidFill>
            </a:endParaRPr>
          </a:p>
          <a:p>
            <a:pPr marL="0" lvl="0" indent="0" algn="l" rtl="0">
              <a:lnSpc>
                <a:spcPct val="115000"/>
              </a:lnSpc>
              <a:spcBef>
                <a:spcPts val="1200"/>
              </a:spcBef>
              <a:spcAft>
                <a:spcPts val="0"/>
              </a:spcAft>
              <a:buNone/>
            </a:pPr>
            <a:r>
              <a:rPr lang="en-GB" sz="1100">
                <a:solidFill>
                  <a:schemeClr val="dk1"/>
                </a:solidFill>
              </a:rPr>
              <a:t>These enhancements aim to improve </a:t>
            </a:r>
            <a:r>
              <a:rPr lang="en-GB" sz="1100" b="1">
                <a:solidFill>
                  <a:schemeClr val="dk1"/>
                </a:solidFill>
              </a:rPr>
              <a:t>efficiency, scalability, and contributor quality</a:t>
            </a:r>
            <a:r>
              <a:rPr lang="en-GB" sz="1100">
                <a:solidFill>
                  <a:schemeClr val="dk1"/>
                </a:solidFill>
              </a:rPr>
              <a:t> post-MVP.                                                     </a:t>
            </a:r>
            <a:endParaRPr sz="1700" b="1">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n-GB" sz="1300" b="1" u="sng">
                <a:solidFill>
                  <a:schemeClr val="dk1"/>
                </a:solidFill>
              </a:rPr>
              <a:t>Strengths of the Approach</a:t>
            </a:r>
            <a:endParaRPr sz="1300" b="1" u="sng">
              <a:solidFill>
                <a:schemeClr val="dk1"/>
              </a:solidFill>
            </a:endParaRPr>
          </a:p>
          <a:p>
            <a:pPr marL="0" lvl="0" indent="0" algn="l" rtl="0">
              <a:lnSpc>
                <a:spcPct val="115000"/>
              </a:lnSpc>
              <a:spcBef>
                <a:spcPts val="1200"/>
              </a:spcBef>
              <a:spcAft>
                <a:spcPts val="0"/>
              </a:spcAft>
              <a:buNone/>
            </a:pPr>
            <a:r>
              <a:rPr lang="en-GB" sz="1100" b="1">
                <a:solidFill>
                  <a:schemeClr val="dk1"/>
                </a:solidFill>
              </a:rPr>
              <a:t>Designed for Real-World Constraints</a:t>
            </a:r>
            <a:endParaRPr sz="1100"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GB" sz="1100">
                <a:solidFill>
                  <a:schemeClr val="dk1"/>
                </a:solidFill>
              </a:rPr>
              <a:t>Built for users with </a:t>
            </a:r>
            <a:r>
              <a:rPr lang="en-GB" sz="1100" b="1">
                <a:solidFill>
                  <a:schemeClr val="dk1"/>
                </a:solidFill>
              </a:rPr>
              <a:t>low digital literacy and poor connectivity</a:t>
            </a:r>
            <a:endParaRPr sz="1100" b="1">
              <a:solidFill>
                <a:schemeClr val="dk1"/>
              </a:solidFill>
            </a:endParaRPr>
          </a:p>
          <a:p>
            <a:pPr marL="457200" lvl="0" indent="-298450" algn="l" rtl="0">
              <a:lnSpc>
                <a:spcPct val="115000"/>
              </a:lnSpc>
              <a:spcBef>
                <a:spcPts val="0"/>
              </a:spcBef>
              <a:spcAft>
                <a:spcPts val="0"/>
              </a:spcAft>
              <a:buClr>
                <a:schemeClr val="dk1"/>
              </a:buClr>
              <a:buSzPts val="1100"/>
              <a:buChar char="●"/>
            </a:pPr>
            <a:r>
              <a:rPr lang="en-GB" sz="1100">
                <a:solidFill>
                  <a:schemeClr val="dk1"/>
                </a:solidFill>
              </a:rPr>
              <a:t>Features like </a:t>
            </a:r>
            <a:r>
              <a:rPr lang="en-GB" sz="1100" b="1">
                <a:solidFill>
                  <a:schemeClr val="dk1"/>
                </a:solidFill>
              </a:rPr>
              <a:t>offline support, voice input, and simple UI</a:t>
            </a:r>
            <a:r>
              <a:rPr lang="en-GB" sz="1100">
                <a:solidFill>
                  <a:schemeClr val="dk1"/>
                </a:solidFill>
              </a:rPr>
              <a:t> ensure accessibility</a:t>
            </a:r>
            <a:endParaRPr sz="1100">
              <a:solidFill>
                <a:schemeClr val="dk1"/>
              </a:solidFill>
            </a:endParaRPr>
          </a:p>
          <a:p>
            <a:pPr marL="0" lvl="0" indent="0" algn="l" rtl="0">
              <a:lnSpc>
                <a:spcPct val="115000"/>
              </a:lnSpc>
              <a:spcBef>
                <a:spcPts val="1200"/>
              </a:spcBef>
              <a:spcAft>
                <a:spcPts val="0"/>
              </a:spcAft>
              <a:buNone/>
            </a:pPr>
            <a:r>
              <a:rPr lang="en-GB" sz="1100" b="1">
                <a:solidFill>
                  <a:schemeClr val="dk1"/>
                </a:solidFill>
              </a:rPr>
              <a:t>Strong Quality Feedback Loop</a:t>
            </a:r>
            <a:endParaRPr sz="1100"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GB" sz="1100">
                <a:solidFill>
                  <a:schemeClr val="dk1"/>
                </a:solidFill>
              </a:rPr>
              <a:t>Incorporates a </a:t>
            </a:r>
            <a:r>
              <a:rPr lang="en-GB" sz="1100" b="1">
                <a:solidFill>
                  <a:schemeClr val="dk1"/>
                </a:solidFill>
              </a:rPr>
              <a:t>contributor reputation system</a:t>
            </a:r>
            <a:r>
              <a:rPr lang="en-GB" sz="1100">
                <a:solidFill>
                  <a:schemeClr val="dk1"/>
                </a:solidFill>
              </a:rPr>
              <a:t> to track performance over time</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GB" sz="1100">
                <a:solidFill>
                  <a:schemeClr val="dk1"/>
                </a:solidFill>
              </a:rPr>
              <a:t>Ensures </a:t>
            </a:r>
            <a:r>
              <a:rPr lang="en-GB" sz="1100" b="1">
                <a:solidFill>
                  <a:schemeClr val="dk1"/>
                </a:solidFill>
              </a:rPr>
              <a:t>continuous improvement in data quality</a:t>
            </a:r>
            <a:endParaRPr sz="11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GB" sz="1100">
                <a:solidFill>
                  <a:schemeClr val="dk1"/>
                </a:solidFill>
              </a:rPr>
              <a:t>This approach ensures </a:t>
            </a:r>
            <a:r>
              <a:rPr lang="en-GB" sz="1100" b="1">
                <a:solidFill>
                  <a:schemeClr val="dk1"/>
                </a:solidFill>
              </a:rPr>
              <a:t>scalability, inclusivity, and long-term data quality</a:t>
            </a:r>
            <a:r>
              <a:rPr lang="en-GB" sz="1100">
                <a:solidFill>
                  <a:schemeClr val="dk1"/>
                </a:solidFill>
              </a:rPr>
              <a:t>.</a:t>
            </a:r>
            <a:endParaRPr sz="1100">
              <a:solidFill>
                <a:schemeClr val="dk1"/>
              </a:solidFill>
            </a:endParaRPr>
          </a:p>
          <a:p>
            <a:pPr marL="0" lvl="0" indent="0" algn="l" rtl="0">
              <a:spcBef>
                <a:spcPts val="1200"/>
              </a:spcBef>
              <a:spcAft>
                <a:spcPts val="0"/>
              </a:spcAft>
              <a:buClr>
                <a:schemeClr val="dk1"/>
              </a:buClr>
              <a:buSzPts val="1100"/>
              <a:buFont typeface="Arial"/>
              <a:buNone/>
            </a:pPr>
            <a:endParaRPr sz="1700" b="1">
              <a:solidFill>
                <a:schemeClr val="dk1"/>
              </a:solidFill>
            </a:endParaRPr>
          </a:p>
          <a:p>
            <a:pPr marL="0" lvl="0" indent="0" algn="l" rtl="0">
              <a:lnSpc>
                <a:spcPct val="115000"/>
              </a:lnSpc>
              <a:spcBef>
                <a:spcPts val="1200"/>
              </a:spcBef>
              <a:spcAft>
                <a:spcPts val="0"/>
              </a:spcAft>
              <a:buNone/>
            </a:pPr>
            <a:endParaRPr sz="1100">
              <a:solidFill>
                <a:schemeClr val="dk1"/>
              </a:solidFill>
            </a:endParaRPr>
          </a:p>
          <a:p>
            <a:pPr marL="457200" lvl="0" indent="0" algn="l" rtl="0">
              <a:lnSpc>
                <a:spcPct val="115000"/>
              </a:lnSpc>
              <a:spcBef>
                <a:spcPts val="1200"/>
              </a:spcBef>
              <a:spcAft>
                <a:spcPts val="0"/>
              </a:spcAft>
              <a:buNone/>
            </a:pPr>
            <a:endParaRPr sz="1700" b="1">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sz="1100">
              <a:solidFill>
                <a:schemeClr val="dk1"/>
              </a:solidFill>
            </a:endParaRPr>
          </a:p>
          <a:p>
            <a:pPr marL="0" lvl="0" indent="0" algn="l" rtl="0">
              <a:spcBef>
                <a:spcPts val="0"/>
              </a:spcBef>
              <a:spcAft>
                <a:spcPts val="0"/>
              </a:spcAft>
              <a:buNone/>
            </a:pPr>
            <a:endParaRPr sz="1800">
              <a:solidFill>
                <a:schemeClr val="dk2"/>
              </a:solidFill>
            </a:endParaRPr>
          </a:p>
        </p:txBody>
      </p:sp>
      <p:sp>
        <p:nvSpPr>
          <p:cNvPr id="325" name="Google Shape;325;p54"/>
          <p:cNvSpPr txBox="1"/>
          <p:nvPr/>
        </p:nvSpPr>
        <p:spPr>
          <a:xfrm>
            <a:off x="2038325" y="1637350"/>
            <a:ext cx="6321000" cy="2685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700" b="1">
              <a:solidFill>
                <a:schemeClr val="dk1"/>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p55"/>
          <p:cNvSpPr txBox="1">
            <a:spLocks noGrp="1"/>
          </p:cNvSpPr>
          <p:nvPr>
            <p:ph type="body" idx="1"/>
          </p:nvPr>
        </p:nvSpPr>
        <p:spPr>
          <a:xfrm>
            <a:off x="275150" y="485575"/>
            <a:ext cx="8520600" cy="3416400"/>
          </a:xfrm>
          <a:prstGeom prst="rect">
            <a:avLst/>
          </a:prstGeom>
        </p:spPr>
        <p:txBody>
          <a:bodyPr spcFirstLastPara="1" wrap="square" lIns="91425" tIns="91425" rIns="91425" bIns="91425" anchor="t" anchorCtr="0">
            <a:normAutofit/>
          </a:bodyPr>
          <a:lstStyle/>
          <a:p>
            <a:pPr marL="0" lvl="0" indent="0" algn="ctr" rtl="0">
              <a:spcBef>
                <a:spcPts val="2400"/>
              </a:spcBef>
              <a:spcAft>
                <a:spcPts val="0"/>
              </a:spcAft>
              <a:buNone/>
            </a:pPr>
            <a:r>
              <a:rPr lang="en-GB" sz="2300" b="1" u="sng">
                <a:solidFill>
                  <a:schemeClr val="dk1"/>
                </a:solidFill>
              </a:rPr>
              <a:t>Task 2: Identifying Low-Quality Transcribers</a:t>
            </a:r>
            <a:endParaRPr sz="2300" b="1" u="sng">
              <a:solidFill>
                <a:schemeClr val="dk1"/>
              </a:solidFill>
            </a:endParaRPr>
          </a:p>
          <a:p>
            <a:pPr marL="0" lvl="0" indent="0" algn="l" rtl="0">
              <a:spcBef>
                <a:spcPts val="2400"/>
              </a:spcBef>
              <a:spcAft>
                <a:spcPts val="0"/>
              </a:spcAft>
              <a:buClr>
                <a:schemeClr val="dk1"/>
              </a:buClr>
              <a:buSzPts val="1100"/>
              <a:buFont typeface="Arial"/>
              <a:buNone/>
            </a:pPr>
            <a:endParaRPr sz="2300" b="1">
              <a:solidFill>
                <a:schemeClr val="dk1"/>
              </a:solidFill>
            </a:endParaRPr>
          </a:p>
          <a:p>
            <a:pPr marL="0" lvl="0" indent="0" algn="ctr" rtl="0">
              <a:spcBef>
                <a:spcPts val="1800"/>
              </a:spcBef>
              <a:spcAft>
                <a:spcPts val="0"/>
              </a:spcAft>
              <a:buClr>
                <a:schemeClr val="dk1"/>
              </a:buClr>
              <a:buSzPts val="1100"/>
              <a:buFont typeface="Arial"/>
              <a:buNone/>
            </a:pPr>
            <a:r>
              <a:rPr lang="en-GB" sz="1700" b="1">
                <a:solidFill>
                  <a:schemeClr val="dk1"/>
                </a:solidFill>
              </a:rPr>
              <a:t>Part I — Warning Signs from Data Patterns</a:t>
            </a:r>
            <a:endParaRPr sz="1700" b="1">
              <a:solidFill>
                <a:schemeClr val="dk1"/>
              </a:solidFill>
            </a:endParaRPr>
          </a:p>
          <a:p>
            <a:pPr marL="0" lvl="0" indent="0" algn="l" rtl="0">
              <a:spcBef>
                <a:spcPts val="1200"/>
              </a:spcBef>
              <a:spcAft>
                <a:spcPts val="1200"/>
              </a:spcAft>
              <a:buClr>
                <a:schemeClr val="dk1"/>
              </a:buClr>
              <a:buSzPts val="1100"/>
              <a:buFont typeface="Arial"/>
              <a:buNone/>
            </a:pPr>
            <a:r>
              <a:rPr lang="en-GB" sz="1300">
                <a:solidFill>
                  <a:schemeClr val="dk1"/>
                </a:solidFill>
              </a:rPr>
              <a:t>The detection system is built on three types of signals: </a:t>
            </a:r>
            <a:r>
              <a:rPr lang="en-GB" sz="1300" b="1">
                <a:solidFill>
                  <a:schemeClr val="dk1"/>
                </a:solidFill>
              </a:rPr>
              <a:t>time-based, behavior-based, and output-based</a:t>
            </a:r>
            <a:r>
              <a:rPr lang="en-GB" sz="1300">
                <a:solidFill>
                  <a:schemeClr val="dk1"/>
                </a:solidFill>
              </a:rPr>
              <a:t>. No single signal is conclusive on its own — but when multiple converge, the evidence becomes strong enough to act on. This multi-dimensional approach makes the system hard to game.</a:t>
            </a:r>
            <a:endParaRPr sz="200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56"/>
          <p:cNvSpPr txBox="1"/>
          <p:nvPr/>
        </p:nvSpPr>
        <p:spPr>
          <a:xfrm>
            <a:off x="165450" y="148200"/>
            <a:ext cx="8770500" cy="4842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400"/>
              </a:spcBef>
              <a:spcAft>
                <a:spcPts val="0"/>
              </a:spcAft>
              <a:buClr>
                <a:schemeClr val="dk1"/>
              </a:buClr>
              <a:buSzPts val="1100"/>
              <a:buFont typeface="Arial"/>
              <a:buNone/>
            </a:pPr>
            <a:r>
              <a:rPr lang="en-GB" b="1" u="sng">
                <a:solidFill>
                  <a:schemeClr val="dk1"/>
                </a:solidFill>
              </a:rPr>
              <a:t>Warning Sign 1: Suspiciously Fast Task Completion (Time-Based)</a:t>
            </a:r>
            <a:endParaRPr b="1" u="sng">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GB" sz="1100" b="1">
                <a:solidFill>
                  <a:schemeClr val="dk1"/>
                </a:solidFill>
              </a:rPr>
              <a:t>What it tells us:</a:t>
            </a:r>
            <a:endParaRPr sz="11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GB" sz="1100">
                <a:solidFill>
                  <a:schemeClr val="dk1"/>
                </a:solidFill>
              </a:rPr>
              <a:t>Transcription requires listening before editing. If someone completes a task faster than the audio takes to play, they physically couldn't have listened to it — making accurate transcription impossible.</a:t>
            </a:r>
            <a:endParaRPr sz="1100">
              <a:solidFill>
                <a:schemeClr val="dk1"/>
              </a:solidFill>
            </a:endParaRPr>
          </a:p>
          <a:p>
            <a:pPr marL="0" lvl="0" indent="0" algn="l" rtl="0">
              <a:lnSpc>
                <a:spcPct val="115000"/>
              </a:lnSpc>
              <a:spcBef>
                <a:spcPts val="1200"/>
              </a:spcBef>
              <a:spcAft>
                <a:spcPts val="0"/>
              </a:spcAft>
              <a:buNone/>
            </a:pPr>
            <a:r>
              <a:rPr lang="en-GB" sz="1100" b="1">
                <a:solidFill>
                  <a:schemeClr val="dk1"/>
                </a:solidFill>
              </a:rPr>
              <a:t>      How to measure it:                         Listen Ratio = time_taken_by_user  /  duration</a:t>
            </a:r>
            <a:endParaRPr sz="1100" b="1">
              <a:solidFill>
                <a:schemeClr val="dk1"/>
              </a:solidFill>
            </a:endParaRPr>
          </a:p>
          <a:p>
            <a:pPr marL="0" lvl="0" indent="0" algn="l" rtl="0">
              <a:lnSpc>
                <a:spcPct val="115000"/>
              </a:lnSpc>
              <a:spcBef>
                <a:spcPts val="1200"/>
              </a:spcBef>
              <a:spcAft>
                <a:spcPts val="0"/>
              </a:spcAft>
              <a:buNone/>
            </a:pPr>
            <a:r>
              <a:rPr lang="en-GB" sz="1100">
                <a:solidFill>
                  <a:schemeClr val="dk1"/>
                </a:solidFill>
              </a:rPr>
              <a:t>A ratio below 1.0 means the user spent less time on the task than the clip's length. Aggregate per user: </a:t>
            </a:r>
            <a:endParaRPr sz="1100">
              <a:solidFill>
                <a:schemeClr val="dk1"/>
              </a:solidFill>
            </a:endParaRPr>
          </a:p>
          <a:p>
            <a:pPr marL="0" lvl="0" indent="0" algn="ctr" rtl="0">
              <a:lnSpc>
                <a:spcPct val="115000"/>
              </a:lnSpc>
              <a:spcBef>
                <a:spcPts val="1200"/>
              </a:spcBef>
              <a:spcAft>
                <a:spcPts val="0"/>
              </a:spcAft>
              <a:buClr>
                <a:schemeClr val="dk1"/>
              </a:buClr>
              <a:buSzPts val="1100"/>
              <a:buFont typeface="Arial"/>
              <a:buNone/>
            </a:pPr>
            <a:r>
              <a:rPr lang="en-GB" sz="1100" b="1">
                <a:solidFill>
                  <a:schemeClr val="dk1"/>
                </a:solidFill>
              </a:rPr>
              <a:t>Avg Listen Ratio = mean (time_taken  /  duration)  across all tasks</a:t>
            </a:r>
            <a:endParaRPr sz="11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GB" sz="1100" b="1">
                <a:solidFill>
                  <a:schemeClr val="dk1"/>
                </a:solidFill>
              </a:rPr>
              <a:t>Red flag thresholds:</a:t>
            </a:r>
            <a:endParaRPr sz="1100"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GB" sz="1100">
                <a:solidFill>
                  <a:schemeClr val="dk1"/>
                </a:solidFill>
              </a:rPr>
              <a:t>Single task: Listen Ratio &lt; 0.8 → flag task, hold payment</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GB" sz="1100">
                <a:solidFill>
                  <a:schemeClr val="dk1"/>
                </a:solidFill>
              </a:rPr>
              <a:t>User-level: Avg Listen Ratio &lt; 1.1 across 15+ tasks → warning trigger</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GB" sz="1100">
                <a:solidFill>
                  <a:schemeClr val="dk1"/>
                </a:solidFill>
              </a:rPr>
              <a:t>Hard signal: Avg Listen Ratio &lt; 0.8 across 20+ tasks → block consideration</a:t>
            </a:r>
            <a:endParaRPr sz="11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GB" sz="1100" b="1">
                <a:solidFill>
                  <a:schemeClr val="dk1"/>
                </a:solidFill>
              </a:rPr>
              <a:t>False alarms:</a:t>
            </a:r>
            <a:r>
              <a:rPr lang="en-GB" sz="1100">
                <a:solidFill>
                  <a:schemeClr val="dk1"/>
                </a:solidFill>
              </a:rPr>
              <a:t> Expert native speakers on simple clips may work faster than average — but even they need the audio to finish playing. Apply only to clips longer than 10 seconds to avoid load-time distortion on very short clips.</a:t>
            </a:r>
            <a:endParaRPr sz="1100">
              <a:solidFill>
                <a:schemeClr val="dk1"/>
              </a:solidFill>
            </a:endParaRPr>
          </a:p>
          <a:p>
            <a:pPr marL="0" lvl="0" indent="0" algn="l" rtl="0">
              <a:lnSpc>
                <a:spcPct val="115000"/>
              </a:lnSpc>
              <a:spcBef>
                <a:spcPts val="1200"/>
              </a:spcBef>
              <a:spcAft>
                <a:spcPts val="1200"/>
              </a:spcAft>
              <a:buClr>
                <a:schemeClr val="dk1"/>
              </a:buClr>
              <a:buSzPts val="1100"/>
              <a:buFont typeface="Arial"/>
              <a:buNone/>
            </a:pPr>
            <a:endParaRPr sz="1100">
              <a:solidFill>
                <a:schemeClr val="dk1"/>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57"/>
          <p:cNvSpPr txBox="1">
            <a:spLocks noGrp="1"/>
          </p:cNvSpPr>
          <p:nvPr>
            <p:ph type="body" idx="1"/>
          </p:nvPr>
        </p:nvSpPr>
        <p:spPr>
          <a:xfrm>
            <a:off x="83300" y="129275"/>
            <a:ext cx="8520600" cy="48336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Clr>
                <a:schemeClr val="dk1"/>
              </a:buClr>
              <a:buSzPts val="1100"/>
              <a:buFont typeface="Arial"/>
              <a:buNone/>
            </a:pPr>
            <a:endParaRPr sz="1100">
              <a:solidFill>
                <a:schemeClr val="dk1"/>
              </a:solidFill>
            </a:endParaRPr>
          </a:p>
          <a:p>
            <a:pPr marL="0" lvl="0" indent="0" algn="ctr" rtl="0">
              <a:spcBef>
                <a:spcPts val="1400"/>
              </a:spcBef>
              <a:spcAft>
                <a:spcPts val="0"/>
              </a:spcAft>
              <a:buClr>
                <a:schemeClr val="dk1"/>
              </a:buClr>
              <a:buSzPts val="1100"/>
              <a:buFont typeface="Arial"/>
              <a:buNone/>
            </a:pPr>
            <a:r>
              <a:rPr lang="en-GB" sz="1300" b="1" u="sng">
                <a:solidFill>
                  <a:schemeClr val="dk1"/>
                </a:solidFill>
              </a:rPr>
              <a:t>Warning Sign 2: Near-Zero Editing Rate (Behavior-Based)</a:t>
            </a:r>
            <a:endParaRPr sz="1300" b="1" u="sng">
              <a:solidFill>
                <a:schemeClr val="dk1"/>
              </a:solidFill>
            </a:endParaRPr>
          </a:p>
          <a:p>
            <a:pPr marL="0" lvl="0" indent="0" algn="l" rtl="0">
              <a:spcBef>
                <a:spcPts val="1200"/>
              </a:spcBef>
              <a:spcAft>
                <a:spcPts val="0"/>
              </a:spcAft>
              <a:buClr>
                <a:schemeClr val="dk1"/>
              </a:buClr>
              <a:buSzPts val="1100"/>
              <a:buFont typeface="Arial"/>
              <a:buNone/>
            </a:pPr>
            <a:r>
              <a:rPr lang="en-GB" sz="1100" b="1">
                <a:solidFill>
                  <a:schemeClr val="dk1"/>
                </a:solidFill>
              </a:rPr>
              <a:t>What it tells us:</a:t>
            </a:r>
            <a:endParaRPr sz="1100" b="1">
              <a:solidFill>
                <a:schemeClr val="dk1"/>
              </a:solidFill>
            </a:endParaRPr>
          </a:p>
          <a:p>
            <a:pPr marL="0" lvl="0" indent="0" algn="l" rtl="0">
              <a:spcBef>
                <a:spcPts val="1200"/>
              </a:spcBef>
              <a:spcAft>
                <a:spcPts val="0"/>
              </a:spcAft>
              <a:buClr>
                <a:schemeClr val="dk1"/>
              </a:buClr>
              <a:buSzPts val="1100"/>
              <a:buFont typeface="Arial"/>
              <a:buNone/>
            </a:pPr>
            <a:r>
              <a:rPr lang="en-GB" sz="1100">
                <a:solidFill>
                  <a:schemeClr val="dk1"/>
                </a:solidFill>
              </a:rPr>
              <a:t>Whisper makes errors — especially on regional Indian languages, accents, and noisy environments. A transcriber who never edits is either accepting AI output blindly or not engaging with the task at all. When edit rate approaches zero across many tasks, it's statistically implausible that Whisper was always correct.</a:t>
            </a:r>
            <a:endParaRPr sz="1100">
              <a:solidFill>
                <a:schemeClr val="dk1"/>
              </a:solidFill>
            </a:endParaRPr>
          </a:p>
          <a:p>
            <a:pPr marL="0" lvl="0" indent="0" algn="l" rtl="0">
              <a:spcBef>
                <a:spcPts val="1200"/>
              </a:spcBef>
              <a:spcAft>
                <a:spcPts val="0"/>
              </a:spcAft>
              <a:buClr>
                <a:schemeClr val="dk1"/>
              </a:buClr>
              <a:buSzPts val="1100"/>
              <a:buFont typeface="Arial"/>
              <a:buNone/>
            </a:pPr>
            <a:r>
              <a:rPr lang="en-GB" sz="1100" b="1">
                <a:solidFill>
                  <a:schemeClr val="dk1"/>
                </a:solidFill>
              </a:rPr>
              <a:t>How to measure it:</a:t>
            </a:r>
            <a:endParaRPr sz="1100" b="1">
              <a:solidFill>
                <a:schemeClr val="dk1"/>
              </a:solidFill>
            </a:endParaRPr>
          </a:p>
          <a:p>
            <a:pPr marL="0" lvl="0" indent="0" algn="ctr" rtl="0">
              <a:spcBef>
                <a:spcPts val="1200"/>
              </a:spcBef>
              <a:spcAft>
                <a:spcPts val="0"/>
              </a:spcAft>
              <a:buClr>
                <a:schemeClr val="dk1"/>
              </a:buClr>
              <a:buSzPts val="1100"/>
              <a:buFont typeface="Arial"/>
              <a:buNone/>
            </a:pPr>
            <a:r>
              <a:rPr lang="en-GB" sz="1300" b="1">
                <a:solidFill>
                  <a:schemeClr val="dk1"/>
                </a:solidFill>
              </a:rPr>
              <a:t>Edit Rate = tasks where is_edited = Yes / total tasks</a:t>
            </a:r>
            <a:endParaRPr sz="1300" b="1">
              <a:solidFill>
                <a:schemeClr val="dk1"/>
              </a:solidFill>
            </a:endParaRPr>
          </a:p>
          <a:p>
            <a:pPr marL="0" lvl="0" indent="0" algn="l" rtl="0">
              <a:spcBef>
                <a:spcPts val="1200"/>
              </a:spcBef>
              <a:spcAft>
                <a:spcPts val="0"/>
              </a:spcAft>
              <a:buClr>
                <a:schemeClr val="dk1"/>
              </a:buClr>
              <a:buSzPts val="1100"/>
              <a:buFont typeface="Arial"/>
              <a:buNone/>
            </a:pPr>
            <a:r>
              <a:rPr lang="en-GB" sz="1100">
                <a:solidFill>
                  <a:schemeClr val="dk1"/>
                </a:solidFill>
              </a:rPr>
              <a:t>Also check </a:t>
            </a:r>
            <a:r>
              <a:rPr lang="en-GB" sz="1100" b="1">
                <a:solidFill>
                  <a:schemeClr val="dk1"/>
                </a:solidFill>
                <a:latin typeface="Roboto Mono"/>
                <a:ea typeface="Roboto Mono"/>
                <a:cs typeface="Roboto Mono"/>
                <a:sym typeface="Roboto Mono"/>
              </a:rPr>
              <a:t>segment_character_per_second</a:t>
            </a:r>
            <a:r>
              <a:rPr lang="en-GB" sz="1100">
                <a:solidFill>
                  <a:schemeClr val="dk1"/>
                </a:solidFill>
              </a:rPr>
              <a:t> for users with low edit rates. High output speed combined with no editing is a strong combined signal.</a:t>
            </a:r>
            <a:endParaRPr sz="1100">
              <a:solidFill>
                <a:schemeClr val="dk1"/>
              </a:solidFill>
            </a:endParaRPr>
          </a:p>
          <a:p>
            <a:pPr marL="0" lvl="0" indent="0" algn="l" rtl="0">
              <a:spcBef>
                <a:spcPts val="1200"/>
              </a:spcBef>
              <a:spcAft>
                <a:spcPts val="0"/>
              </a:spcAft>
              <a:buClr>
                <a:schemeClr val="dk1"/>
              </a:buClr>
              <a:buSzPts val="1100"/>
              <a:buFont typeface="Arial"/>
              <a:buNone/>
            </a:pPr>
            <a:r>
              <a:rPr lang="en-GB" sz="1100" b="1">
                <a:solidFill>
                  <a:schemeClr val="dk1"/>
                </a:solidFill>
              </a:rPr>
              <a:t>Red flag thresholds:</a:t>
            </a:r>
            <a:endParaRPr sz="1100" b="1">
              <a:solidFill>
                <a:schemeClr val="dk1"/>
              </a:solidFill>
            </a:endParaRPr>
          </a:p>
          <a:p>
            <a:pPr marL="457200" lvl="0" indent="-311150" algn="l" rtl="0">
              <a:spcBef>
                <a:spcPts val="1200"/>
              </a:spcBef>
              <a:spcAft>
                <a:spcPts val="0"/>
              </a:spcAft>
              <a:buClr>
                <a:schemeClr val="dk1"/>
              </a:buClr>
              <a:buSzPts val="1300"/>
              <a:buChar char="●"/>
            </a:pPr>
            <a:r>
              <a:rPr lang="en-GB" sz="1300">
                <a:solidFill>
                  <a:schemeClr val="dk1"/>
                </a:solidFill>
              </a:rPr>
              <a:t>Edit Rate &lt; 10% across 20+ tasks → </a:t>
            </a:r>
            <a:r>
              <a:rPr lang="en-GB" sz="1300" b="1">
                <a:solidFill>
                  <a:schemeClr val="dk1"/>
                </a:solidFill>
              </a:rPr>
              <a:t>suspicious</a:t>
            </a:r>
            <a:endParaRPr sz="1300" b="1">
              <a:solidFill>
                <a:schemeClr val="dk1"/>
              </a:solidFill>
            </a:endParaRPr>
          </a:p>
          <a:p>
            <a:pPr marL="457200" lvl="0" indent="-311150" algn="l" rtl="0">
              <a:spcBef>
                <a:spcPts val="0"/>
              </a:spcBef>
              <a:spcAft>
                <a:spcPts val="0"/>
              </a:spcAft>
              <a:buClr>
                <a:schemeClr val="dk1"/>
              </a:buClr>
              <a:buSzPts val="1300"/>
              <a:buChar char="●"/>
            </a:pPr>
            <a:r>
              <a:rPr lang="en-GB" sz="1300">
                <a:solidFill>
                  <a:schemeClr val="dk1"/>
                </a:solidFill>
              </a:rPr>
              <a:t>Edit Rate = 0% across 15+ tasks + regional language audio → </a:t>
            </a:r>
            <a:r>
              <a:rPr lang="en-GB" sz="1300" b="1">
                <a:solidFill>
                  <a:schemeClr val="dk1"/>
                </a:solidFill>
              </a:rPr>
              <a:t>high concern</a:t>
            </a:r>
            <a:endParaRPr sz="1300" b="1">
              <a:solidFill>
                <a:schemeClr val="dk1"/>
              </a:solidFill>
            </a:endParaRPr>
          </a:p>
          <a:p>
            <a:pPr marL="457200" lvl="0" indent="-311150" algn="l" rtl="0">
              <a:spcBef>
                <a:spcPts val="0"/>
              </a:spcBef>
              <a:spcAft>
                <a:spcPts val="0"/>
              </a:spcAft>
              <a:buClr>
                <a:schemeClr val="dk1"/>
              </a:buClr>
              <a:buSzPts val="1300"/>
              <a:buChar char="●"/>
            </a:pPr>
            <a:r>
              <a:rPr lang="en-GB" sz="1300" b="1">
                <a:solidFill>
                  <a:schemeClr val="dk1"/>
                </a:solidFill>
                <a:latin typeface="Roboto Mono"/>
                <a:ea typeface="Roboto Mono"/>
                <a:cs typeface="Roboto Mono"/>
                <a:sym typeface="Roboto Mono"/>
              </a:rPr>
              <a:t>segment_character_per_second</a:t>
            </a:r>
            <a:r>
              <a:rPr lang="en-GB" sz="1300">
                <a:solidFill>
                  <a:schemeClr val="dk1"/>
                </a:solidFill>
              </a:rPr>
              <a:t> &gt; 10 with Edit Rate &lt; 10% → strong combined flag</a:t>
            </a:r>
            <a:endParaRPr sz="1300">
              <a:solidFill>
                <a:schemeClr val="dk1"/>
              </a:solidFill>
            </a:endParaRPr>
          </a:p>
          <a:p>
            <a:pPr marL="0" lvl="0" indent="0" algn="l" rtl="0">
              <a:spcBef>
                <a:spcPts val="1200"/>
              </a:spcBef>
              <a:spcAft>
                <a:spcPts val="0"/>
              </a:spcAft>
              <a:buClr>
                <a:schemeClr val="dk1"/>
              </a:buClr>
              <a:buSzPts val="1100"/>
              <a:buFont typeface="Arial"/>
              <a:buNone/>
            </a:pPr>
            <a:r>
              <a:rPr lang="en-GB" sz="1100" b="1">
                <a:solidFill>
                  <a:schemeClr val="dk1"/>
                </a:solidFill>
              </a:rPr>
              <a:t>False alarms:</a:t>
            </a:r>
            <a:r>
              <a:rPr lang="en-GB" sz="1100">
                <a:solidFill>
                  <a:schemeClr val="dk1"/>
                </a:solidFill>
              </a:rPr>
              <a:t> Clean audio batches — clear speakers, quiet backgrounds, standard dialect — can legitimately produce low edit rates for a session. Require 20+ tasks before triggering, and exclude onboarding tasks which are designed to be easier.</a:t>
            </a:r>
            <a:endParaRPr sz="1100">
              <a:solidFill>
                <a:schemeClr val="dk1"/>
              </a:solidFill>
            </a:endParaRPr>
          </a:p>
          <a:p>
            <a:pPr marL="0" lvl="0" indent="0" algn="l" rtl="0">
              <a:spcBef>
                <a:spcPts val="1200"/>
              </a:spcBef>
              <a:spcAft>
                <a:spcPts val="1200"/>
              </a:spcAft>
              <a:buNone/>
            </a:pP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p58"/>
          <p:cNvSpPr txBox="1">
            <a:spLocks noGrp="1"/>
          </p:cNvSpPr>
          <p:nvPr>
            <p:ph type="body" idx="1"/>
          </p:nvPr>
        </p:nvSpPr>
        <p:spPr>
          <a:xfrm>
            <a:off x="119775" y="0"/>
            <a:ext cx="8712600" cy="4999500"/>
          </a:xfrm>
          <a:prstGeom prst="rect">
            <a:avLst/>
          </a:prstGeom>
        </p:spPr>
        <p:txBody>
          <a:bodyPr spcFirstLastPara="1" wrap="square" lIns="91425" tIns="91425" rIns="91425" bIns="91425" anchor="t" anchorCtr="0">
            <a:noAutofit/>
          </a:bodyPr>
          <a:lstStyle/>
          <a:p>
            <a:pPr marL="0" lvl="0" indent="0" algn="ctr" rtl="0">
              <a:lnSpc>
                <a:spcPct val="95000"/>
              </a:lnSpc>
              <a:spcBef>
                <a:spcPts val="1400"/>
              </a:spcBef>
              <a:spcAft>
                <a:spcPts val="0"/>
              </a:spcAft>
              <a:buSzPts val="935"/>
              <a:buNone/>
            </a:pPr>
            <a:r>
              <a:rPr lang="en-GB" sz="1405" b="1" u="sng">
                <a:solidFill>
                  <a:schemeClr val="dk1"/>
                </a:solidFill>
              </a:rPr>
              <a:t>Warning Sign 3: High Text Similarity to Whisper Output (Output-Based) </a:t>
            </a:r>
            <a:endParaRPr sz="1135" b="1" u="sng">
              <a:solidFill>
                <a:schemeClr val="dk1"/>
              </a:solidFill>
            </a:endParaRPr>
          </a:p>
          <a:p>
            <a:pPr marL="0" lvl="0" indent="0" algn="l" rtl="0">
              <a:lnSpc>
                <a:spcPct val="95000"/>
              </a:lnSpc>
              <a:spcBef>
                <a:spcPts val="1200"/>
              </a:spcBef>
              <a:spcAft>
                <a:spcPts val="0"/>
              </a:spcAft>
              <a:buClr>
                <a:schemeClr val="dk1"/>
              </a:buClr>
              <a:buSzPts val="935"/>
              <a:buFont typeface="Arial"/>
              <a:buNone/>
            </a:pPr>
            <a:r>
              <a:rPr lang="en-GB" sz="1135">
                <a:solidFill>
                  <a:schemeClr val="dk1"/>
                </a:solidFill>
              </a:rPr>
              <a:t>This is the most direct quality signal of the three. All other signals are behavioral proxies — but this one measures the actual output. If a user's submitted text is nearly identical to Whisper's draft, they added no real value. The entire purpose of human review is to </a:t>
            </a:r>
            <a:r>
              <a:rPr lang="en-GB" sz="1135" i="1">
                <a:solidFill>
                  <a:schemeClr val="dk1"/>
                </a:solidFill>
              </a:rPr>
              <a:t>improve</a:t>
            </a:r>
            <a:r>
              <a:rPr lang="en-GB" sz="1135">
                <a:solidFill>
                  <a:schemeClr val="dk1"/>
                </a:solidFill>
              </a:rPr>
              <a:t> on what the AI produced. A user who consistently returns output that looks like Whisper's original is functionally indistinguishable from someone who submitted without reading.</a:t>
            </a:r>
            <a:endParaRPr sz="1135">
              <a:solidFill>
                <a:schemeClr val="dk1"/>
              </a:solidFill>
            </a:endParaRPr>
          </a:p>
          <a:p>
            <a:pPr marL="0" lvl="0" indent="0" algn="l" rtl="0">
              <a:lnSpc>
                <a:spcPct val="95000"/>
              </a:lnSpc>
              <a:spcBef>
                <a:spcPts val="1200"/>
              </a:spcBef>
              <a:spcAft>
                <a:spcPts val="0"/>
              </a:spcAft>
              <a:buClr>
                <a:schemeClr val="dk1"/>
              </a:buClr>
              <a:buSzPts val="935"/>
              <a:buFont typeface="Arial"/>
              <a:buNone/>
            </a:pPr>
            <a:r>
              <a:rPr lang="en-GB" sz="1135" b="1">
                <a:solidFill>
                  <a:schemeClr val="dk1"/>
                </a:solidFill>
              </a:rPr>
              <a:t>How to measure it:</a:t>
            </a:r>
            <a:endParaRPr sz="1135" b="1">
              <a:solidFill>
                <a:schemeClr val="dk1"/>
              </a:solidFill>
            </a:endParaRPr>
          </a:p>
          <a:p>
            <a:pPr marL="0" lvl="0" indent="0" algn="l" rtl="0">
              <a:lnSpc>
                <a:spcPct val="95000"/>
              </a:lnSpc>
              <a:spcBef>
                <a:spcPts val="1200"/>
              </a:spcBef>
              <a:spcAft>
                <a:spcPts val="0"/>
              </a:spcAft>
              <a:buClr>
                <a:schemeClr val="dk1"/>
              </a:buClr>
              <a:buSzPts val="935"/>
              <a:buFont typeface="Arial"/>
              <a:buNone/>
            </a:pPr>
            <a:r>
              <a:rPr lang="en-GB" sz="1135">
                <a:solidFill>
                  <a:schemeClr val="dk1"/>
                </a:solidFill>
              </a:rPr>
              <a:t>Use character-level similarity (Levenshtein distance normalized to 0–1 scale) comparing </a:t>
            </a:r>
            <a:r>
              <a:rPr lang="en-GB" sz="1135" b="1">
                <a:solidFill>
                  <a:schemeClr val="dk1"/>
                </a:solidFill>
                <a:latin typeface="Roboto Mono"/>
                <a:ea typeface="Roboto Mono"/>
                <a:cs typeface="Roboto Mono"/>
                <a:sym typeface="Roboto Mono"/>
              </a:rPr>
              <a:t>whisper_text</a:t>
            </a:r>
            <a:r>
              <a:rPr lang="en-GB" sz="1135" b="1">
                <a:solidFill>
                  <a:schemeClr val="dk1"/>
                </a:solidFill>
              </a:rPr>
              <a:t> </a:t>
            </a:r>
            <a:r>
              <a:rPr lang="en-GB" sz="1135">
                <a:solidFill>
                  <a:schemeClr val="dk1"/>
                </a:solidFill>
              </a:rPr>
              <a:t>vs </a:t>
            </a:r>
            <a:r>
              <a:rPr lang="en-GB" sz="1135" b="1">
                <a:solidFill>
                  <a:schemeClr val="dk1"/>
                </a:solidFill>
                <a:latin typeface="Roboto Mono"/>
                <a:ea typeface="Roboto Mono"/>
                <a:cs typeface="Roboto Mono"/>
                <a:sym typeface="Roboto Mono"/>
              </a:rPr>
              <a:t>user_text</a:t>
            </a:r>
            <a:r>
              <a:rPr lang="en-GB" sz="1135" b="1">
                <a:solidFill>
                  <a:schemeClr val="dk1"/>
                </a:solidFill>
              </a:rPr>
              <a:t> </a:t>
            </a:r>
            <a:r>
              <a:rPr lang="en-GB" sz="1135">
                <a:solidFill>
                  <a:schemeClr val="dk1"/>
                </a:solidFill>
              </a:rPr>
              <a:t>for each task:</a:t>
            </a:r>
            <a:endParaRPr sz="1135">
              <a:solidFill>
                <a:schemeClr val="dk1"/>
              </a:solidFill>
            </a:endParaRPr>
          </a:p>
          <a:p>
            <a:pPr marL="0" lvl="0" indent="0" algn="ctr" rtl="0">
              <a:lnSpc>
                <a:spcPct val="95000"/>
              </a:lnSpc>
              <a:spcBef>
                <a:spcPts val="1200"/>
              </a:spcBef>
              <a:spcAft>
                <a:spcPts val="0"/>
              </a:spcAft>
              <a:buClr>
                <a:schemeClr val="dk1"/>
              </a:buClr>
              <a:buSzPts val="935"/>
              <a:buFont typeface="Arial"/>
              <a:buNone/>
            </a:pPr>
            <a:r>
              <a:rPr lang="en-GB" sz="1135" b="1">
                <a:solidFill>
                  <a:schemeClr val="dk1"/>
                </a:solidFill>
              </a:rPr>
              <a:t>Similarity Score = 1 - (edit_distance / max_length of the two strings)</a:t>
            </a:r>
            <a:endParaRPr sz="1135" b="1">
              <a:solidFill>
                <a:schemeClr val="dk1"/>
              </a:solidFill>
            </a:endParaRPr>
          </a:p>
          <a:p>
            <a:pPr marL="0" lvl="0" indent="0" algn="l" rtl="0">
              <a:lnSpc>
                <a:spcPct val="95000"/>
              </a:lnSpc>
              <a:spcBef>
                <a:spcPts val="1200"/>
              </a:spcBef>
              <a:spcAft>
                <a:spcPts val="0"/>
              </a:spcAft>
              <a:buClr>
                <a:schemeClr val="dk1"/>
              </a:buClr>
              <a:buSzPts val="935"/>
              <a:buFont typeface="Arial"/>
              <a:buNone/>
            </a:pPr>
            <a:r>
              <a:rPr lang="en-GB" sz="1135">
                <a:solidFill>
                  <a:schemeClr val="dk1"/>
                </a:solidFill>
              </a:rPr>
              <a:t>Aggregate per user:</a:t>
            </a:r>
            <a:endParaRPr sz="1135">
              <a:solidFill>
                <a:schemeClr val="dk1"/>
              </a:solidFill>
            </a:endParaRPr>
          </a:p>
          <a:p>
            <a:pPr marL="0" lvl="0" indent="0" algn="ctr" rtl="0">
              <a:lnSpc>
                <a:spcPct val="95000"/>
              </a:lnSpc>
              <a:spcBef>
                <a:spcPts val="1200"/>
              </a:spcBef>
              <a:spcAft>
                <a:spcPts val="0"/>
              </a:spcAft>
              <a:buClr>
                <a:schemeClr val="dk1"/>
              </a:buClr>
              <a:buSzPts val="935"/>
              <a:buFont typeface="Arial"/>
              <a:buNone/>
            </a:pPr>
            <a:r>
              <a:rPr lang="en-GB" sz="1135" b="1">
                <a:solidFill>
                  <a:schemeClr val="dk1"/>
                </a:solidFill>
              </a:rPr>
              <a:t>Avg Similarity Score = mean(similarity) across all tasks</a:t>
            </a:r>
            <a:endParaRPr sz="1135" b="1">
              <a:solidFill>
                <a:schemeClr val="dk1"/>
              </a:solidFill>
            </a:endParaRPr>
          </a:p>
          <a:p>
            <a:pPr marL="0" lvl="0" indent="0" algn="l" rtl="0">
              <a:lnSpc>
                <a:spcPct val="95000"/>
              </a:lnSpc>
              <a:spcBef>
                <a:spcPts val="1200"/>
              </a:spcBef>
              <a:spcAft>
                <a:spcPts val="0"/>
              </a:spcAft>
              <a:buClr>
                <a:schemeClr val="dk1"/>
              </a:buClr>
              <a:buSzPts val="935"/>
              <a:buFont typeface="Arial"/>
              <a:buNone/>
            </a:pPr>
            <a:r>
              <a:rPr lang="en-GB" sz="1135" b="1">
                <a:solidFill>
                  <a:schemeClr val="dk1"/>
                </a:solidFill>
              </a:rPr>
              <a:t>Red flag thresholds:</a:t>
            </a:r>
            <a:endParaRPr sz="1135" b="1">
              <a:solidFill>
                <a:schemeClr val="dk1"/>
              </a:solidFill>
            </a:endParaRPr>
          </a:p>
          <a:p>
            <a:pPr marL="457200" lvl="0" indent="-300673" algn="l" rtl="0">
              <a:lnSpc>
                <a:spcPct val="95000"/>
              </a:lnSpc>
              <a:spcBef>
                <a:spcPts val="1200"/>
              </a:spcBef>
              <a:spcAft>
                <a:spcPts val="0"/>
              </a:spcAft>
              <a:buClr>
                <a:schemeClr val="dk1"/>
              </a:buClr>
              <a:buSzPts val="1135"/>
              <a:buChar char="●"/>
            </a:pPr>
            <a:r>
              <a:rPr lang="en-GB" sz="1135" b="1">
                <a:solidFill>
                  <a:schemeClr val="dk1"/>
                </a:solidFill>
              </a:rPr>
              <a:t>Single task</a:t>
            </a:r>
            <a:r>
              <a:rPr lang="en-GB" sz="1135">
                <a:solidFill>
                  <a:schemeClr val="dk1"/>
                </a:solidFill>
              </a:rPr>
              <a:t>: Similarity &gt; 98% with </a:t>
            </a:r>
            <a:r>
              <a:rPr lang="en-GB" sz="1135" b="1">
                <a:solidFill>
                  <a:schemeClr val="dk1"/>
                </a:solidFill>
              </a:rPr>
              <a:t>is_edited </a:t>
            </a:r>
            <a:r>
              <a:rPr lang="en-GB" sz="1135">
                <a:solidFill>
                  <a:schemeClr val="dk1"/>
                </a:solidFill>
              </a:rPr>
              <a:t>= No → flag</a:t>
            </a:r>
            <a:endParaRPr sz="1135">
              <a:solidFill>
                <a:schemeClr val="dk1"/>
              </a:solidFill>
            </a:endParaRPr>
          </a:p>
          <a:p>
            <a:pPr marL="457200" lvl="0" indent="-300673" algn="l" rtl="0">
              <a:lnSpc>
                <a:spcPct val="95000"/>
              </a:lnSpc>
              <a:spcBef>
                <a:spcPts val="0"/>
              </a:spcBef>
              <a:spcAft>
                <a:spcPts val="0"/>
              </a:spcAft>
              <a:buClr>
                <a:schemeClr val="dk1"/>
              </a:buClr>
              <a:buSzPts val="1135"/>
              <a:buChar char="●"/>
            </a:pPr>
            <a:r>
              <a:rPr lang="en-GB" sz="1135" b="1">
                <a:solidFill>
                  <a:schemeClr val="dk1"/>
                </a:solidFill>
              </a:rPr>
              <a:t>User-level:</a:t>
            </a:r>
            <a:r>
              <a:rPr lang="en-GB" sz="1135">
                <a:solidFill>
                  <a:schemeClr val="dk1"/>
                </a:solidFill>
              </a:rPr>
              <a:t> Avg Similarity &gt; 95% across 20+ tasks → strong warning signal</a:t>
            </a:r>
            <a:endParaRPr sz="1135">
              <a:solidFill>
                <a:schemeClr val="dk1"/>
              </a:solidFill>
            </a:endParaRPr>
          </a:p>
          <a:p>
            <a:pPr marL="457200" lvl="0" indent="-300673" algn="l" rtl="0">
              <a:lnSpc>
                <a:spcPct val="95000"/>
              </a:lnSpc>
              <a:spcBef>
                <a:spcPts val="0"/>
              </a:spcBef>
              <a:spcAft>
                <a:spcPts val="0"/>
              </a:spcAft>
              <a:buClr>
                <a:schemeClr val="dk1"/>
              </a:buClr>
              <a:buSzPts val="1135"/>
              <a:buChar char="●"/>
            </a:pPr>
            <a:r>
              <a:rPr lang="en-GB" sz="1135" b="1">
                <a:solidFill>
                  <a:schemeClr val="dk1"/>
                </a:solidFill>
              </a:rPr>
              <a:t>Combined:</a:t>
            </a:r>
            <a:r>
              <a:rPr lang="en-GB" sz="1135">
                <a:solidFill>
                  <a:schemeClr val="dk1"/>
                </a:solidFill>
              </a:rPr>
              <a:t> Avg Similarity &gt; 95% + Edit Rate &lt; 5% + Listen Ratio &lt; 1.1 → block consideration</a:t>
            </a:r>
            <a:endParaRPr sz="1135">
              <a:solidFill>
                <a:schemeClr val="dk1"/>
              </a:solidFill>
            </a:endParaRPr>
          </a:p>
          <a:p>
            <a:pPr marL="0" lvl="0" indent="0" algn="l" rtl="0">
              <a:lnSpc>
                <a:spcPct val="95000"/>
              </a:lnSpc>
              <a:spcBef>
                <a:spcPts val="1200"/>
              </a:spcBef>
              <a:spcAft>
                <a:spcPts val="0"/>
              </a:spcAft>
              <a:buClr>
                <a:schemeClr val="dk1"/>
              </a:buClr>
              <a:buSzPts val="935"/>
              <a:buFont typeface="Arial"/>
              <a:buNone/>
            </a:pPr>
            <a:r>
              <a:rPr lang="en-GB" sz="1135" b="1">
                <a:solidFill>
                  <a:schemeClr val="dk1"/>
                </a:solidFill>
              </a:rPr>
              <a:t>Why this matters most:</a:t>
            </a:r>
            <a:r>
              <a:rPr lang="en-GB" sz="1135">
                <a:solidFill>
                  <a:schemeClr val="dk1"/>
                </a:solidFill>
              </a:rPr>
              <a:t> Every other signal asks "how did they behave?" — this one asks "did they actually improve the output?" That's the core job. A fast transcriber who genuinely improves accuracy is valuable. A slow transcriber who changes nothing is not. This signal directly connects to the product's core goal: reducing Word Error Rate.</a:t>
            </a:r>
            <a:endParaRPr sz="1135">
              <a:solidFill>
                <a:schemeClr val="dk1"/>
              </a:solidFill>
            </a:endParaRPr>
          </a:p>
          <a:p>
            <a:pPr marL="0" lvl="0" indent="0" algn="l" rtl="0">
              <a:lnSpc>
                <a:spcPct val="95000"/>
              </a:lnSpc>
              <a:spcBef>
                <a:spcPts val="1200"/>
              </a:spcBef>
              <a:spcAft>
                <a:spcPts val="0"/>
              </a:spcAft>
              <a:buClr>
                <a:schemeClr val="dk1"/>
              </a:buClr>
              <a:buSzPts val="935"/>
              <a:buFont typeface="Arial"/>
              <a:buNone/>
            </a:pPr>
            <a:r>
              <a:rPr lang="en-GB" sz="1135" b="1">
                <a:solidFill>
                  <a:schemeClr val="dk1"/>
                </a:solidFill>
              </a:rPr>
              <a:t>False alarms:</a:t>
            </a:r>
            <a:r>
              <a:rPr lang="en-GB" sz="1135">
                <a:solidFill>
                  <a:schemeClr val="dk1"/>
                </a:solidFill>
              </a:rPr>
              <a:t> Whisper is occasionally near-perfect on a clip. A single high-similarity task means nothing. The threshold requires 20+ tasks and looks at the average across all of them, making accidental false positives statistically unlikely.</a:t>
            </a:r>
            <a:endParaRPr sz="1135">
              <a:solidFill>
                <a:schemeClr val="dk1"/>
              </a:solidFill>
            </a:endParaRPr>
          </a:p>
          <a:p>
            <a:pPr marL="0" lvl="0" indent="0" algn="l" rtl="0">
              <a:lnSpc>
                <a:spcPct val="95000"/>
              </a:lnSpc>
              <a:spcBef>
                <a:spcPts val="1200"/>
              </a:spcBef>
              <a:spcAft>
                <a:spcPts val="1200"/>
              </a:spcAft>
              <a:buSzPts val="935"/>
              <a:buNone/>
            </a:pPr>
            <a:endParaRPr sz="163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p59"/>
          <p:cNvSpPr txBox="1">
            <a:spLocks noGrp="1"/>
          </p:cNvSpPr>
          <p:nvPr>
            <p:ph type="body" idx="1"/>
          </p:nvPr>
        </p:nvSpPr>
        <p:spPr>
          <a:xfrm>
            <a:off x="229400" y="175600"/>
            <a:ext cx="8602800" cy="4393200"/>
          </a:xfrm>
          <a:prstGeom prst="rect">
            <a:avLst/>
          </a:prstGeom>
        </p:spPr>
        <p:txBody>
          <a:bodyPr spcFirstLastPara="1" wrap="square" lIns="91425" tIns="91425" rIns="91425" bIns="91425" anchor="t" anchorCtr="0">
            <a:normAutofit/>
          </a:bodyPr>
          <a:lstStyle/>
          <a:p>
            <a:pPr marL="0" lvl="0" indent="0" algn="ctr" rtl="0">
              <a:spcBef>
                <a:spcPts val="1400"/>
              </a:spcBef>
              <a:spcAft>
                <a:spcPts val="0"/>
              </a:spcAft>
              <a:buClr>
                <a:schemeClr val="dk1"/>
              </a:buClr>
              <a:buSzPts val="1100"/>
              <a:buFont typeface="Arial"/>
              <a:buNone/>
            </a:pPr>
            <a:r>
              <a:rPr lang="en-GB" sz="1300" b="1" u="sng">
                <a:solidFill>
                  <a:schemeClr val="dk1"/>
                </a:solidFill>
              </a:rPr>
              <a:t>Warning Sign 4: Abnormally High Characters-Per-Second (Speed-Based)</a:t>
            </a:r>
            <a:endParaRPr sz="1300" b="1" u="sng">
              <a:solidFill>
                <a:schemeClr val="dk1"/>
              </a:solidFill>
            </a:endParaRPr>
          </a:p>
          <a:p>
            <a:pPr marL="0" lvl="0" indent="0" algn="l" rtl="0">
              <a:spcBef>
                <a:spcPts val="1200"/>
              </a:spcBef>
              <a:spcAft>
                <a:spcPts val="0"/>
              </a:spcAft>
              <a:buClr>
                <a:schemeClr val="dk1"/>
              </a:buClr>
              <a:buSzPts val="1100"/>
              <a:buFont typeface="Arial"/>
              <a:buNone/>
            </a:pPr>
            <a:r>
              <a:rPr lang="en-GB" sz="1100" b="1">
                <a:solidFill>
                  <a:schemeClr val="dk1"/>
                </a:solidFill>
              </a:rPr>
              <a:t>What it tells us:</a:t>
            </a:r>
            <a:endParaRPr sz="1100" b="1">
              <a:solidFill>
                <a:schemeClr val="dk1"/>
              </a:solidFill>
            </a:endParaRPr>
          </a:p>
          <a:p>
            <a:pPr marL="0" lvl="0" indent="0" algn="l" rtl="0">
              <a:spcBef>
                <a:spcPts val="1200"/>
              </a:spcBef>
              <a:spcAft>
                <a:spcPts val="0"/>
              </a:spcAft>
              <a:buClr>
                <a:schemeClr val="dk1"/>
              </a:buClr>
              <a:buSzPts val="1100"/>
              <a:buFont typeface="Arial"/>
              <a:buNone/>
            </a:pPr>
            <a:r>
              <a:rPr lang="en-GB" sz="1100">
                <a:solidFill>
                  <a:schemeClr val="dk1"/>
                </a:solidFill>
              </a:rPr>
              <a:t>The </a:t>
            </a:r>
            <a:r>
              <a:rPr lang="en-GB" sz="1100" b="1">
                <a:solidFill>
                  <a:schemeClr val="dk1"/>
                </a:solidFill>
                <a:latin typeface="Roboto Mono"/>
                <a:ea typeface="Roboto Mono"/>
                <a:cs typeface="Roboto Mono"/>
                <a:sym typeface="Roboto Mono"/>
              </a:rPr>
              <a:t>segment_character_per_second</a:t>
            </a:r>
            <a:r>
              <a:rPr lang="en-GB" sz="1100" b="1">
                <a:solidFill>
                  <a:schemeClr val="dk1"/>
                </a:solidFill>
              </a:rPr>
              <a:t> </a:t>
            </a:r>
            <a:r>
              <a:rPr lang="en-GB" sz="1100">
                <a:solidFill>
                  <a:schemeClr val="dk1"/>
                </a:solidFill>
              </a:rPr>
              <a:t>field is a built-in behavioral fingerprint. Legitimate transcription — listening, reading, comparing, typing edits — has a natural speed ceiling. Consistently exceeding that ceiling suggests copy-pasting, auto-filling, or scripted submission.</a:t>
            </a:r>
            <a:endParaRPr sz="1100">
              <a:solidFill>
                <a:schemeClr val="dk1"/>
              </a:solidFill>
            </a:endParaRPr>
          </a:p>
          <a:p>
            <a:pPr marL="0" lvl="0" indent="0" algn="l" rtl="0">
              <a:spcBef>
                <a:spcPts val="1200"/>
              </a:spcBef>
              <a:spcAft>
                <a:spcPts val="0"/>
              </a:spcAft>
              <a:buClr>
                <a:schemeClr val="dk1"/>
              </a:buClr>
              <a:buSzPts val="1100"/>
              <a:buFont typeface="Arial"/>
              <a:buNone/>
            </a:pPr>
            <a:r>
              <a:rPr lang="en-GB" sz="1100" b="1">
                <a:solidFill>
                  <a:schemeClr val="dk1"/>
                </a:solidFill>
              </a:rPr>
              <a:t>How to measure it:</a:t>
            </a:r>
            <a:endParaRPr sz="1100" b="1">
              <a:solidFill>
                <a:schemeClr val="dk1"/>
              </a:solidFill>
            </a:endParaRPr>
          </a:p>
          <a:p>
            <a:pPr marL="0" lvl="0" indent="0" algn="ctr" rtl="0">
              <a:spcBef>
                <a:spcPts val="1200"/>
              </a:spcBef>
              <a:spcAft>
                <a:spcPts val="0"/>
              </a:spcAft>
              <a:buClr>
                <a:schemeClr val="dk1"/>
              </a:buClr>
              <a:buSzPts val="1100"/>
              <a:buFont typeface="Arial"/>
              <a:buNone/>
            </a:pPr>
            <a:r>
              <a:rPr lang="en-GB" sz="1100" b="1">
                <a:solidFill>
                  <a:schemeClr val="dk1"/>
                </a:solidFill>
              </a:rPr>
              <a:t>Flag if: segment_character_per_second &gt; 10     AND      time_taken &lt; duration</a:t>
            </a:r>
            <a:endParaRPr sz="1100" b="1">
              <a:solidFill>
                <a:schemeClr val="dk1"/>
              </a:solidFill>
            </a:endParaRPr>
          </a:p>
          <a:p>
            <a:pPr marL="0" lvl="0" indent="0" algn="l" rtl="0">
              <a:spcBef>
                <a:spcPts val="1200"/>
              </a:spcBef>
              <a:spcAft>
                <a:spcPts val="0"/>
              </a:spcAft>
              <a:buClr>
                <a:schemeClr val="dk1"/>
              </a:buClr>
              <a:buSzPts val="1100"/>
              <a:buFont typeface="Arial"/>
              <a:buNone/>
            </a:pPr>
            <a:r>
              <a:rPr lang="en-GB" sz="1100" b="1">
                <a:solidFill>
                  <a:schemeClr val="dk1"/>
                </a:solidFill>
              </a:rPr>
              <a:t>Red flag thresholds:</a:t>
            </a:r>
            <a:endParaRPr sz="1100" b="1">
              <a:solidFill>
                <a:schemeClr val="dk1"/>
              </a:solidFill>
            </a:endParaRPr>
          </a:p>
          <a:p>
            <a:pPr marL="457200" lvl="0" indent="-298450" algn="l" rtl="0">
              <a:spcBef>
                <a:spcPts val="1200"/>
              </a:spcBef>
              <a:spcAft>
                <a:spcPts val="0"/>
              </a:spcAft>
              <a:buClr>
                <a:schemeClr val="dk1"/>
              </a:buClr>
              <a:buSzPts val="1100"/>
              <a:buChar char="●"/>
            </a:pPr>
            <a:r>
              <a:rPr lang="en-GB" sz="1100" b="1">
                <a:solidFill>
                  <a:schemeClr val="dk1"/>
                </a:solidFill>
                <a:latin typeface="Roboto Mono"/>
                <a:ea typeface="Roboto Mono"/>
                <a:cs typeface="Roboto Mono"/>
                <a:sym typeface="Roboto Mono"/>
              </a:rPr>
              <a:t>segment_character_per_second</a:t>
            </a:r>
            <a:r>
              <a:rPr lang="en-GB" sz="1100" b="1">
                <a:solidFill>
                  <a:schemeClr val="dk1"/>
                </a:solidFill>
              </a:rPr>
              <a:t> </a:t>
            </a:r>
            <a:r>
              <a:rPr lang="en-GB" sz="1100">
                <a:solidFill>
                  <a:schemeClr val="dk1"/>
                </a:solidFill>
              </a:rPr>
              <a:t>&gt; 10 on more than 25% of tasks → investigate</a:t>
            </a:r>
            <a:endParaRPr sz="1100">
              <a:solidFill>
                <a:schemeClr val="dk1"/>
              </a:solidFill>
            </a:endParaRPr>
          </a:p>
          <a:p>
            <a:pPr marL="457200" lvl="0" indent="-298450" algn="l" rtl="0">
              <a:spcBef>
                <a:spcPts val="0"/>
              </a:spcBef>
              <a:spcAft>
                <a:spcPts val="0"/>
              </a:spcAft>
              <a:buClr>
                <a:schemeClr val="dk1"/>
              </a:buClr>
              <a:buSzPts val="1100"/>
              <a:buChar char="●"/>
            </a:pPr>
            <a:r>
              <a:rPr lang="en-GB" sz="1100" b="1">
                <a:solidFill>
                  <a:schemeClr val="dk1"/>
                </a:solidFill>
                <a:latin typeface="Roboto Mono"/>
                <a:ea typeface="Roboto Mono"/>
                <a:cs typeface="Roboto Mono"/>
                <a:sym typeface="Roboto Mono"/>
              </a:rPr>
              <a:t>segment_character_per_second</a:t>
            </a:r>
            <a:r>
              <a:rPr lang="en-GB" sz="1100" b="1">
                <a:solidFill>
                  <a:schemeClr val="dk1"/>
                </a:solidFill>
              </a:rPr>
              <a:t> </a:t>
            </a:r>
            <a:r>
              <a:rPr lang="en-GB" sz="1100">
                <a:solidFill>
                  <a:schemeClr val="dk1"/>
                </a:solidFill>
              </a:rPr>
              <a:t>&gt; 15 on any task → immediate task-level flag</a:t>
            </a:r>
            <a:endParaRPr sz="1100">
              <a:solidFill>
                <a:schemeClr val="dk1"/>
              </a:solidFill>
            </a:endParaRPr>
          </a:p>
          <a:p>
            <a:pPr marL="0" lvl="0" indent="0" algn="l" rtl="0">
              <a:spcBef>
                <a:spcPts val="1200"/>
              </a:spcBef>
              <a:spcAft>
                <a:spcPts val="0"/>
              </a:spcAft>
              <a:buClr>
                <a:schemeClr val="dk1"/>
              </a:buClr>
              <a:buSzPts val="1100"/>
              <a:buFont typeface="Arial"/>
              <a:buNone/>
            </a:pPr>
            <a:r>
              <a:rPr lang="en-GB" sz="1100" b="1">
                <a:solidFill>
                  <a:schemeClr val="dk1"/>
                </a:solidFill>
              </a:rPr>
              <a:t>False alarms:</a:t>
            </a:r>
            <a:r>
              <a:rPr lang="en-GB" sz="1100">
                <a:solidFill>
                  <a:schemeClr val="dk1"/>
                </a:solidFill>
              </a:rPr>
              <a:t> Very short clips with pre-known phrases can skew this. Filter to clips longer than 10 seconds.</a:t>
            </a:r>
            <a:endParaRPr sz="1100">
              <a:solidFill>
                <a:schemeClr val="dk1"/>
              </a:solidFill>
            </a:endParaRPr>
          </a:p>
          <a:p>
            <a:pPr marL="0" lvl="0" indent="0" algn="l" rtl="0">
              <a:spcBef>
                <a:spcPts val="1200"/>
              </a:spcBef>
              <a:spcAft>
                <a:spcPts val="1200"/>
              </a:spcAft>
              <a:buNone/>
            </a:pPr>
            <a:endParaRPr/>
          </a:p>
        </p:txBody>
      </p:sp>
      <p:sp>
        <p:nvSpPr>
          <p:cNvPr id="351" name="Google Shape;351;p59"/>
          <p:cNvSpPr txBox="1"/>
          <p:nvPr/>
        </p:nvSpPr>
        <p:spPr>
          <a:xfrm>
            <a:off x="741025" y="3839100"/>
            <a:ext cx="6861000" cy="950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a:solidFill>
                <a:schemeClr val="dk2"/>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60"/>
          <p:cNvSpPr txBox="1">
            <a:spLocks noGrp="1"/>
          </p:cNvSpPr>
          <p:nvPr>
            <p:ph type="body" idx="1"/>
          </p:nvPr>
        </p:nvSpPr>
        <p:spPr>
          <a:xfrm>
            <a:off x="0" y="166475"/>
            <a:ext cx="8777400" cy="4164900"/>
          </a:xfrm>
          <a:prstGeom prst="rect">
            <a:avLst/>
          </a:prstGeom>
        </p:spPr>
        <p:txBody>
          <a:bodyPr spcFirstLastPara="1" wrap="square" lIns="91425" tIns="91425" rIns="91425" bIns="91425" anchor="t" anchorCtr="0">
            <a:normAutofit/>
          </a:bodyPr>
          <a:lstStyle/>
          <a:p>
            <a:pPr marL="0" lvl="0" indent="0" algn="l" rtl="0">
              <a:spcBef>
                <a:spcPts val="1400"/>
              </a:spcBef>
              <a:spcAft>
                <a:spcPts val="0"/>
              </a:spcAft>
              <a:buClr>
                <a:schemeClr val="dk1"/>
              </a:buClr>
              <a:buSzPts val="1100"/>
              <a:buFont typeface="Arial"/>
              <a:buNone/>
            </a:pPr>
            <a:r>
              <a:rPr lang="en-GB" sz="1300" b="1">
                <a:solidFill>
                  <a:schemeClr val="dk1"/>
                </a:solidFill>
              </a:rPr>
              <a:t>Why These Signals Work Together</a:t>
            </a:r>
            <a:endParaRPr sz="1300" b="1">
              <a:solidFill>
                <a:schemeClr val="dk1"/>
              </a:solidFill>
            </a:endParaRPr>
          </a:p>
          <a:p>
            <a:pPr marL="0" lvl="0" indent="0" algn="l" rtl="0">
              <a:spcBef>
                <a:spcPts val="1200"/>
              </a:spcBef>
              <a:spcAft>
                <a:spcPts val="0"/>
              </a:spcAft>
              <a:buClr>
                <a:schemeClr val="dk1"/>
              </a:buClr>
              <a:buSzPts val="1100"/>
              <a:buFont typeface="Arial"/>
              <a:buNone/>
            </a:pPr>
            <a:r>
              <a:rPr lang="en-GB" sz="1100">
                <a:solidFill>
                  <a:schemeClr val="dk1"/>
                </a:solidFill>
              </a:rPr>
              <a:t>Each signal is designed to capture a </a:t>
            </a:r>
            <a:r>
              <a:rPr lang="en-GB" sz="1100" b="1">
                <a:solidFill>
                  <a:schemeClr val="dk1"/>
                </a:solidFill>
              </a:rPr>
              <a:t>different type of low-quality or fraudulent behavior</a:t>
            </a:r>
            <a:r>
              <a:rPr lang="en-GB" sz="1100">
                <a:solidFill>
                  <a:schemeClr val="dk1"/>
                </a:solidFill>
              </a:rPr>
              <a:t> in the transcription process:</a:t>
            </a:r>
            <a:endParaRPr sz="1100">
              <a:solidFill>
                <a:schemeClr val="dk1"/>
              </a:solidFill>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1200"/>
              </a:spcAft>
              <a:buNone/>
            </a:pPr>
            <a:r>
              <a:rPr lang="en-GB" sz="1100">
                <a:solidFill>
                  <a:schemeClr val="dk1"/>
                </a:solidFill>
              </a:rPr>
              <a:t>Individually, each signal can be manipulated. However, </a:t>
            </a:r>
            <a:r>
              <a:rPr lang="en-GB" sz="1100" b="1">
                <a:solidFill>
                  <a:schemeClr val="dk1"/>
                </a:solidFill>
              </a:rPr>
              <a:t>gaming all signals simultaneously while maintaining genuine transcription quality is highly unlikely</a:t>
            </a:r>
            <a:r>
              <a:rPr lang="en-GB" sz="1100">
                <a:solidFill>
                  <a:schemeClr val="dk1"/>
                </a:solidFill>
              </a:rPr>
              <a:t>, making the system robust.</a:t>
            </a:r>
            <a:endParaRPr/>
          </a:p>
        </p:txBody>
      </p:sp>
      <p:pic>
        <p:nvPicPr>
          <p:cNvPr id="357" name="Google Shape;357;p60"/>
          <p:cNvPicPr preferRelativeResize="0"/>
          <p:nvPr/>
        </p:nvPicPr>
        <p:blipFill rotWithShape="1">
          <a:blip r:embed="rId3">
            <a:alphaModFix/>
          </a:blip>
          <a:srcRect r="-7124" b="-7124"/>
          <a:stretch/>
        </p:blipFill>
        <p:spPr>
          <a:xfrm>
            <a:off x="666313" y="1038325"/>
            <a:ext cx="6715125" cy="200025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2" name="Google Shape;362;p61"/>
          <p:cNvSpPr txBox="1">
            <a:spLocks noGrp="1"/>
          </p:cNvSpPr>
          <p:nvPr>
            <p:ph type="title"/>
          </p:nvPr>
        </p:nvSpPr>
        <p:spPr>
          <a:xfrm>
            <a:off x="311700" y="91375"/>
            <a:ext cx="8520600" cy="572700"/>
          </a:xfrm>
          <a:prstGeom prst="rect">
            <a:avLst/>
          </a:prstGeom>
        </p:spPr>
        <p:txBody>
          <a:bodyPr spcFirstLastPara="1" wrap="square" lIns="91425" tIns="91425" rIns="91425" bIns="91425" anchor="t" anchorCtr="0">
            <a:normAutofit fontScale="90000"/>
          </a:bodyPr>
          <a:lstStyle/>
          <a:p>
            <a:pPr marL="0" lvl="0" indent="0" algn="ctr" rtl="0">
              <a:lnSpc>
                <a:spcPct val="115000"/>
              </a:lnSpc>
              <a:spcBef>
                <a:spcPts val="2400"/>
              </a:spcBef>
              <a:spcAft>
                <a:spcPts val="600"/>
              </a:spcAft>
              <a:buClr>
                <a:schemeClr val="dk1"/>
              </a:buClr>
              <a:buSzPts val="1100"/>
              <a:buFont typeface="Arial"/>
              <a:buNone/>
            </a:pPr>
            <a:r>
              <a:rPr lang="en-GB" sz="1300" b="1" u="sng"/>
              <a:t>Part II — Automated System to Detect &amp; Block Low-Quality Transcribers</a:t>
            </a:r>
            <a:endParaRPr sz="1300" u="sng"/>
          </a:p>
        </p:txBody>
      </p:sp>
      <p:sp>
        <p:nvSpPr>
          <p:cNvPr id="363" name="Google Shape;363;p61"/>
          <p:cNvSpPr txBox="1">
            <a:spLocks noGrp="1"/>
          </p:cNvSpPr>
          <p:nvPr>
            <p:ph type="body" idx="1"/>
          </p:nvPr>
        </p:nvSpPr>
        <p:spPr>
          <a:xfrm>
            <a:off x="247675" y="577600"/>
            <a:ext cx="8584500" cy="4385100"/>
          </a:xfrm>
          <a:prstGeom prst="rect">
            <a:avLst/>
          </a:prstGeom>
        </p:spPr>
        <p:txBody>
          <a:bodyPr spcFirstLastPara="1" wrap="square" lIns="91425" tIns="91425" rIns="91425" bIns="91425" anchor="t" anchorCtr="0">
            <a:noAutofit/>
          </a:bodyPr>
          <a:lstStyle/>
          <a:p>
            <a:pPr marL="0" lvl="0" indent="0" algn="l" rtl="0">
              <a:lnSpc>
                <a:spcPct val="105000"/>
              </a:lnSpc>
              <a:spcBef>
                <a:spcPts val="1200"/>
              </a:spcBef>
              <a:spcAft>
                <a:spcPts val="0"/>
              </a:spcAft>
              <a:buClr>
                <a:schemeClr val="dk1"/>
              </a:buClr>
              <a:buSzPts val="935"/>
              <a:buFont typeface="Arial"/>
              <a:buNone/>
            </a:pPr>
            <a:r>
              <a:rPr lang="en-GB" sz="1100">
                <a:solidFill>
                  <a:schemeClr val="dk1"/>
                </a:solidFill>
              </a:rPr>
              <a:t>The system is built on three principles: catch bad actors early, never block a good contributor on a single signal, and maintain the platform's stated goal of keeping annotation error below 2%. Every design decision traces back to one of these three.</a:t>
            </a:r>
            <a:endParaRPr sz="1100">
              <a:solidFill>
                <a:schemeClr val="dk1"/>
              </a:solidFill>
            </a:endParaRPr>
          </a:p>
          <a:p>
            <a:pPr marL="0" lvl="0" indent="0" algn="ctr" rtl="0">
              <a:lnSpc>
                <a:spcPct val="105000"/>
              </a:lnSpc>
              <a:spcBef>
                <a:spcPts val="1800"/>
              </a:spcBef>
              <a:spcAft>
                <a:spcPts val="0"/>
              </a:spcAft>
              <a:buClr>
                <a:schemeClr val="dk1"/>
              </a:buClr>
              <a:buSzPts val="935"/>
              <a:buFont typeface="Arial"/>
              <a:buNone/>
            </a:pPr>
            <a:r>
              <a:rPr lang="en-GB" sz="1200" b="1">
                <a:solidFill>
                  <a:schemeClr val="dk1"/>
                </a:solidFill>
              </a:rPr>
              <a:t>Step 1: User Quality Score (Dynamic, 0–100)</a:t>
            </a:r>
            <a:endParaRPr sz="1200" b="1">
              <a:solidFill>
                <a:schemeClr val="dk1"/>
              </a:solidFill>
            </a:endParaRPr>
          </a:p>
          <a:p>
            <a:pPr marL="0" lvl="0" indent="0" algn="l" rtl="0">
              <a:lnSpc>
                <a:spcPct val="105000"/>
              </a:lnSpc>
              <a:spcBef>
                <a:spcPts val="1200"/>
              </a:spcBef>
              <a:spcAft>
                <a:spcPts val="0"/>
              </a:spcAft>
              <a:buSzPts val="935"/>
              <a:buNone/>
            </a:pPr>
            <a:r>
              <a:rPr lang="en-GB" sz="1100">
                <a:solidFill>
                  <a:schemeClr val="dk1"/>
                </a:solidFill>
              </a:rPr>
              <a:t>Every contributor maintains a running quality score, updated after each task submission. The score is composite — no single dimension can cause a block alone, but all dimensions reflect a different aspect of genuine transcription work.</a:t>
            </a:r>
            <a:endParaRPr sz="1100">
              <a:solidFill>
                <a:schemeClr val="dk1"/>
              </a:solidFill>
            </a:endParaRPr>
          </a:p>
          <a:p>
            <a:pPr marL="0" lvl="0" indent="0" algn="l" rtl="0">
              <a:lnSpc>
                <a:spcPct val="105000"/>
              </a:lnSpc>
              <a:spcBef>
                <a:spcPts val="1200"/>
              </a:spcBef>
              <a:spcAft>
                <a:spcPts val="0"/>
              </a:spcAft>
              <a:buSzPts val="935"/>
              <a:buNone/>
            </a:pPr>
            <a:endParaRPr sz="1100">
              <a:solidFill>
                <a:schemeClr val="dk1"/>
              </a:solidFill>
            </a:endParaRPr>
          </a:p>
          <a:p>
            <a:pPr marL="0" lvl="0" indent="0" algn="l" rtl="0">
              <a:lnSpc>
                <a:spcPct val="105000"/>
              </a:lnSpc>
              <a:spcBef>
                <a:spcPts val="1200"/>
              </a:spcBef>
              <a:spcAft>
                <a:spcPts val="0"/>
              </a:spcAft>
              <a:buSzPts val="935"/>
              <a:buNone/>
            </a:pPr>
            <a:endParaRPr sz="1100">
              <a:solidFill>
                <a:schemeClr val="dk1"/>
              </a:solidFill>
            </a:endParaRPr>
          </a:p>
          <a:p>
            <a:pPr marL="0" lvl="0" indent="0" algn="l" rtl="0">
              <a:lnSpc>
                <a:spcPct val="105000"/>
              </a:lnSpc>
              <a:spcBef>
                <a:spcPts val="1200"/>
              </a:spcBef>
              <a:spcAft>
                <a:spcPts val="0"/>
              </a:spcAft>
              <a:buSzPts val="935"/>
              <a:buNone/>
            </a:pPr>
            <a:endParaRPr sz="1100">
              <a:solidFill>
                <a:schemeClr val="dk1"/>
              </a:solidFill>
            </a:endParaRPr>
          </a:p>
          <a:p>
            <a:pPr marL="0" lvl="0" indent="0" algn="l" rtl="0">
              <a:lnSpc>
                <a:spcPct val="105000"/>
              </a:lnSpc>
              <a:spcBef>
                <a:spcPts val="1200"/>
              </a:spcBef>
              <a:spcAft>
                <a:spcPts val="0"/>
              </a:spcAft>
              <a:buSzPts val="935"/>
              <a:buNone/>
            </a:pPr>
            <a:endParaRPr sz="1100">
              <a:solidFill>
                <a:schemeClr val="dk1"/>
              </a:solidFill>
            </a:endParaRPr>
          </a:p>
          <a:p>
            <a:pPr marL="0" lvl="0" indent="0" algn="l" rtl="0">
              <a:lnSpc>
                <a:spcPct val="105000"/>
              </a:lnSpc>
              <a:spcBef>
                <a:spcPts val="1200"/>
              </a:spcBef>
              <a:spcAft>
                <a:spcPts val="0"/>
              </a:spcAft>
              <a:buSzPts val="935"/>
              <a:buNone/>
            </a:pPr>
            <a:endParaRPr sz="1100">
              <a:solidFill>
                <a:schemeClr val="dk1"/>
              </a:solidFill>
            </a:endParaRPr>
          </a:p>
          <a:p>
            <a:pPr marL="0" lvl="0" indent="0" algn="l" rtl="0">
              <a:lnSpc>
                <a:spcPct val="105000"/>
              </a:lnSpc>
              <a:spcBef>
                <a:spcPts val="1200"/>
              </a:spcBef>
              <a:spcAft>
                <a:spcPts val="0"/>
              </a:spcAft>
              <a:buSzPts val="935"/>
              <a:buNone/>
            </a:pPr>
            <a:endParaRPr sz="1100">
              <a:solidFill>
                <a:schemeClr val="dk1"/>
              </a:solidFill>
            </a:endParaRPr>
          </a:p>
          <a:p>
            <a:pPr marL="0" lvl="0" indent="0" algn="l" rtl="0">
              <a:lnSpc>
                <a:spcPct val="105000"/>
              </a:lnSpc>
              <a:spcBef>
                <a:spcPts val="1200"/>
              </a:spcBef>
              <a:spcAft>
                <a:spcPts val="0"/>
              </a:spcAft>
              <a:buSzPts val="935"/>
              <a:buNone/>
            </a:pPr>
            <a:endParaRPr sz="1100">
              <a:solidFill>
                <a:schemeClr val="dk1"/>
              </a:solidFill>
            </a:endParaRPr>
          </a:p>
          <a:p>
            <a:pPr marL="0" lvl="0" indent="0" algn="l" rtl="0">
              <a:lnSpc>
                <a:spcPct val="105000"/>
              </a:lnSpc>
              <a:spcBef>
                <a:spcPts val="1200"/>
              </a:spcBef>
              <a:spcAft>
                <a:spcPts val="1200"/>
              </a:spcAft>
              <a:buClr>
                <a:schemeClr val="dk1"/>
              </a:buClr>
              <a:buSzPts val="935"/>
              <a:buFont typeface="Arial"/>
              <a:buNone/>
            </a:pPr>
            <a:r>
              <a:rPr lang="en-GB" sz="1100">
                <a:solidFill>
                  <a:schemeClr val="dk1"/>
                </a:solidFill>
              </a:rPr>
              <a:t>The </a:t>
            </a:r>
            <a:r>
              <a:rPr lang="en-GB" sz="1100" b="1">
                <a:solidFill>
                  <a:schemeClr val="dk1"/>
                </a:solidFill>
              </a:rPr>
              <a:t>similarity score</a:t>
            </a:r>
            <a:r>
              <a:rPr lang="en-GB" sz="1100">
                <a:solidFill>
                  <a:schemeClr val="dk1"/>
                </a:solidFill>
              </a:rPr>
              <a:t> is the most direct quality signal because it measures output, not just behavior. A transcriber can game speed and edit rate by making trivial one-character changes — but consistently high similarity to Whisper across 20+ tasks is nearly impossible to fake while doing real work.</a:t>
            </a:r>
            <a:endParaRPr sz="1100">
              <a:solidFill>
                <a:schemeClr val="dk1"/>
              </a:solidFill>
            </a:endParaRPr>
          </a:p>
        </p:txBody>
      </p:sp>
      <p:pic>
        <p:nvPicPr>
          <p:cNvPr id="364" name="Google Shape;364;p61"/>
          <p:cNvPicPr preferRelativeResize="0"/>
          <p:nvPr/>
        </p:nvPicPr>
        <p:blipFill>
          <a:blip r:embed="rId3">
            <a:alphaModFix/>
          </a:blip>
          <a:stretch>
            <a:fillRect/>
          </a:stretch>
        </p:blipFill>
        <p:spPr>
          <a:xfrm>
            <a:off x="1378500" y="2011900"/>
            <a:ext cx="6387001" cy="229360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p62"/>
          <p:cNvSpPr txBox="1"/>
          <p:nvPr/>
        </p:nvSpPr>
        <p:spPr>
          <a:xfrm>
            <a:off x="417075" y="191200"/>
            <a:ext cx="7800300" cy="47274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1800"/>
              </a:spcBef>
              <a:spcAft>
                <a:spcPts val="0"/>
              </a:spcAft>
              <a:buNone/>
            </a:pPr>
            <a:r>
              <a:rPr lang="en-GB" sz="1700" b="1" u="sng">
                <a:solidFill>
                  <a:schemeClr val="dk1"/>
                </a:solidFill>
              </a:rPr>
              <a:t>Step 2: Three-Stage Response System</a:t>
            </a:r>
            <a:endParaRPr sz="1300" b="1" u="sng">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n-GB" sz="1300" b="1" u="sng">
                <a:solidFill>
                  <a:schemeClr val="dk1"/>
                </a:solidFill>
              </a:rPr>
              <a:t>Stage 1 — Task-Level Flagging (Silent, No User Impact)</a:t>
            </a:r>
            <a:endParaRPr sz="1300" b="1" u="sng">
              <a:solidFill>
                <a:schemeClr val="dk1"/>
              </a:solidFill>
            </a:endParaRPr>
          </a:p>
          <a:p>
            <a:pPr marL="0" lvl="0" indent="0" algn="l" rtl="0">
              <a:lnSpc>
                <a:spcPct val="115000"/>
              </a:lnSpc>
              <a:spcBef>
                <a:spcPts val="1200"/>
              </a:spcBef>
              <a:spcAft>
                <a:spcPts val="0"/>
              </a:spcAft>
              <a:buNone/>
            </a:pPr>
            <a:r>
              <a:rPr lang="en-GB" sz="1100">
                <a:solidFill>
                  <a:schemeClr val="dk1"/>
                </a:solidFill>
              </a:rPr>
              <a:t>For every submitted task, compute automatically:</a:t>
            </a:r>
            <a:endParaRPr sz="1100">
              <a:solidFill>
                <a:schemeClr val="dk1"/>
              </a:solidFill>
            </a:endParaRPr>
          </a:p>
          <a:p>
            <a:pPr marL="457200" lvl="0" indent="-298450" algn="l" rtl="0">
              <a:lnSpc>
                <a:spcPct val="115000"/>
              </a:lnSpc>
              <a:spcBef>
                <a:spcPts val="1200"/>
              </a:spcBef>
              <a:spcAft>
                <a:spcPts val="0"/>
              </a:spcAft>
              <a:buClr>
                <a:schemeClr val="dk1"/>
              </a:buClr>
              <a:buSzPts val="1100"/>
              <a:buChar char="●"/>
            </a:pPr>
            <a:r>
              <a:rPr lang="en-GB" sz="1100" b="1">
                <a:solidFill>
                  <a:schemeClr val="dk1"/>
                </a:solidFill>
              </a:rPr>
              <a:t>Listen Ratio = time_taken_by_user / duration</a:t>
            </a:r>
            <a:endParaRPr sz="1100" b="1">
              <a:solidFill>
                <a:schemeClr val="dk1"/>
              </a:solidFill>
            </a:endParaRPr>
          </a:p>
          <a:p>
            <a:pPr marL="457200" lvl="0" indent="-298450" algn="l" rtl="0">
              <a:lnSpc>
                <a:spcPct val="115000"/>
              </a:lnSpc>
              <a:spcBef>
                <a:spcPts val="0"/>
              </a:spcBef>
              <a:spcAft>
                <a:spcPts val="0"/>
              </a:spcAft>
              <a:buClr>
                <a:schemeClr val="dk1"/>
              </a:buClr>
              <a:buSzPts val="1100"/>
              <a:buChar char="●"/>
            </a:pPr>
            <a:r>
              <a:rPr lang="en-GB" sz="1100" b="1">
                <a:solidFill>
                  <a:schemeClr val="dk1"/>
                </a:solidFill>
              </a:rPr>
              <a:t>Similarity Score = character similarity between whisper_text and user_text</a:t>
            </a:r>
            <a:endParaRPr sz="1100" b="1">
              <a:solidFill>
                <a:schemeClr val="dk1"/>
              </a:solidFill>
            </a:endParaRPr>
          </a:p>
          <a:p>
            <a:pPr marL="457200" lvl="0" indent="-298450" algn="l" rtl="0">
              <a:lnSpc>
                <a:spcPct val="115000"/>
              </a:lnSpc>
              <a:spcBef>
                <a:spcPts val="0"/>
              </a:spcBef>
              <a:spcAft>
                <a:spcPts val="0"/>
              </a:spcAft>
              <a:buClr>
                <a:schemeClr val="dk1"/>
              </a:buClr>
              <a:buSzPts val="1100"/>
              <a:buChar char="●"/>
            </a:pPr>
            <a:r>
              <a:rPr lang="en-GB" sz="1100" b="1">
                <a:solidFill>
                  <a:schemeClr val="dk1"/>
                </a:solidFill>
              </a:rPr>
              <a:t>Speed Flag = segment_character_per_second &gt; 10</a:t>
            </a:r>
            <a:endParaRPr sz="1100" b="1">
              <a:solidFill>
                <a:schemeClr val="dk1"/>
              </a:solidFill>
            </a:endParaRPr>
          </a:p>
          <a:p>
            <a:pPr marL="457200" lvl="0" indent="-298450" algn="l" rtl="0">
              <a:lnSpc>
                <a:spcPct val="115000"/>
              </a:lnSpc>
              <a:spcBef>
                <a:spcPts val="0"/>
              </a:spcBef>
              <a:spcAft>
                <a:spcPts val="0"/>
              </a:spcAft>
              <a:buClr>
                <a:schemeClr val="dk1"/>
              </a:buClr>
              <a:buSzPts val="1100"/>
              <a:buChar char="●"/>
            </a:pPr>
            <a:r>
              <a:rPr lang="en-GB" sz="1100" b="1">
                <a:solidFill>
                  <a:schemeClr val="dk1"/>
                </a:solidFill>
              </a:rPr>
              <a:t>Edit Flag = is_edited = No</a:t>
            </a:r>
            <a:endParaRPr sz="1100" b="1">
              <a:solidFill>
                <a:schemeClr val="dk1"/>
              </a:solidFill>
            </a:endParaRPr>
          </a:p>
          <a:p>
            <a:pPr marL="0" lvl="0" indent="0" algn="l" rtl="0">
              <a:lnSpc>
                <a:spcPct val="115000"/>
              </a:lnSpc>
              <a:spcBef>
                <a:spcPts val="1200"/>
              </a:spcBef>
              <a:spcAft>
                <a:spcPts val="0"/>
              </a:spcAft>
              <a:buNone/>
            </a:pPr>
            <a:endParaRPr sz="1100">
              <a:solidFill>
                <a:schemeClr val="dk1"/>
              </a:solidFill>
            </a:endParaRPr>
          </a:p>
          <a:p>
            <a:pPr marL="0" lvl="0" indent="0" algn="l" rtl="0">
              <a:lnSpc>
                <a:spcPct val="115000"/>
              </a:lnSpc>
              <a:spcBef>
                <a:spcPts val="1200"/>
              </a:spcBef>
              <a:spcAft>
                <a:spcPts val="0"/>
              </a:spcAft>
              <a:buNone/>
            </a:pPr>
            <a:r>
              <a:rPr lang="en-GB" sz="1100" b="1">
                <a:solidFill>
                  <a:schemeClr val="dk1"/>
                </a:solidFill>
              </a:rPr>
              <a:t>Flag a task if two or more conditions are true:</a:t>
            </a:r>
            <a:endParaRPr sz="1100"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GB" sz="1100">
                <a:solidFill>
                  <a:schemeClr val="dk1"/>
                </a:solidFill>
              </a:rPr>
              <a:t>Listen Ratio &lt; 0.8</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GB" sz="1100">
                <a:solidFill>
                  <a:schemeClr val="dk1"/>
                </a:solidFill>
              </a:rPr>
              <a:t>Similarity Score &gt; 98%</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GB" sz="1100">
                <a:solidFill>
                  <a:schemeClr val="dk1"/>
                </a:solidFill>
              </a:rPr>
              <a:t>Speed Flag = true</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GB" sz="1100">
                <a:solidFill>
                  <a:schemeClr val="dk1"/>
                </a:solidFill>
              </a:rPr>
              <a:t>Edit Flag = true AND Similarity &gt; 95%</a:t>
            </a:r>
            <a:endParaRPr sz="1100">
              <a:solidFill>
                <a:schemeClr val="dk1"/>
              </a:solidFill>
            </a:endParaRPr>
          </a:p>
          <a:p>
            <a:pPr marL="0" lvl="0" indent="0" algn="l" rtl="0">
              <a:lnSpc>
                <a:spcPct val="115000"/>
              </a:lnSpc>
              <a:spcBef>
                <a:spcPts val="1200"/>
              </a:spcBef>
              <a:spcAft>
                <a:spcPts val="0"/>
              </a:spcAft>
              <a:buNone/>
            </a:pPr>
            <a:r>
              <a:rPr lang="en-GB" sz="1100">
                <a:solidFill>
                  <a:schemeClr val="dk1"/>
                </a:solidFill>
              </a:rPr>
              <a:t>Flagged tasks are held from payment and added to a priority human review queue. The contributor sees no disruption and continues working normally. This stage generates zero visible false positives.</a:t>
            </a:r>
            <a:endParaRPr sz="1100">
              <a:solidFill>
                <a:schemeClr val="dk1"/>
              </a:solidFill>
            </a:endParaRPr>
          </a:p>
          <a:p>
            <a:pPr marL="0" lvl="0" indent="0" algn="l" rtl="0">
              <a:lnSpc>
                <a:spcPct val="115000"/>
              </a:lnSpc>
              <a:spcBef>
                <a:spcPts val="1200"/>
              </a:spcBef>
              <a:spcAft>
                <a:spcPts val="1200"/>
              </a:spcAft>
              <a:buClr>
                <a:schemeClr val="dk1"/>
              </a:buClr>
              <a:buSzPts val="1100"/>
              <a:buFont typeface="Arial"/>
              <a:buNone/>
            </a:pPr>
            <a:endParaRPr sz="1100">
              <a:solidFill>
                <a:schemeClr val="dk1"/>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63"/>
          <p:cNvSpPr txBox="1">
            <a:spLocks noGrp="1"/>
          </p:cNvSpPr>
          <p:nvPr>
            <p:ph type="body" idx="1"/>
          </p:nvPr>
        </p:nvSpPr>
        <p:spPr>
          <a:xfrm>
            <a:off x="311700" y="175600"/>
            <a:ext cx="8520600" cy="4393200"/>
          </a:xfrm>
          <a:prstGeom prst="rect">
            <a:avLst/>
          </a:prstGeom>
        </p:spPr>
        <p:txBody>
          <a:bodyPr spcFirstLastPara="1" wrap="square" lIns="91425" tIns="91425" rIns="91425" bIns="91425" anchor="t" anchorCtr="0">
            <a:normAutofit/>
          </a:bodyPr>
          <a:lstStyle/>
          <a:p>
            <a:pPr marL="0" lvl="0" indent="0" algn="ctr" rtl="0">
              <a:spcBef>
                <a:spcPts val="1800"/>
              </a:spcBef>
              <a:spcAft>
                <a:spcPts val="0"/>
              </a:spcAft>
              <a:buNone/>
            </a:pPr>
            <a:r>
              <a:rPr lang="en-GB" sz="1700" b="1" u="sng">
                <a:solidFill>
                  <a:schemeClr val="dk1"/>
                </a:solidFill>
              </a:rPr>
              <a:t>Step 2: Three-Stage Response System</a:t>
            </a:r>
            <a:endParaRPr sz="1700" b="1" u="sng">
              <a:solidFill>
                <a:schemeClr val="dk1"/>
              </a:solidFill>
            </a:endParaRPr>
          </a:p>
          <a:p>
            <a:pPr marL="0" lvl="0" indent="0" algn="ctr" rtl="0">
              <a:spcBef>
                <a:spcPts val="1800"/>
              </a:spcBef>
              <a:spcAft>
                <a:spcPts val="0"/>
              </a:spcAft>
              <a:buClr>
                <a:schemeClr val="dk1"/>
              </a:buClr>
              <a:buSzPts val="1100"/>
              <a:buFont typeface="Arial"/>
              <a:buNone/>
            </a:pPr>
            <a:endParaRPr sz="1700" b="1" u="sng">
              <a:solidFill>
                <a:schemeClr val="dk1"/>
              </a:solidFill>
            </a:endParaRPr>
          </a:p>
          <a:p>
            <a:pPr marL="0" lvl="0" indent="0" algn="l" rtl="0">
              <a:spcBef>
                <a:spcPts val="1400"/>
              </a:spcBef>
              <a:spcAft>
                <a:spcPts val="0"/>
              </a:spcAft>
              <a:buClr>
                <a:schemeClr val="dk1"/>
              </a:buClr>
              <a:buSzPts val="1100"/>
              <a:buFont typeface="Arial"/>
              <a:buNone/>
            </a:pPr>
            <a:r>
              <a:rPr lang="en-GB" sz="1300" b="1">
                <a:solidFill>
                  <a:schemeClr val="dk1"/>
                </a:solidFill>
              </a:rPr>
              <a:t> Stage 2 — Warning (Quality Score drops below 65)</a:t>
            </a:r>
            <a:endParaRPr sz="1300" b="1">
              <a:solidFill>
                <a:schemeClr val="dk1"/>
              </a:solidFill>
            </a:endParaRPr>
          </a:p>
          <a:p>
            <a:pPr marL="0" lvl="0" indent="0" algn="l" rtl="0">
              <a:spcBef>
                <a:spcPts val="1200"/>
              </a:spcBef>
              <a:spcAft>
                <a:spcPts val="0"/>
              </a:spcAft>
              <a:buClr>
                <a:schemeClr val="dk1"/>
              </a:buClr>
              <a:buSzPts val="1100"/>
              <a:buFont typeface="Arial"/>
              <a:buNone/>
            </a:pPr>
            <a:r>
              <a:rPr lang="en-GB" sz="1100">
                <a:solidFill>
                  <a:schemeClr val="dk1"/>
                </a:solidFill>
              </a:rPr>
              <a:t>Triggered when any two of the following persist across 10+ tasks:</a:t>
            </a:r>
            <a:endParaRPr sz="1100">
              <a:solidFill>
                <a:schemeClr val="dk1"/>
              </a:solidFill>
            </a:endParaRPr>
          </a:p>
          <a:p>
            <a:pPr marL="457200" lvl="0" indent="-298450" algn="l" rtl="0">
              <a:spcBef>
                <a:spcPts val="1200"/>
              </a:spcBef>
              <a:spcAft>
                <a:spcPts val="0"/>
              </a:spcAft>
              <a:buClr>
                <a:schemeClr val="dk1"/>
              </a:buClr>
              <a:buSzPts val="1100"/>
              <a:buChar char="●"/>
            </a:pPr>
            <a:r>
              <a:rPr lang="en-GB" sz="1100" b="1">
                <a:solidFill>
                  <a:schemeClr val="dk1"/>
                </a:solidFill>
              </a:rPr>
              <a:t>Avg Listen Ratio &lt; 1.1</a:t>
            </a:r>
            <a:endParaRPr sz="1100" b="1">
              <a:solidFill>
                <a:schemeClr val="dk1"/>
              </a:solidFill>
            </a:endParaRPr>
          </a:p>
          <a:p>
            <a:pPr marL="457200" lvl="0" indent="-298450" algn="l" rtl="0">
              <a:spcBef>
                <a:spcPts val="0"/>
              </a:spcBef>
              <a:spcAft>
                <a:spcPts val="0"/>
              </a:spcAft>
              <a:buClr>
                <a:schemeClr val="dk1"/>
              </a:buClr>
              <a:buSzPts val="1100"/>
              <a:buChar char="●"/>
            </a:pPr>
            <a:r>
              <a:rPr lang="en-GB" sz="1100" b="1">
                <a:solidFill>
                  <a:schemeClr val="dk1"/>
                </a:solidFill>
              </a:rPr>
              <a:t>Avg Text Similarity to Whisper &gt; 95%</a:t>
            </a:r>
            <a:endParaRPr sz="1100" b="1">
              <a:solidFill>
                <a:schemeClr val="dk1"/>
              </a:solidFill>
            </a:endParaRPr>
          </a:p>
          <a:p>
            <a:pPr marL="457200" lvl="0" indent="-298450" algn="l" rtl="0">
              <a:spcBef>
                <a:spcPts val="0"/>
              </a:spcBef>
              <a:spcAft>
                <a:spcPts val="0"/>
              </a:spcAft>
              <a:buClr>
                <a:schemeClr val="dk1"/>
              </a:buClr>
              <a:buSzPts val="1100"/>
              <a:buChar char="●"/>
            </a:pPr>
            <a:r>
              <a:rPr lang="en-GB" sz="1100" b="1">
                <a:solidFill>
                  <a:schemeClr val="dk1"/>
                </a:solidFill>
              </a:rPr>
              <a:t>Edit Rate &lt; 8%</a:t>
            </a:r>
            <a:endParaRPr sz="1100" b="1">
              <a:solidFill>
                <a:schemeClr val="dk1"/>
              </a:solidFill>
            </a:endParaRPr>
          </a:p>
          <a:p>
            <a:pPr marL="457200" lvl="0" indent="-298450" algn="l" rtl="0">
              <a:spcBef>
                <a:spcPts val="0"/>
              </a:spcBef>
              <a:spcAft>
                <a:spcPts val="0"/>
              </a:spcAft>
              <a:buClr>
                <a:schemeClr val="dk1"/>
              </a:buClr>
              <a:buSzPts val="1100"/>
              <a:buChar char="●"/>
            </a:pPr>
            <a:r>
              <a:rPr lang="en-GB" sz="1100" b="1">
                <a:solidFill>
                  <a:schemeClr val="dk1"/>
                </a:solidFill>
              </a:rPr>
              <a:t>CPS &gt; 10 on more than 25% of tasks</a:t>
            </a:r>
            <a:endParaRPr sz="1100" b="1">
              <a:solidFill>
                <a:schemeClr val="dk1"/>
              </a:solidFill>
            </a:endParaRPr>
          </a:p>
          <a:p>
            <a:pPr marL="0" lvl="0" indent="0" algn="l" rtl="0">
              <a:spcBef>
                <a:spcPts val="1200"/>
              </a:spcBef>
              <a:spcAft>
                <a:spcPts val="0"/>
              </a:spcAft>
              <a:buNone/>
            </a:pPr>
            <a:r>
              <a:rPr lang="en-GB" sz="1100" b="1">
                <a:solidFill>
                  <a:schemeClr val="dk1"/>
                </a:solidFill>
              </a:rPr>
              <a:t>Action On warning:</a:t>
            </a:r>
            <a:r>
              <a:rPr lang="en-GB" sz="1100">
                <a:solidFill>
                  <a:schemeClr val="dk1"/>
                </a:solidFill>
              </a:rPr>
              <a:t> Contributor sees an in-app message — </a:t>
            </a:r>
            <a:r>
              <a:rPr lang="en-GB" sz="1100" i="1">
                <a:solidFill>
                  <a:schemeClr val="dk1"/>
                </a:solidFill>
              </a:rPr>
              <a:t>"We noticed some submissions may not meet quality standards. Please ensure you're listening to the full audio before submitting."</a:t>
            </a:r>
            <a:r>
              <a:rPr lang="en-GB" sz="1100">
                <a:solidFill>
                  <a:schemeClr val="dk1"/>
                </a:solidFill>
              </a:rPr>
              <a:t> Their next 5 tasks go into mandatory human review regardless of content.</a:t>
            </a:r>
            <a:endParaRPr sz="1100">
              <a:solidFill>
                <a:schemeClr val="dk1"/>
              </a:solidFill>
            </a:endParaRPr>
          </a:p>
          <a:p>
            <a:pPr marL="457200" lvl="0" indent="-298450" algn="l" rtl="0">
              <a:spcBef>
                <a:spcPts val="1200"/>
              </a:spcBef>
              <a:spcAft>
                <a:spcPts val="0"/>
              </a:spcAft>
              <a:buClr>
                <a:schemeClr val="dk1"/>
              </a:buClr>
              <a:buSzPts val="1100"/>
              <a:buChar char="●"/>
            </a:pPr>
            <a:r>
              <a:rPr lang="en-GB" sz="1100">
                <a:solidFill>
                  <a:schemeClr val="dk1"/>
                </a:solidFill>
              </a:rPr>
              <a:t>If 4+ of 5 pass review → warning cleared, contributor returns to normal flow</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If 3+ of 5 fail review → escalate to Stage 3</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64"/>
          <p:cNvSpPr txBox="1">
            <a:spLocks noGrp="1"/>
          </p:cNvSpPr>
          <p:nvPr>
            <p:ph type="body" idx="1"/>
          </p:nvPr>
        </p:nvSpPr>
        <p:spPr>
          <a:xfrm>
            <a:off x="138050" y="65975"/>
            <a:ext cx="8694300" cy="4503000"/>
          </a:xfrm>
          <a:prstGeom prst="rect">
            <a:avLst/>
          </a:prstGeom>
        </p:spPr>
        <p:txBody>
          <a:bodyPr spcFirstLastPara="1" wrap="square" lIns="91425" tIns="91425" rIns="91425" bIns="91425" anchor="t" anchorCtr="0">
            <a:noAutofit/>
          </a:bodyPr>
          <a:lstStyle/>
          <a:p>
            <a:pPr marL="0" lvl="0" indent="0" algn="l" rtl="0">
              <a:spcBef>
                <a:spcPts val="1400"/>
              </a:spcBef>
              <a:spcAft>
                <a:spcPts val="0"/>
              </a:spcAft>
              <a:buClr>
                <a:schemeClr val="dk1"/>
              </a:buClr>
              <a:buSzPts val="1100"/>
              <a:buFont typeface="Arial"/>
              <a:buNone/>
            </a:pPr>
            <a:r>
              <a:rPr lang="en-GB" sz="1200" b="1" u="sng">
                <a:solidFill>
                  <a:schemeClr val="dk1"/>
                </a:solidFill>
              </a:rPr>
              <a:t>Stage 3 — Account Block (All Signals Must Converge)</a:t>
            </a:r>
            <a:endParaRPr sz="1200" b="1" u="sng">
              <a:solidFill>
                <a:schemeClr val="dk1"/>
              </a:solidFill>
            </a:endParaRPr>
          </a:p>
          <a:p>
            <a:pPr marL="0" lvl="0" indent="0" algn="l" rtl="0">
              <a:spcBef>
                <a:spcPts val="1200"/>
              </a:spcBef>
              <a:spcAft>
                <a:spcPts val="0"/>
              </a:spcAft>
              <a:buClr>
                <a:schemeClr val="dk1"/>
              </a:buClr>
              <a:buSzPts val="1100"/>
              <a:buFont typeface="Arial"/>
              <a:buNone/>
            </a:pPr>
            <a:r>
              <a:rPr lang="en-GB" sz="1100">
                <a:solidFill>
                  <a:schemeClr val="dk1"/>
                </a:solidFill>
              </a:rPr>
              <a:t>A block is triggered </a:t>
            </a:r>
            <a:r>
              <a:rPr lang="en-GB" sz="1100" b="1">
                <a:solidFill>
                  <a:schemeClr val="dk1"/>
                </a:solidFill>
              </a:rPr>
              <a:t>only when all three core conditions are simultaneously met</a:t>
            </a:r>
            <a:r>
              <a:rPr lang="en-GB" sz="1100">
                <a:solidFill>
                  <a:schemeClr val="dk1"/>
                </a:solidFill>
              </a:rPr>
              <a:t> across 20+ tasks:</a:t>
            </a:r>
            <a:endParaRPr sz="1100">
              <a:solidFill>
                <a:schemeClr val="dk1"/>
              </a:solidFill>
            </a:endParaRPr>
          </a:p>
          <a:p>
            <a:pPr marL="0" lvl="0" indent="0" algn="l" rtl="0">
              <a:spcBef>
                <a:spcPts val="1200"/>
              </a:spcBef>
              <a:spcAft>
                <a:spcPts val="0"/>
              </a:spcAft>
              <a:buNone/>
            </a:pPr>
            <a:r>
              <a:rPr lang="en-GB" sz="1100" b="1">
                <a:solidFill>
                  <a:schemeClr val="dk1"/>
                </a:solidFill>
              </a:rPr>
              <a:t>Avg Listen Ratio &lt; 0.8</a:t>
            </a:r>
            <a:endParaRPr sz="1100" b="1">
              <a:solidFill>
                <a:schemeClr val="dk1"/>
              </a:solidFill>
            </a:endParaRPr>
          </a:p>
          <a:p>
            <a:pPr marL="0" lvl="0" indent="0" algn="l" rtl="0">
              <a:spcBef>
                <a:spcPts val="1200"/>
              </a:spcBef>
              <a:spcAft>
                <a:spcPts val="0"/>
              </a:spcAft>
              <a:buNone/>
            </a:pPr>
            <a:r>
              <a:rPr lang="en-GB" sz="1100" b="1">
                <a:solidFill>
                  <a:schemeClr val="dk1"/>
                </a:solidFill>
              </a:rPr>
              <a:t>AND Avg Similarity Score &gt; 95%</a:t>
            </a:r>
            <a:endParaRPr sz="1100" b="1">
              <a:solidFill>
                <a:schemeClr val="dk1"/>
              </a:solidFill>
            </a:endParaRPr>
          </a:p>
          <a:p>
            <a:pPr marL="0" lvl="0" indent="0" algn="l" rtl="0">
              <a:spcBef>
                <a:spcPts val="1200"/>
              </a:spcBef>
              <a:spcAft>
                <a:spcPts val="0"/>
              </a:spcAft>
              <a:buNone/>
            </a:pPr>
            <a:r>
              <a:rPr lang="en-GB" sz="1100" b="1">
                <a:solidFill>
                  <a:schemeClr val="dk1"/>
                </a:solidFill>
              </a:rPr>
              <a:t>AND Edit Rate &lt; 5%</a:t>
            </a:r>
            <a:endParaRPr sz="1100" b="1">
              <a:solidFill>
                <a:schemeClr val="dk1"/>
              </a:solidFill>
            </a:endParaRPr>
          </a:p>
          <a:p>
            <a:pPr marL="0" lvl="0" indent="0" algn="l" rtl="0">
              <a:spcBef>
                <a:spcPts val="1200"/>
              </a:spcBef>
              <a:spcAft>
                <a:spcPts val="0"/>
              </a:spcAft>
              <a:buClr>
                <a:schemeClr val="dk1"/>
              </a:buClr>
              <a:buSzPts val="1100"/>
              <a:buFont typeface="Arial"/>
              <a:buNone/>
            </a:pPr>
            <a:r>
              <a:rPr lang="en-GB" sz="1100" b="1">
                <a:solidFill>
                  <a:schemeClr val="dk1"/>
                </a:solidFill>
              </a:rPr>
              <a:t>AND Suspicious Task Rate &gt; 40%</a:t>
            </a:r>
            <a:endParaRPr sz="1100" b="1">
              <a:solidFill>
                <a:schemeClr val="dk1"/>
              </a:solidFill>
            </a:endParaRPr>
          </a:p>
          <a:p>
            <a:pPr marL="0" lvl="0" indent="0" algn="l" rtl="0">
              <a:spcBef>
                <a:spcPts val="1200"/>
              </a:spcBef>
              <a:spcAft>
                <a:spcPts val="0"/>
              </a:spcAft>
              <a:buClr>
                <a:schemeClr val="dk1"/>
              </a:buClr>
              <a:buSzPts val="1100"/>
              <a:buFont typeface="Arial"/>
              <a:buNone/>
            </a:pPr>
            <a:r>
              <a:rPr lang="en-GB" sz="1100">
                <a:solidFill>
                  <a:schemeClr val="dk1"/>
                </a:solidFill>
              </a:rPr>
              <a:t>. A contributor who is fast but edits meaningfully is probably just efficient. A contributor who rarely edits but takes their time probably got clean audio. Only when all signals converge does the evidence justify blocking.</a:t>
            </a:r>
            <a:endParaRPr sz="1100">
              <a:solidFill>
                <a:schemeClr val="dk1"/>
              </a:solidFill>
            </a:endParaRPr>
          </a:p>
          <a:p>
            <a:pPr marL="0" lvl="0" indent="0" algn="l" rtl="0">
              <a:spcBef>
                <a:spcPts val="1200"/>
              </a:spcBef>
              <a:spcAft>
                <a:spcPts val="0"/>
              </a:spcAft>
              <a:buClr>
                <a:schemeClr val="dk1"/>
              </a:buClr>
              <a:buSzPts val="1100"/>
              <a:buFont typeface="Arial"/>
              <a:buNone/>
            </a:pPr>
            <a:r>
              <a:rPr lang="en-GB" sz="1100" b="1">
                <a:solidFill>
                  <a:schemeClr val="dk1"/>
                </a:solidFill>
              </a:rPr>
              <a:t>On block:</a:t>
            </a:r>
            <a:endParaRPr sz="1100" b="1">
              <a:solidFill>
                <a:schemeClr val="dk1"/>
              </a:solidFill>
            </a:endParaRPr>
          </a:p>
          <a:p>
            <a:pPr marL="457200" lvl="0" indent="-298450" algn="l" rtl="0">
              <a:spcBef>
                <a:spcPts val="1200"/>
              </a:spcBef>
              <a:spcAft>
                <a:spcPts val="0"/>
              </a:spcAft>
              <a:buClr>
                <a:schemeClr val="dk1"/>
              </a:buClr>
              <a:buSzPts val="1100"/>
              <a:buChar char="●"/>
            </a:pPr>
            <a:r>
              <a:rPr lang="en-GB" sz="1100">
                <a:solidFill>
                  <a:schemeClr val="dk1"/>
                </a:solidFill>
              </a:rPr>
              <a:t>Account suspended (not permanently deleted)</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Earnings from flagged tasks withheld pending review</a:t>
            </a:r>
            <a:endParaRPr sz="1100">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Contributor sees: </a:t>
            </a:r>
            <a:r>
              <a:rPr lang="en-GB" sz="1100" i="1">
                <a:solidFill>
                  <a:schemeClr val="dk1"/>
                </a:solidFill>
              </a:rPr>
              <a:t>"Your account has been temporarily suspended due to quality concerns. Contact support to appeal."</a:t>
            </a:r>
            <a:endParaRPr sz="1100" i="1">
              <a:solidFill>
                <a:schemeClr val="dk1"/>
              </a:solidFill>
            </a:endParaRPr>
          </a:p>
          <a:p>
            <a:pPr marL="457200" lvl="0" indent="-298450" algn="l" rtl="0">
              <a:spcBef>
                <a:spcPts val="0"/>
              </a:spcBef>
              <a:spcAft>
                <a:spcPts val="0"/>
              </a:spcAft>
              <a:buClr>
                <a:schemeClr val="dk1"/>
              </a:buClr>
              <a:buSzPts val="1100"/>
              <a:buChar char="●"/>
            </a:pPr>
            <a:r>
              <a:rPr lang="en-GB" sz="1100">
                <a:solidFill>
                  <a:schemeClr val="dk1"/>
                </a:solidFill>
              </a:rPr>
              <a:t>Ops team notified to complete human review within 48 hours before suspension becomes permanent</a:t>
            </a:r>
            <a:endParaRPr sz="1100">
              <a:solidFill>
                <a:schemeClr val="dk1"/>
              </a:solidFill>
            </a:endParaRPr>
          </a:p>
          <a:p>
            <a:pPr marL="0" lvl="0" indent="0" algn="l" rtl="0">
              <a:spcBef>
                <a:spcPts val="1200"/>
              </a:spcBef>
              <a:spcAft>
                <a:spcPts val="0"/>
              </a:spcAft>
              <a:buClr>
                <a:schemeClr val="dk1"/>
              </a:buClr>
              <a:buSzPts val="1100"/>
              <a:buFont typeface="Arial"/>
              <a:buNone/>
            </a:pPr>
            <a:endParaRPr sz="1100">
              <a:solidFill>
                <a:schemeClr val="dk1"/>
              </a:solidFill>
            </a:endParaRPr>
          </a:p>
          <a:p>
            <a:pPr marL="0" lvl="0" indent="0" algn="l" rtl="0">
              <a:spcBef>
                <a:spcPts val="1200"/>
              </a:spcBef>
              <a:spcAft>
                <a:spcPts val="0"/>
              </a:spcAft>
              <a:buClr>
                <a:schemeClr val="dk1"/>
              </a:buClr>
              <a:buSzPts val="1100"/>
              <a:buFont typeface="Arial"/>
              <a:buNone/>
            </a:pPr>
            <a:endParaRPr sz="1100">
              <a:solidFill>
                <a:schemeClr val="dk1"/>
              </a:solidFill>
            </a:endParaRPr>
          </a:p>
          <a:p>
            <a:pPr marL="0" lvl="0" indent="0" algn="l" rtl="0">
              <a:spcBef>
                <a:spcPts val="1200"/>
              </a:spcBef>
              <a:spcAft>
                <a:spcPts val="1200"/>
              </a:spcAft>
              <a:buNone/>
            </a:pPr>
            <a:endParaRPr sz="1100">
              <a:solidFill>
                <a:schemeClr val="dk1"/>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p65"/>
          <p:cNvSpPr txBox="1">
            <a:spLocks noGrp="1"/>
          </p:cNvSpPr>
          <p:nvPr>
            <p:ph type="body" idx="1"/>
          </p:nvPr>
        </p:nvSpPr>
        <p:spPr>
          <a:xfrm>
            <a:off x="311700" y="175600"/>
            <a:ext cx="8520600" cy="4393200"/>
          </a:xfrm>
          <a:prstGeom prst="rect">
            <a:avLst/>
          </a:prstGeom>
        </p:spPr>
        <p:txBody>
          <a:bodyPr spcFirstLastPara="1" wrap="square" lIns="91425" tIns="91425" rIns="91425" bIns="91425" anchor="t" anchorCtr="0">
            <a:normAutofit/>
          </a:bodyPr>
          <a:lstStyle/>
          <a:p>
            <a:pPr marL="0" lvl="0" indent="0" algn="l" rtl="0">
              <a:spcBef>
                <a:spcPts val="1800"/>
              </a:spcBef>
              <a:spcAft>
                <a:spcPts val="0"/>
              </a:spcAft>
              <a:buClr>
                <a:schemeClr val="dk1"/>
              </a:buClr>
              <a:buSzPts val="1100"/>
              <a:buFont typeface="Arial"/>
              <a:buNone/>
            </a:pPr>
            <a:r>
              <a:rPr lang="en-GB" sz="1700" b="1">
                <a:solidFill>
                  <a:schemeClr val="dk1"/>
                </a:solidFill>
              </a:rPr>
              <a:t>Step 3: Admin Dashboard</a:t>
            </a:r>
            <a:endParaRPr sz="1700" b="1">
              <a:solidFill>
                <a:schemeClr val="dk1"/>
              </a:solidFill>
            </a:endParaRPr>
          </a:p>
          <a:p>
            <a:pPr marL="0" lvl="0" indent="0" algn="l" rtl="0">
              <a:spcBef>
                <a:spcPts val="1200"/>
              </a:spcBef>
              <a:spcAft>
                <a:spcPts val="0"/>
              </a:spcAft>
              <a:buNone/>
            </a:pPr>
            <a:r>
              <a:rPr lang="en-GB" sz="1100">
                <a:solidFill>
                  <a:schemeClr val="dk1"/>
                </a:solidFill>
              </a:rPr>
              <a:t>The system surfaces the following for internal ops teams ( ref images added earlier) </a:t>
            </a:r>
            <a:r>
              <a:rPr lang="en-GB" sz="1100" b="1">
                <a:solidFill>
                  <a:schemeClr val="dk1"/>
                </a:solidFill>
              </a:rPr>
              <a:t>:</a:t>
            </a:r>
            <a:endParaRPr sz="1100" b="1">
              <a:solidFill>
                <a:schemeClr val="dk1"/>
              </a:solidFill>
            </a:endParaRPr>
          </a:p>
          <a:p>
            <a:pPr marL="457200" lvl="0" indent="-298450" algn="l" rtl="0">
              <a:spcBef>
                <a:spcPts val="1200"/>
              </a:spcBef>
              <a:spcAft>
                <a:spcPts val="0"/>
              </a:spcAft>
              <a:buClr>
                <a:schemeClr val="dk1"/>
              </a:buClr>
              <a:buSzPts val="1100"/>
              <a:buChar char="●"/>
            </a:pPr>
            <a:r>
              <a:rPr lang="en-GB" sz="1100" b="1">
                <a:solidFill>
                  <a:schemeClr val="dk1"/>
                </a:solidFill>
              </a:rPr>
              <a:t>Contributor quality score</a:t>
            </a:r>
            <a:r>
              <a:rPr lang="en-GB" sz="1100">
                <a:solidFill>
                  <a:schemeClr val="dk1"/>
                </a:solidFill>
              </a:rPr>
              <a:t> — current rolling score (0–100) per user, color-coded by risk tier</a:t>
            </a:r>
            <a:endParaRPr sz="1100">
              <a:solidFill>
                <a:schemeClr val="dk1"/>
              </a:solidFill>
            </a:endParaRPr>
          </a:p>
          <a:p>
            <a:pPr marL="457200" lvl="0" indent="-298450" algn="l" rtl="0">
              <a:spcBef>
                <a:spcPts val="0"/>
              </a:spcBef>
              <a:spcAft>
                <a:spcPts val="0"/>
              </a:spcAft>
              <a:buClr>
                <a:schemeClr val="dk1"/>
              </a:buClr>
              <a:buSzPts val="1100"/>
              <a:buChar char="●"/>
            </a:pPr>
            <a:r>
              <a:rPr lang="en-GB" sz="1100" b="1">
                <a:solidFill>
                  <a:schemeClr val="dk1"/>
                </a:solidFill>
              </a:rPr>
              <a:t>Flagged users list</a:t>
            </a:r>
            <a:r>
              <a:rPr lang="en-GB" sz="1100">
                <a:solidFill>
                  <a:schemeClr val="dk1"/>
                </a:solidFill>
              </a:rPr>
              <a:t> — sorted by severity, with breakdown of which signals triggered</a:t>
            </a:r>
            <a:endParaRPr sz="1100">
              <a:solidFill>
                <a:schemeClr val="dk1"/>
              </a:solidFill>
            </a:endParaRPr>
          </a:p>
          <a:p>
            <a:pPr marL="457200" lvl="0" indent="-298450" algn="l" rtl="0">
              <a:spcBef>
                <a:spcPts val="0"/>
              </a:spcBef>
              <a:spcAft>
                <a:spcPts val="0"/>
              </a:spcAft>
              <a:buClr>
                <a:schemeClr val="dk1"/>
              </a:buClr>
              <a:buSzPts val="1100"/>
              <a:buChar char="●"/>
            </a:pPr>
            <a:r>
              <a:rPr lang="en-GB" sz="1100" b="1">
                <a:solidFill>
                  <a:schemeClr val="dk1"/>
                </a:solidFill>
              </a:rPr>
              <a:t>Behavior trend charts</a:t>
            </a:r>
            <a:r>
              <a:rPr lang="en-GB" sz="1100">
                <a:solidFill>
                  <a:schemeClr val="dk1"/>
                </a:solidFill>
              </a:rPr>
              <a:t> — Avg Listen Ratio, Edit Rate, Similarity Score, and CPS distribution across the contributor population over time</a:t>
            </a:r>
            <a:endParaRPr sz="1100">
              <a:solidFill>
                <a:schemeClr val="dk1"/>
              </a:solidFill>
            </a:endParaRPr>
          </a:p>
          <a:p>
            <a:pPr marL="457200" lvl="0" indent="-298450" algn="l" rtl="0">
              <a:spcBef>
                <a:spcPts val="0"/>
              </a:spcBef>
              <a:spcAft>
                <a:spcPts val="0"/>
              </a:spcAft>
              <a:buClr>
                <a:schemeClr val="dk1"/>
              </a:buClr>
              <a:buSzPts val="1100"/>
              <a:buChar char="●"/>
            </a:pPr>
            <a:r>
              <a:rPr lang="en-GB" sz="1100" b="1">
                <a:solidFill>
                  <a:schemeClr val="dk1"/>
                </a:solidFill>
              </a:rPr>
              <a:t>Review queue</a:t>
            </a:r>
            <a:r>
              <a:rPr lang="en-GB" sz="1100">
                <a:solidFill>
                  <a:schemeClr val="dk1"/>
                </a:solidFill>
              </a:rPr>
              <a:t> — tasks awaiting human verification, prioritized by flag severity and time in queue</a:t>
            </a:r>
            <a:endParaRPr sz="1100">
              <a:solidFill>
                <a:schemeClr val="dk1"/>
              </a:solidFill>
            </a:endParaRPr>
          </a:p>
          <a:p>
            <a:pPr marL="0" lvl="0" indent="0" algn="l" rtl="0">
              <a:spcBef>
                <a:spcPts val="1200"/>
              </a:spcBef>
              <a:spcAft>
                <a:spcPts val="0"/>
              </a:spcAft>
              <a:buNone/>
            </a:pPr>
            <a:r>
              <a:rPr lang="en-GB" sz="1100">
                <a:solidFill>
                  <a:schemeClr val="dk1"/>
                </a:solidFill>
              </a:rPr>
              <a:t>The dashboard serves two functions: operational (review flagged cases) and strategic (identify if thresholds need recalibration as contributor behavior or Whisper accuracy evolves).</a:t>
            </a:r>
            <a:endParaRPr sz="1100">
              <a:solidFill>
                <a:schemeClr val="dk1"/>
              </a:solidFill>
            </a:endParaRPr>
          </a:p>
          <a:p>
            <a:pPr marL="0" lvl="0" indent="0" algn="l" rtl="0">
              <a:spcBef>
                <a:spcPts val="1200"/>
              </a:spcBef>
              <a:spcAft>
                <a:spcPts val="0"/>
              </a:spcAft>
              <a:buClr>
                <a:schemeClr val="dk1"/>
              </a:buClr>
              <a:buSzPts val="1100"/>
              <a:buFont typeface="Arial"/>
              <a:buNone/>
            </a:pPr>
            <a:endParaRPr sz="1100">
              <a:solidFill>
                <a:schemeClr val="dk1"/>
              </a:solidFill>
            </a:endParaRPr>
          </a:p>
          <a:p>
            <a:pPr marL="0" lvl="0" indent="0" algn="l" rtl="0">
              <a:spcBef>
                <a:spcPts val="1200"/>
              </a:spcBef>
              <a:spcAft>
                <a:spcPts val="1200"/>
              </a:spcAft>
              <a:buNone/>
            </a:pPr>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sp>
        <p:nvSpPr>
          <p:cNvPr id="389" name="Google Shape;389;p66"/>
          <p:cNvSpPr txBox="1"/>
          <p:nvPr/>
        </p:nvSpPr>
        <p:spPr>
          <a:xfrm>
            <a:off x="156325" y="175600"/>
            <a:ext cx="8770500" cy="4833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800"/>
              </a:spcBef>
              <a:spcAft>
                <a:spcPts val="0"/>
              </a:spcAft>
              <a:buClr>
                <a:schemeClr val="dk1"/>
              </a:buClr>
              <a:buSzPts val="1100"/>
              <a:buFont typeface="Arial"/>
              <a:buNone/>
            </a:pPr>
            <a:r>
              <a:rPr lang="en-GB" sz="1700" b="1">
                <a:solidFill>
                  <a:schemeClr val="dk1"/>
                </a:solidFill>
              </a:rPr>
              <a:t>Step 4: Safeguards Against False Positives</a:t>
            </a:r>
            <a:endParaRPr sz="17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GB" sz="1100">
                <a:solidFill>
                  <a:schemeClr val="dk1"/>
                </a:solidFill>
              </a:rPr>
              <a:t>Given that this system affects contributor livelihoods, fairness is a hard requirement, not a nice-to-have.</a:t>
            </a:r>
            <a:endParaRPr sz="11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GB" sz="1100" b="1">
                <a:solidFill>
                  <a:schemeClr val="dk1"/>
                </a:solidFill>
              </a:rPr>
              <a:t>Minimum task count:</a:t>
            </a:r>
            <a:r>
              <a:rPr lang="en-GB" sz="1100">
                <a:solidFill>
                  <a:schemeClr val="dk1"/>
                </a:solidFill>
              </a:rPr>
              <a:t> No warning or block triggers before 15 completed tasks. New contributors should not be penalized on insufficient data.</a:t>
            </a:r>
            <a:endParaRPr sz="11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GB" sz="1100" b="1">
                <a:solidFill>
                  <a:schemeClr val="dk1"/>
                </a:solidFill>
              </a:rPr>
              <a:t>Onboarding exclusion:</a:t>
            </a:r>
            <a:r>
              <a:rPr lang="en-GB" sz="1100">
                <a:solidFill>
                  <a:schemeClr val="dk1"/>
                </a:solidFill>
              </a:rPr>
              <a:t> First 5 tasks — typically clean, controlled training samples — are excluded from all score calculations. These clips are designed to be easier and would artificially inflate similarity scores.</a:t>
            </a:r>
            <a:endParaRPr sz="11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GB" sz="1100" b="1">
                <a:solidFill>
                  <a:schemeClr val="dk1"/>
                </a:solidFill>
              </a:rPr>
              <a:t>Normalization:</a:t>
            </a:r>
            <a:r>
              <a:rPr lang="en-GB" sz="1100">
                <a:solidFill>
                  <a:schemeClr val="dk1"/>
                </a:solidFill>
              </a:rPr>
              <a:t> All metrics are normalized by audio length and, where possible, language complexity. A 90-second clip in Bhojpuri and a 10-second clip in standard Hindi should not be evaluated on the same raw thresholds.</a:t>
            </a:r>
            <a:endParaRPr sz="11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GB" sz="1100" b="1">
                <a:solidFill>
                  <a:schemeClr val="dk1"/>
                </a:solidFill>
              </a:rPr>
              <a:t>Never block on a single metric:</a:t>
            </a:r>
            <a:r>
              <a:rPr lang="en-GB" sz="1100">
                <a:solidFill>
                  <a:schemeClr val="dk1"/>
                </a:solidFill>
              </a:rPr>
              <a:t> No individual signal — however extreme — triggers a block without corroboration from at least one other signal, except for the three hard block rules listed above.</a:t>
            </a:r>
            <a:endParaRPr sz="11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GB" sz="1100" b="1">
                <a:solidFill>
                  <a:schemeClr val="dk1"/>
                </a:solidFill>
              </a:rPr>
              <a:t>Appeal window:</a:t>
            </a:r>
            <a:r>
              <a:rPr lang="en-GB" sz="1100">
                <a:solidFill>
                  <a:schemeClr val="dk1"/>
                </a:solidFill>
              </a:rPr>
              <a:t> Any blocked contributor can appeal within 7 days. A human reviewer samples 10 of their tasks and makes the final determination. Appeal outcomes are logged and used to recalibrate thresholds quarterly.</a:t>
            </a:r>
            <a:endParaRPr sz="1100">
              <a:solidFill>
                <a:schemeClr val="dk1"/>
              </a:solidFill>
            </a:endParaRPr>
          </a:p>
          <a:p>
            <a:pPr marL="0" lvl="0" indent="0" algn="l" rtl="0">
              <a:spcBef>
                <a:spcPts val="1200"/>
              </a:spcBef>
              <a:spcAft>
                <a:spcPts val="0"/>
              </a:spcAft>
              <a:buNone/>
            </a:pPr>
            <a:endParaRPr sz="1800">
              <a:solidFill>
                <a:schemeClr val="dk2"/>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sp>
        <p:nvSpPr>
          <p:cNvPr id="394" name="Google Shape;394;p67"/>
          <p:cNvSpPr txBox="1"/>
          <p:nvPr/>
        </p:nvSpPr>
        <p:spPr>
          <a:xfrm>
            <a:off x="294150" y="181750"/>
            <a:ext cx="8670300" cy="46425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2400"/>
              </a:spcBef>
              <a:spcAft>
                <a:spcPts val="0"/>
              </a:spcAft>
              <a:buClr>
                <a:schemeClr val="dk1"/>
              </a:buClr>
              <a:buSzPts val="1100"/>
              <a:buFont typeface="Arial"/>
              <a:buNone/>
            </a:pPr>
            <a:r>
              <a:rPr lang="en-GB" sz="2200" b="1" u="sng">
                <a:solidFill>
                  <a:schemeClr val="dk1"/>
                </a:solidFill>
              </a:rPr>
              <a:t>Task 3: Designing a System to Evaluate Voice AI Conversations</a:t>
            </a:r>
            <a:endParaRPr sz="2200" b="1" u="sng">
              <a:solidFill>
                <a:schemeClr val="dk1"/>
              </a:solidFill>
            </a:endParaRPr>
          </a:p>
          <a:p>
            <a:pPr marL="0" lvl="0" indent="0" algn="l" rtl="0">
              <a:lnSpc>
                <a:spcPct val="115000"/>
              </a:lnSpc>
              <a:spcBef>
                <a:spcPts val="1800"/>
              </a:spcBef>
              <a:spcAft>
                <a:spcPts val="0"/>
              </a:spcAft>
              <a:buClr>
                <a:schemeClr val="dk1"/>
              </a:buClr>
              <a:buSzPts val="1100"/>
              <a:buFont typeface="Arial"/>
              <a:buNone/>
            </a:pPr>
            <a:r>
              <a:rPr lang="en-GB" sz="1700" b="1">
                <a:solidFill>
                  <a:schemeClr val="dk1"/>
                </a:solidFill>
              </a:rPr>
              <a:t>Evaluation Criteria</a:t>
            </a:r>
            <a:endParaRPr sz="17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GB" sz="1100">
                <a:solidFill>
                  <a:schemeClr val="dk1"/>
                </a:solidFill>
              </a:rPr>
              <a:t>A good evaluation framework uses criteria that are non-overlapping, independently measurable, and collectively cover the full scope of what makes a Voice AI conversation successful. Four criteria meet that bar.</a:t>
            </a:r>
            <a:endParaRPr sz="2300" b="1">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n-GB" sz="1300" b="1">
                <a:solidFill>
                  <a:schemeClr val="dk1"/>
                </a:solidFill>
              </a:rPr>
              <a:t>Criterion 1: Task Completion</a:t>
            </a:r>
            <a:endParaRPr sz="1300"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GB" sz="1100" b="1">
                <a:solidFill>
                  <a:schemeClr val="dk1"/>
                </a:solidFill>
              </a:rPr>
              <a:t>Definition:</a:t>
            </a:r>
            <a:br>
              <a:rPr lang="en-GB" sz="1100" b="1">
                <a:solidFill>
                  <a:schemeClr val="dk1"/>
                </a:solidFill>
              </a:rPr>
            </a:br>
            <a:r>
              <a:rPr lang="en-GB" sz="1100">
                <a:solidFill>
                  <a:schemeClr val="dk1"/>
                </a:solidFill>
              </a:rPr>
              <a:t> Measures whether the AI successfully achieved the </a:t>
            </a:r>
            <a:r>
              <a:rPr lang="en-GB" sz="1100" b="1">
                <a:solidFill>
                  <a:schemeClr val="dk1"/>
                </a:solidFill>
              </a:rPr>
              <a:t>intended objective</a:t>
            </a:r>
            <a:r>
              <a:rPr lang="en-GB" sz="1100">
                <a:solidFill>
                  <a:schemeClr val="dk1"/>
                </a:solidFill>
              </a:rPr>
              <a:t> of the conversation (e.g., booking completed, information retrieved).</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GB" sz="1100" b="1">
                <a:solidFill>
                  <a:schemeClr val="dk1"/>
                </a:solidFill>
              </a:rPr>
              <a:t>Why it Matters:</a:t>
            </a:r>
            <a:endParaRPr sz="1100" b="1">
              <a:solidFill>
                <a:schemeClr val="dk1"/>
              </a:solidFill>
            </a:endParaRPr>
          </a:p>
          <a:p>
            <a:pPr marL="914400" lvl="1" indent="-298450" algn="l" rtl="0">
              <a:lnSpc>
                <a:spcPct val="115000"/>
              </a:lnSpc>
              <a:spcBef>
                <a:spcPts val="0"/>
              </a:spcBef>
              <a:spcAft>
                <a:spcPts val="0"/>
              </a:spcAft>
              <a:buClr>
                <a:schemeClr val="dk1"/>
              </a:buClr>
              <a:buSzPts val="1100"/>
              <a:buChar char="○"/>
            </a:pPr>
            <a:r>
              <a:rPr lang="en-GB" sz="1100">
                <a:solidFill>
                  <a:schemeClr val="dk1"/>
                </a:solidFill>
              </a:rPr>
              <a:t>Directly reflects the </a:t>
            </a:r>
            <a:r>
              <a:rPr lang="en-GB" sz="1100" b="1">
                <a:solidFill>
                  <a:schemeClr val="dk1"/>
                </a:solidFill>
              </a:rPr>
              <a:t>core purpose of the system</a:t>
            </a:r>
            <a:endParaRPr sz="1100" b="1">
              <a:solidFill>
                <a:schemeClr val="dk1"/>
              </a:solidFill>
            </a:endParaRPr>
          </a:p>
          <a:p>
            <a:pPr marL="914400" lvl="1" indent="-298450" algn="l" rtl="0">
              <a:lnSpc>
                <a:spcPct val="115000"/>
              </a:lnSpc>
              <a:spcBef>
                <a:spcPts val="0"/>
              </a:spcBef>
              <a:spcAft>
                <a:spcPts val="0"/>
              </a:spcAft>
              <a:buClr>
                <a:schemeClr val="dk1"/>
              </a:buClr>
              <a:buSzPts val="1100"/>
              <a:buChar char="○"/>
            </a:pPr>
            <a:r>
              <a:rPr lang="en-GB" sz="1100">
                <a:solidFill>
                  <a:schemeClr val="dk1"/>
                </a:solidFill>
              </a:rPr>
              <a:t>A conversation may sound natural but is ineffective if the goal is not achieved</a:t>
            </a:r>
            <a:endParaRPr sz="1100">
              <a:solidFill>
                <a:schemeClr val="dk1"/>
              </a:solidFill>
            </a:endParaRPr>
          </a:p>
          <a:p>
            <a:pPr marL="914400" lvl="1" indent="-298450" algn="l" rtl="0">
              <a:lnSpc>
                <a:spcPct val="115000"/>
              </a:lnSpc>
              <a:spcBef>
                <a:spcPts val="0"/>
              </a:spcBef>
              <a:spcAft>
                <a:spcPts val="0"/>
              </a:spcAft>
              <a:buClr>
                <a:schemeClr val="dk1"/>
              </a:buClr>
              <a:buSzPts val="1100"/>
              <a:buChar char="○"/>
            </a:pPr>
            <a:r>
              <a:rPr lang="en-GB" sz="1100">
                <a:solidFill>
                  <a:schemeClr val="dk1"/>
                </a:solidFill>
              </a:rPr>
              <a:t>Outcome is prioritized over conversational quality</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GB" sz="1100" b="1">
                <a:solidFill>
                  <a:schemeClr val="dk1"/>
                </a:solidFill>
              </a:rPr>
              <a:t>Evaluation Scale (1–5):</a:t>
            </a:r>
            <a:endParaRPr sz="1100" b="1">
              <a:solidFill>
                <a:schemeClr val="dk1"/>
              </a:solidFill>
            </a:endParaRPr>
          </a:p>
          <a:p>
            <a:pPr marL="914400" lvl="1" indent="-298450" algn="l" rtl="0">
              <a:lnSpc>
                <a:spcPct val="115000"/>
              </a:lnSpc>
              <a:spcBef>
                <a:spcPts val="0"/>
              </a:spcBef>
              <a:spcAft>
                <a:spcPts val="0"/>
              </a:spcAft>
              <a:buClr>
                <a:schemeClr val="dk1"/>
              </a:buClr>
              <a:buSzPts val="1100"/>
              <a:buChar char="○"/>
            </a:pPr>
            <a:r>
              <a:rPr lang="en-GB" sz="1100" b="1">
                <a:solidFill>
                  <a:schemeClr val="dk1"/>
                </a:solidFill>
              </a:rPr>
              <a:t>5:</a:t>
            </a:r>
            <a:r>
              <a:rPr lang="en-GB" sz="1100">
                <a:solidFill>
                  <a:schemeClr val="dk1"/>
                </a:solidFill>
              </a:rPr>
              <a:t> Task fully and correctly completed</a:t>
            </a:r>
            <a:endParaRPr sz="1100">
              <a:solidFill>
                <a:schemeClr val="dk1"/>
              </a:solidFill>
            </a:endParaRPr>
          </a:p>
          <a:p>
            <a:pPr marL="914400" lvl="1" indent="-298450" algn="l" rtl="0">
              <a:lnSpc>
                <a:spcPct val="115000"/>
              </a:lnSpc>
              <a:spcBef>
                <a:spcPts val="0"/>
              </a:spcBef>
              <a:spcAft>
                <a:spcPts val="0"/>
              </a:spcAft>
              <a:buClr>
                <a:schemeClr val="dk1"/>
              </a:buClr>
              <a:buSzPts val="1100"/>
              <a:buChar char="○"/>
            </a:pPr>
            <a:r>
              <a:rPr lang="en-GB" sz="1100" b="1">
                <a:solidFill>
                  <a:schemeClr val="dk1"/>
                </a:solidFill>
              </a:rPr>
              <a:t>3:</a:t>
            </a:r>
            <a:r>
              <a:rPr lang="en-GB" sz="1100">
                <a:solidFill>
                  <a:schemeClr val="dk1"/>
                </a:solidFill>
              </a:rPr>
              <a:t> Partially completed with minor gaps</a:t>
            </a:r>
            <a:endParaRPr sz="1100">
              <a:solidFill>
                <a:schemeClr val="dk1"/>
              </a:solidFill>
            </a:endParaRPr>
          </a:p>
          <a:p>
            <a:pPr marL="914400" lvl="1" indent="-298450" algn="l" rtl="0">
              <a:lnSpc>
                <a:spcPct val="115000"/>
              </a:lnSpc>
              <a:spcBef>
                <a:spcPts val="0"/>
              </a:spcBef>
              <a:spcAft>
                <a:spcPts val="0"/>
              </a:spcAft>
              <a:buClr>
                <a:schemeClr val="dk1"/>
              </a:buClr>
              <a:buSzPts val="1100"/>
              <a:buChar char="○"/>
            </a:pPr>
            <a:r>
              <a:rPr lang="en-GB" sz="1100" b="1">
                <a:solidFill>
                  <a:schemeClr val="dk1"/>
                </a:solidFill>
              </a:rPr>
              <a:t>1:</a:t>
            </a:r>
            <a:r>
              <a:rPr lang="en-GB" sz="1100">
                <a:solidFill>
                  <a:schemeClr val="dk1"/>
                </a:solidFill>
              </a:rPr>
              <a:t> Task not completed</a:t>
            </a:r>
            <a:endParaRPr sz="11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GB" sz="1100">
                <a:solidFill>
                  <a:schemeClr val="dk1"/>
                </a:solidFill>
              </a:rPr>
              <a:t>.Weight in final score: </a:t>
            </a:r>
            <a:r>
              <a:rPr lang="en-GB" sz="1100" b="1">
                <a:solidFill>
                  <a:schemeClr val="dk1"/>
                </a:solidFill>
              </a:rPr>
              <a:t>40%</a:t>
            </a:r>
            <a:r>
              <a:rPr lang="en-GB" sz="1100">
                <a:solidFill>
                  <a:schemeClr val="dk1"/>
                </a:solidFill>
              </a:rPr>
              <a:t> — highest weight because it directly reflects product value.</a:t>
            </a:r>
            <a:endParaRPr sz="1100">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sz="1100">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sz="1100">
              <a:solidFill>
                <a:schemeClr val="dk1"/>
              </a:solidFill>
            </a:endParaRPr>
          </a:p>
          <a:p>
            <a:pPr marL="0" lvl="0" indent="0" algn="l" rtl="0">
              <a:lnSpc>
                <a:spcPct val="115000"/>
              </a:lnSpc>
              <a:spcBef>
                <a:spcPts val="1800"/>
              </a:spcBef>
              <a:spcAft>
                <a:spcPts val="0"/>
              </a:spcAft>
              <a:buClr>
                <a:schemeClr val="dk1"/>
              </a:buClr>
              <a:buSzPts val="1100"/>
              <a:buFont typeface="Arial"/>
              <a:buNone/>
            </a:pPr>
            <a:r>
              <a:rPr lang="en-GB" sz="1700" b="1">
                <a:solidFill>
                  <a:schemeClr val="dk1"/>
                </a:solidFill>
              </a:rPr>
              <a:t>✅ Criterion 2: Understanding Accuracy</a:t>
            </a:r>
            <a:endParaRPr sz="1700" b="1">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n-GB" sz="1300" b="1">
                <a:solidFill>
                  <a:schemeClr val="dk1"/>
                </a:solidFill>
              </a:rPr>
              <a:t>📌 What it measures</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GB" sz="1100">
                <a:solidFill>
                  <a:schemeClr val="dk1"/>
                </a:solidFill>
              </a:rPr>
              <a:t>How well the AI:</a:t>
            </a:r>
            <a:endParaRPr sz="1100">
              <a:solidFill>
                <a:schemeClr val="dk1"/>
              </a:solidFill>
            </a:endParaRPr>
          </a:p>
          <a:p>
            <a:pPr marL="457200" lvl="0" indent="-298450" algn="l" rtl="0">
              <a:lnSpc>
                <a:spcPct val="115000"/>
              </a:lnSpc>
              <a:spcBef>
                <a:spcPts val="1200"/>
              </a:spcBef>
              <a:spcAft>
                <a:spcPts val="0"/>
              </a:spcAft>
              <a:buClr>
                <a:schemeClr val="dk1"/>
              </a:buClr>
              <a:buSzPts val="1100"/>
              <a:buChar char="●"/>
            </a:pPr>
            <a:r>
              <a:rPr lang="en-GB" sz="1100">
                <a:solidFill>
                  <a:schemeClr val="dk1"/>
                </a:solidFill>
              </a:rPr>
              <a:t>Interprets user intent</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GB" sz="1100">
                <a:solidFill>
                  <a:schemeClr val="dk1"/>
                </a:solidFill>
              </a:rPr>
              <a:t>Responds correctly to inputs</a:t>
            </a:r>
            <a:endParaRPr sz="1100">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n-GB" sz="1300" b="1">
                <a:solidFill>
                  <a:schemeClr val="dk1"/>
                </a:solidFill>
              </a:rPr>
              <a:t>💡 Example</a:t>
            </a:r>
            <a:endParaRPr sz="1300"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GB" sz="1100">
                <a:solidFill>
                  <a:schemeClr val="dk1"/>
                </a:solidFill>
              </a:rPr>
              <a:t>Human says: “I need a room for 2 nights”</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GB" sz="1100">
                <a:solidFill>
                  <a:schemeClr val="dk1"/>
                </a:solidFill>
              </a:rPr>
              <a:t>AI correctly understands duration</a:t>
            </a:r>
            <a:endParaRPr sz="1100">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n-GB" sz="1300" b="1">
                <a:solidFill>
                  <a:schemeClr val="dk1"/>
                </a:solidFill>
              </a:rPr>
              <a:t>🎯 Why it matters</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GB" sz="1100">
                <a:solidFill>
                  <a:schemeClr val="dk1"/>
                </a:solidFill>
              </a:rPr>
              <a:t>Misunderstanding leads to:</a:t>
            </a:r>
            <a:endParaRPr sz="1100">
              <a:solidFill>
                <a:schemeClr val="dk1"/>
              </a:solidFill>
            </a:endParaRPr>
          </a:p>
          <a:p>
            <a:pPr marL="457200" lvl="0" indent="-298450" algn="l" rtl="0">
              <a:lnSpc>
                <a:spcPct val="115000"/>
              </a:lnSpc>
              <a:spcBef>
                <a:spcPts val="1200"/>
              </a:spcBef>
              <a:spcAft>
                <a:spcPts val="0"/>
              </a:spcAft>
              <a:buClr>
                <a:schemeClr val="dk1"/>
              </a:buClr>
              <a:buSzPts val="1100"/>
              <a:buChar char="●"/>
            </a:pPr>
            <a:r>
              <a:rPr lang="en-GB" sz="1100">
                <a:solidFill>
                  <a:schemeClr val="dk1"/>
                </a:solidFill>
              </a:rPr>
              <a:t>Wrong actions</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GB" sz="1100">
                <a:solidFill>
                  <a:schemeClr val="dk1"/>
                </a:solidFill>
              </a:rPr>
              <a:t>Frustrating conversations</a:t>
            </a:r>
            <a:endParaRPr sz="1100">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sz="1100">
              <a:solidFill>
                <a:schemeClr val="dk1"/>
              </a:solidFill>
            </a:endParaRPr>
          </a:p>
          <a:p>
            <a:pPr marL="0" lvl="0" indent="0" algn="l" rtl="0">
              <a:lnSpc>
                <a:spcPct val="115000"/>
              </a:lnSpc>
              <a:spcBef>
                <a:spcPts val="1800"/>
              </a:spcBef>
              <a:spcAft>
                <a:spcPts val="0"/>
              </a:spcAft>
              <a:buClr>
                <a:schemeClr val="dk1"/>
              </a:buClr>
              <a:buSzPts val="1100"/>
              <a:buFont typeface="Arial"/>
              <a:buNone/>
            </a:pPr>
            <a:r>
              <a:rPr lang="en-GB" sz="1700" b="1">
                <a:solidFill>
                  <a:schemeClr val="dk1"/>
                </a:solidFill>
              </a:rPr>
              <a:t>✅ Criterion 3: Conversational Quality (Naturalness)</a:t>
            </a:r>
            <a:endParaRPr sz="1700" b="1">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n-GB" sz="1300" b="1">
                <a:solidFill>
                  <a:schemeClr val="dk1"/>
                </a:solidFill>
              </a:rPr>
              <a:t>📌 What it measures</a:t>
            </a:r>
            <a:endParaRPr sz="1300"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GB" sz="1100">
                <a:solidFill>
                  <a:schemeClr val="dk1"/>
                </a:solidFill>
              </a:rPr>
              <a:t>Fluency of speech</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GB" sz="1100">
                <a:solidFill>
                  <a:schemeClr val="dk1"/>
                </a:solidFill>
              </a:rPr>
              <a:t>Tone, pauses, interruptions</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GB" sz="1100">
                <a:solidFill>
                  <a:schemeClr val="dk1"/>
                </a:solidFill>
              </a:rPr>
              <a:t>Human-likeness</a:t>
            </a:r>
            <a:endParaRPr sz="1100">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n-GB" sz="1300" b="1">
                <a:solidFill>
                  <a:schemeClr val="dk1"/>
                </a:solidFill>
              </a:rPr>
              <a:t>💡 Example</a:t>
            </a:r>
            <a:endParaRPr sz="1300"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GB" sz="1100">
                <a:solidFill>
                  <a:schemeClr val="dk1"/>
                </a:solidFill>
              </a:rPr>
              <a:t>Smooth vs robotic responses</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GB" sz="1100">
                <a:solidFill>
                  <a:schemeClr val="dk1"/>
                </a:solidFill>
              </a:rPr>
              <a:t>Proper turn-taking</a:t>
            </a:r>
            <a:endParaRPr sz="1100">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n-GB" sz="1300" b="1">
                <a:solidFill>
                  <a:schemeClr val="dk1"/>
                </a:solidFill>
              </a:rPr>
              <a:t>🎯 Why it matters</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GB" sz="1100">
                <a:solidFill>
                  <a:schemeClr val="dk1"/>
                </a:solidFill>
              </a:rPr>
              <a:t>Impacts:</a:t>
            </a:r>
            <a:endParaRPr sz="1100">
              <a:solidFill>
                <a:schemeClr val="dk1"/>
              </a:solidFill>
            </a:endParaRPr>
          </a:p>
          <a:p>
            <a:pPr marL="457200" lvl="0" indent="-298450" algn="l" rtl="0">
              <a:lnSpc>
                <a:spcPct val="115000"/>
              </a:lnSpc>
              <a:spcBef>
                <a:spcPts val="1200"/>
              </a:spcBef>
              <a:spcAft>
                <a:spcPts val="0"/>
              </a:spcAft>
              <a:buClr>
                <a:schemeClr val="dk1"/>
              </a:buClr>
              <a:buSzPts val="1100"/>
              <a:buChar char="●"/>
            </a:pPr>
            <a:r>
              <a:rPr lang="en-GB" sz="1100">
                <a:solidFill>
                  <a:schemeClr val="dk1"/>
                </a:solidFill>
              </a:rPr>
              <a:t>User trust</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GB" sz="1100">
                <a:solidFill>
                  <a:schemeClr val="dk1"/>
                </a:solidFill>
              </a:rPr>
              <a:t>Adoption of AI systems</a:t>
            </a:r>
            <a:endParaRPr sz="1100">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sz="1100">
              <a:solidFill>
                <a:schemeClr val="dk1"/>
              </a:solidFill>
            </a:endParaRPr>
          </a:p>
          <a:p>
            <a:pPr marL="0" lvl="0" indent="0" algn="l" rtl="0">
              <a:lnSpc>
                <a:spcPct val="115000"/>
              </a:lnSpc>
              <a:spcBef>
                <a:spcPts val="1800"/>
              </a:spcBef>
              <a:spcAft>
                <a:spcPts val="0"/>
              </a:spcAft>
              <a:buClr>
                <a:schemeClr val="dk1"/>
              </a:buClr>
              <a:buSzPts val="1100"/>
              <a:buFont typeface="Arial"/>
              <a:buNone/>
            </a:pPr>
            <a:r>
              <a:rPr lang="en-GB" sz="1700" b="1">
                <a:solidFill>
                  <a:schemeClr val="dk1"/>
                </a:solidFill>
              </a:rPr>
              <a:t>✅ Criterion 4: Error Handling &amp; Recovery</a:t>
            </a:r>
            <a:endParaRPr sz="1700" b="1">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n-GB" sz="1300" b="1">
                <a:solidFill>
                  <a:schemeClr val="dk1"/>
                </a:solidFill>
              </a:rPr>
              <a:t>📌 What it measures</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GB" sz="1100">
                <a:solidFill>
                  <a:schemeClr val="dk1"/>
                </a:solidFill>
              </a:rPr>
              <a:t>How well AI handles:</a:t>
            </a:r>
            <a:endParaRPr sz="1100">
              <a:solidFill>
                <a:schemeClr val="dk1"/>
              </a:solidFill>
            </a:endParaRPr>
          </a:p>
          <a:p>
            <a:pPr marL="457200" lvl="0" indent="-298450" algn="l" rtl="0">
              <a:lnSpc>
                <a:spcPct val="115000"/>
              </a:lnSpc>
              <a:spcBef>
                <a:spcPts val="1200"/>
              </a:spcBef>
              <a:spcAft>
                <a:spcPts val="0"/>
              </a:spcAft>
              <a:buClr>
                <a:schemeClr val="dk1"/>
              </a:buClr>
              <a:buSzPts val="1100"/>
              <a:buChar char="●"/>
            </a:pPr>
            <a:r>
              <a:rPr lang="en-GB" sz="1100">
                <a:solidFill>
                  <a:schemeClr val="dk1"/>
                </a:solidFill>
              </a:rPr>
              <a:t>Confusion</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GB" sz="1100">
                <a:solidFill>
                  <a:schemeClr val="dk1"/>
                </a:solidFill>
              </a:rPr>
              <a:t>Misunderstandings</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GB" sz="1100">
                <a:solidFill>
                  <a:schemeClr val="dk1"/>
                </a:solidFill>
              </a:rPr>
              <a:t>Unexpected responses</a:t>
            </a:r>
            <a:endParaRPr sz="1100">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n-GB" sz="1300" b="1">
                <a:solidFill>
                  <a:schemeClr val="dk1"/>
                </a:solidFill>
              </a:rPr>
              <a:t>💡 Example</a:t>
            </a:r>
            <a:endParaRPr sz="1300"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GB" sz="1100">
                <a:solidFill>
                  <a:schemeClr val="dk1"/>
                </a:solidFill>
              </a:rPr>
              <a:t>Asking clarifying questions</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GB" sz="1100">
                <a:solidFill>
                  <a:schemeClr val="dk1"/>
                </a:solidFill>
              </a:rPr>
              <a:t>Recovering from wrong assumptions</a:t>
            </a:r>
            <a:endParaRPr sz="1100">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n-GB" sz="1300" b="1">
                <a:solidFill>
                  <a:schemeClr val="dk1"/>
                </a:solidFill>
              </a:rPr>
              <a:t>🎯 Why it matters</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GB" sz="1100">
                <a:solidFill>
                  <a:schemeClr val="dk1"/>
                </a:solidFill>
              </a:rPr>
              <a:t>Real-world conversations are messy.</a:t>
            </a:r>
            <a:br>
              <a:rPr lang="en-GB" sz="1100">
                <a:solidFill>
                  <a:schemeClr val="dk1"/>
                </a:solidFill>
              </a:rPr>
            </a:br>
            <a:r>
              <a:rPr lang="en-GB" sz="1100">
                <a:solidFill>
                  <a:schemeClr val="dk1"/>
                </a:solidFill>
              </a:rPr>
              <a:t> Good systems </a:t>
            </a:r>
            <a:r>
              <a:rPr lang="en-GB" sz="1100" b="1">
                <a:solidFill>
                  <a:schemeClr val="dk1"/>
                </a:solidFill>
              </a:rPr>
              <a:t>recover gracefully</a:t>
            </a:r>
            <a:r>
              <a:rPr lang="en-GB" sz="1100">
                <a:solidFill>
                  <a:schemeClr val="dk1"/>
                </a:solidFill>
              </a:rPr>
              <a:t>, not just perform in ideal cases.</a:t>
            </a:r>
            <a:endParaRPr sz="1100">
              <a:solidFill>
                <a:schemeClr val="dk1"/>
              </a:solidFill>
            </a:endParaRPr>
          </a:p>
          <a:p>
            <a:pPr marL="0" lvl="0" indent="0" algn="l" rtl="0">
              <a:spcBef>
                <a:spcPts val="1200"/>
              </a:spcBef>
              <a:spcAft>
                <a:spcPts val="0"/>
              </a:spcAft>
              <a:buNone/>
            </a:pPr>
            <a:endParaRPr sz="1800">
              <a:solidFill>
                <a:schemeClr val="dk2"/>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398"/>
        <p:cNvGrpSpPr/>
        <p:nvPr/>
      </p:nvGrpSpPr>
      <p:grpSpPr>
        <a:xfrm>
          <a:off x="0" y="0"/>
          <a:ext cx="0" cy="0"/>
          <a:chOff x="0" y="0"/>
          <a:chExt cx="0" cy="0"/>
        </a:xfrm>
      </p:grpSpPr>
      <p:sp>
        <p:nvSpPr>
          <p:cNvPr id="399" name="Google Shape;399;p68"/>
          <p:cNvSpPr txBox="1">
            <a:spLocks noGrp="1"/>
          </p:cNvSpPr>
          <p:nvPr>
            <p:ph type="body" idx="1"/>
          </p:nvPr>
        </p:nvSpPr>
        <p:spPr>
          <a:xfrm>
            <a:off x="119850" y="110975"/>
            <a:ext cx="8825100" cy="4888500"/>
          </a:xfrm>
          <a:prstGeom prst="rect">
            <a:avLst/>
          </a:prstGeom>
        </p:spPr>
        <p:txBody>
          <a:bodyPr spcFirstLastPara="1" wrap="square" lIns="91425" tIns="91425" rIns="91425" bIns="91425" anchor="t" anchorCtr="0">
            <a:normAutofit/>
          </a:bodyPr>
          <a:lstStyle/>
          <a:p>
            <a:pPr marL="0" lvl="0" indent="0" algn="l" rtl="0">
              <a:spcBef>
                <a:spcPts val="1400"/>
              </a:spcBef>
              <a:spcAft>
                <a:spcPts val="0"/>
              </a:spcAft>
              <a:buClr>
                <a:schemeClr val="dk1"/>
              </a:buClr>
              <a:buSzPts val="1100"/>
              <a:buFont typeface="Arial"/>
              <a:buNone/>
            </a:pPr>
            <a:r>
              <a:rPr lang="en-GB" sz="1300" b="1">
                <a:solidFill>
                  <a:schemeClr val="dk1"/>
                </a:solidFill>
              </a:rPr>
              <a:t>Criterion 2: Understanding Accuracy</a:t>
            </a:r>
            <a:endParaRPr sz="1300" b="1">
              <a:solidFill>
                <a:schemeClr val="dk1"/>
              </a:solidFill>
            </a:endParaRPr>
          </a:p>
          <a:p>
            <a:pPr marL="457200" lvl="0" indent="-298450" algn="l" rtl="0">
              <a:spcBef>
                <a:spcPts val="1200"/>
              </a:spcBef>
              <a:spcAft>
                <a:spcPts val="0"/>
              </a:spcAft>
              <a:buClr>
                <a:schemeClr val="dk1"/>
              </a:buClr>
              <a:buSzPts val="1100"/>
              <a:buChar char="●"/>
            </a:pPr>
            <a:r>
              <a:rPr lang="en-GB" sz="1100" b="1">
                <a:solidFill>
                  <a:schemeClr val="dk1"/>
                </a:solidFill>
              </a:rPr>
              <a:t>Definition:</a:t>
            </a:r>
            <a:br>
              <a:rPr lang="en-GB" sz="1100" b="1">
                <a:solidFill>
                  <a:schemeClr val="dk1"/>
                </a:solidFill>
              </a:rPr>
            </a:br>
            <a:r>
              <a:rPr lang="en-GB" sz="1100">
                <a:solidFill>
                  <a:schemeClr val="dk1"/>
                </a:solidFill>
              </a:rPr>
              <a:t> Measures how accurately the AI </a:t>
            </a:r>
            <a:r>
              <a:rPr lang="en-GB" sz="1100" b="1">
                <a:solidFill>
                  <a:schemeClr val="dk1"/>
                </a:solidFill>
              </a:rPr>
              <a:t>interprets user intent</a:t>
            </a:r>
            <a:r>
              <a:rPr lang="en-GB" sz="1100">
                <a:solidFill>
                  <a:schemeClr val="dk1"/>
                </a:solidFill>
              </a:rPr>
              <a:t>, including correct recognition of entities (e.g., dates, names, preferences).</a:t>
            </a:r>
            <a:endParaRPr sz="1100">
              <a:solidFill>
                <a:schemeClr val="dk1"/>
              </a:solidFill>
            </a:endParaRPr>
          </a:p>
          <a:p>
            <a:pPr marL="457200" lvl="0" indent="-298450" algn="l" rtl="0">
              <a:spcBef>
                <a:spcPts val="0"/>
              </a:spcBef>
              <a:spcAft>
                <a:spcPts val="0"/>
              </a:spcAft>
              <a:buClr>
                <a:schemeClr val="dk1"/>
              </a:buClr>
              <a:buSzPts val="1100"/>
              <a:buChar char="●"/>
            </a:pPr>
            <a:r>
              <a:rPr lang="en-GB" sz="1100" b="1">
                <a:solidFill>
                  <a:schemeClr val="dk1"/>
                </a:solidFill>
              </a:rPr>
              <a:t>Why it Matters:</a:t>
            </a:r>
            <a:endParaRPr sz="1100" b="1">
              <a:solidFill>
                <a:schemeClr val="dk1"/>
              </a:solidFill>
            </a:endParaRPr>
          </a:p>
          <a:p>
            <a:pPr marL="914400" lvl="1" indent="-298450" algn="l" rtl="0">
              <a:spcBef>
                <a:spcPts val="0"/>
              </a:spcBef>
              <a:spcAft>
                <a:spcPts val="0"/>
              </a:spcAft>
              <a:buClr>
                <a:schemeClr val="dk1"/>
              </a:buClr>
              <a:buSzPts val="1100"/>
              <a:buChar char="○"/>
            </a:pPr>
            <a:r>
              <a:rPr lang="en-GB" sz="1100">
                <a:solidFill>
                  <a:schemeClr val="dk1"/>
                </a:solidFill>
              </a:rPr>
              <a:t>Misunderstanding is a </a:t>
            </a:r>
            <a:r>
              <a:rPr lang="en-GB" sz="1100" b="1">
                <a:solidFill>
                  <a:schemeClr val="dk1"/>
                </a:solidFill>
              </a:rPr>
              <a:t>primary cause of conversation failure</a:t>
            </a:r>
            <a:endParaRPr sz="1100" b="1">
              <a:solidFill>
                <a:schemeClr val="dk1"/>
              </a:solidFill>
            </a:endParaRPr>
          </a:p>
          <a:p>
            <a:pPr marL="914400" lvl="1" indent="-298450" algn="l" rtl="0">
              <a:spcBef>
                <a:spcPts val="0"/>
              </a:spcBef>
              <a:spcAft>
                <a:spcPts val="0"/>
              </a:spcAft>
              <a:buClr>
                <a:schemeClr val="dk1"/>
              </a:buClr>
              <a:buSzPts val="1100"/>
              <a:buChar char="○"/>
            </a:pPr>
            <a:r>
              <a:rPr lang="en-GB" sz="1100">
                <a:solidFill>
                  <a:schemeClr val="dk1"/>
                </a:solidFill>
              </a:rPr>
              <a:t>Errors in comprehension can compound across the conversation</a:t>
            </a:r>
            <a:endParaRPr sz="1100">
              <a:solidFill>
                <a:schemeClr val="dk1"/>
              </a:solidFill>
            </a:endParaRPr>
          </a:p>
          <a:p>
            <a:pPr marL="914400" lvl="1" indent="-298450" algn="l" rtl="0">
              <a:spcBef>
                <a:spcPts val="0"/>
              </a:spcBef>
              <a:spcAft>
                <a:spcPts val="0"/>
              </a:spcAft>
              <a:buClr>
                <a:schemeClr val="dk1"/>
              </a:buClr>
              <a:buSzPts val="1100"/>
              <a:buChar char="○"/>
            </a:pPr>
            <a:r>
              <a:rPr lang="en-GB" sz="1100">
                <a:solidFill>
                  <a:schemeClr val="dk1"/>
                </a:solidFill>
              </a:rPr>
              <a:t>Separates </a:t>
            </a:r>
            <a:r>
              <a:rPr lang="en-GB" sz="1100" b="1">
                <a:solidFill>
                  <a:schemeClr val="dk1"/>
                </a:solidFill>
              </a:rPr>
              <a:t>understanding quality</a:t>
            </a:r>
            <a:r>
              <a:rPr lang="en-GB" sz="1100">
                <a:solidFill>
                  <a:schemeClr val="dk1"/>
                </a:solidFill>
              </a:rPr>
              <a:t> from task execution issues</a:t>
            </a:r>
            <a:endParaRPr sz="1100">
              <a:solidFill>
                <a:schemeClr val="dk1"/>
              </a:solidFill>
            </a:endParaRPr>
          </a:p>
          <a:p>
            <a:pPr marL="457200" lvl="0" indent="-298450" algn="l" rtl="0">
              <a:spcBef>
                <a:spcPts val="0"/>
              </a:spcBef>
              <a:spcAft>
                <a:spcPts val="0"/>
              </a:spcAft>
              <a:buClr>
                <a:schemeClr val="dk1"/>
              </a:buClr>
              <a:buSzPts val="1100"/>
              <a:buChar char="●"/>
            </a:pPr>
            <a:r>
              <a:rPr lang="en-GB" sz="1100" b="1">
                <a:solidFill>
                  <a:schemeClr val="dk1"/>
                </a:solidFill>
              </a:rPr>
              <a:t>Evaluation Scale (1–5):</a:t>
            </a:r>
            <a:endParaRPr sz="1100" b="1">
              <a:solidFill>
                <a:schemeClr val="dk1"/>
              </a:solidFill>
            </a:endParaRPr>
          </a:p>
          <a:p>
            <a:pPr marL="914400" lvl="1" indent="-298450" algn="l" rtl="0">
              <a:spcBef>
                <a:spcPts val="0"/>
              </a:spcBef>
              <a:spcAft>
                <a:spcPts val="0"/>
              </a:spcAft>
              <a:buClr>
                <a:schemeClr val="dk1"/>
              </a:buClr>
              <a:buSzPts val="1100"/>
              <a:buChar char="○"/>
            </a:pPr>
            <a:r>
              <a:rPr lang="en-GB" sz="1100" b="1">
                <a:solidFill>
                  <a:schemeClr val="dk1"/>
                </a:solidFill>
              </a:rPr>
              <a:t>5:</a:t>
            </a:r>
            <a:r>
              <a:rPr lang="en-GB" sz="1100">
                <a:solidFill>
                  <a:schemeClr val="dk1"/>
                </a:solidFill>
              </a:rPr>
              <a:t> Fully accurate understanding across conversation</a:t>
            </a:r>
            <a:endParaRPr sz="1100">
              <a:solidFill>
                <a:schemeClr val="dk1"/>
              </a:solidFill>
            </a:endParaRPr>
          </a:p>
          <a:p>
            <a:pPr marL="914400" lvl="1" indent="-298450" algn="l" rtl="0">
              <a:spcBef>
                <a:spcPts val="0"/>
              </a:spcBef>
              <a:spcAft>
                <a:spcPts val="0"/>
              </a:spcAft>
              <a:buClr>
                <a:schemeClr val="dk1"/>
              </a:buClr>
              <a:buSzPts val="1100"/>
              <a:buChar char="○"/>
            </a:pPr>
            <a:r>
              <a:rPr lang="en-GB" sz="1100" b="1">
                <a:solidFill>
                  <a:schemeClr val="dk1"/>
                </a:solidFill>
              </a:rPr>
              <a:t>3:</a:t>
            </a:r>
            <a:r>
              <a:rPr lang="en-GB" sz="1100">
                <a:solidFill>
                  <a:schemeClr val="dk1"/>
                </a:solidFill>
              </a:rPr>
              <a:t> Minor misunderstandings with limited impact</a:t>
            </a:r>
            <a:endParaRPr sz="1100">
              <a:solidFill>
                <a:schemeClr val="dk1"/>
              </a:solidFill>
            </a:endParaRPr>
          </a:p>
          <a:p>
            <a:pPr marL="914400" lvl="1" indent="-298450" algn="l" rtl="0">
              <a:spcBef>
                <a:spcPts val="0"/>
              </a:spcBef>
              <a:spcAft>
                <a:spcPts val="0"/>
              </a:spcAft>
              <a:buClr>
                <a:schemeClr val="dk1"/>
              </a:buClr>
              <a:buSzPts val="1100"/>
              <a:buChar char="○"/>
            </a:pPr>
            <a:r>
              <a:rPr lang="en-GB" sz="1100" b="1">
                <a:solidFill>
                  <a:schemeClr val="dk1"/>
                </a:solidFill>
              </a:rPr>
              <a:t>1:</a:t>
            </a:r>
            <a:r>
              <a:rPr lang="en-GB" sz="1100">
                <a:solidFill>
                  <a:schemeClr val="dk1"/>
                </a:solidFill>
              </a:rPr>
              <a:t> Major misinterpretations affecting outcome</a:t>
            </a:r>
            <a:endParaRPr sz="1100">
              <a:solidFill>
                <a:schemeClr val="dk1"/>
              </a:solidFill>
            </a:endParaRPr>
          </a:p>
          <a:p>
            <a:pPr marL="457200" lvl="0" indent="-298450" algn="l" rtl="0">
              <a:spcBef>
                <a:spcPts val="0"/>
              </a:spcBef>
              <a:spcAft>
                <a:spcPts val="0"/>
              </a:spcAft>
              <a:buClr>
                <a:schemeClr val="dk1"/>
              </a:buClr>
              <a:buSzPts val="1100"/>
              <a:buChar char="●"/>
            </a:pPr>
            <a:r>
              <a:rPr lang="en-GB" sz="1100" b="1">
                <a:solidFill>
                  <a:schemeClr val="dk1"/>
                </a:solidFill>
              </a:rPr>
              <a:t>Weight:</a:t>
            </a:r>
            <a:endParaRPr sz="1100" b="1">
              <a:solidFill>
                <a:schemeClr val="dk1"/>
              </a:solidFill>
            </a:endParaRPr>
          </a:p>
          <a:p>
            <a:pPr marL="914400" lvl="1" indent="-298450" algn="l" rtl="0">
              <a:spcBef>
                <a:spcPts val="0"/>
              </a:spcBef>
              <a:spcAft>
                <a:spcPts val="0"/>
              </a:spcAft>
              <a:buClr>
                <a:schemeClr val="dk1"/>
              </a:buClr>
              <a:buSzPts val="1100"/>
              <a:buChar char="○"/>
            </a:pPr>
            <a:r>
              <a:rPr lang="en-GB" sz="1100" b="1">
                <a:solidFill>
                  <a:schemeClr val="dk1"/>
                </a:solidFill>
              </a:rPr>
              <a:t>30%</a:t>
            </a:r>
            <a:r>
              <a:rPr lang="en-GB" sz="1100">
                <a:solidFill>
                  <a:schemeClr val="dk1"/>
                </a:solidFill>
              </a:rPr>
              <a:t> — critical for ensuring </a:t>
            </a:r>
            <a:r>
              <a:rPr lang="en-GB" sz="1100" b="1">
                <a:solidFill>
                  <a:schemeClr val="dk1"/>
                </a:solidFill>
              </a:rPr>
              <a:t>correct and reliable interactions</a:t>
            </a:r>
            <a:endParaRPr sz="1100" b="1">
              <a:solidFill>
                <a:schemeClr val="dk1"/>
              </a:solidFill>
            </a:endParaRPr>
          </a:p>
          <a:p>
            <a:pPr marL="0" lvl="0" indent="0" algn="l" rtl="0">
              <a:spcBef>
                <a:spcPts val="1200"/>
              </a:spcBef>
              <a:spcAft>
                <a:spcPts val="1200"/>
              </a:spcAft>
              <a:buNone/>
            </a:pPr>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p69"/>
          <p:cNvSpPr txBox="1">
            <a:spLocks noGrp="1"/>
          </p:cNvSpPr>
          <p:nvPr>
            <p:ph type="body" idx="1"/>
          </p:nvPr>
        </p:nvSpPr>
        <p:spPr>
          <a:xfrm>
            <a:off x="128975" y="56175"/>
            <a:ext cx="8861700" cy="5016300"/>
          </a:xfrm>
          <a:prstGeom prst="rect">
            <a:avLst/>
          </a:prstGeom>
        </p:spPr>
        <p:txBody>
          <a:bodyPr spcFirstLastPara="1" wrap="square" lIns="91425" tIns="91425" rIns="91425" bIns="91425" anchor="t" anchorCtr="0">
            <a:normAutofit/>
          </a:bodyPr>
          <a:lstStyle/>
          <a:p>
            <a:pPr marL="0" lvl="0" indent="0" algn="l" rtl="0">
              <a:spcBef>
                <a:spcPts val="1400"/>
              </a:spcBef>
              <a:spcAft>
                <a:spcPts val="0"/>
              </a:spcAft>
              <a:buClr>
                <a:schemeClr val="dk1"/>
              </a:buClr>
              <a:buSzPts val="1100"/>
              <a:buFont typeface="Arial"/>
              <a:buNone/>
            </a:pPr>
            <a:r>
              <a:rPr lang="en-GB" sz="1100" b="1">
                <a:solidFill>
                  <a:schemeClr val="dk1"/>
                </a:solidFill>
              </a:rPr>
              <a:t>Criterion 3: Conversational Naturalness</a:t>
            </a:r>
            <a:endParaRPr sz="1100" b="1">
              <a:solidFill>
                <a:schemeClr val="dk1"/>
              </a:solidFill>
            </a:endParaRPr>
          </a:p>
          <a:p>
            <a:pPr marL="457200" lvl="0" indent="-298450" algn="l" rtl="0">
              <a:spcBef>
                <a:spcPts val="1200"/>
              </a:spcBef>
              <a:spcAft>
                <a:spcPts val="0"/>
              </a:spcAft>
              <a:buClr>
                <a:schemeClr val="dk1"/>
              </a:buClr>
              <a:buSzPts val="1100"/>
              <a:buChar char="●"/>
            </a:pPr>
            <a:r>
              <a:rPr lang="en-GB" sz="1100" b="1">
                <a:solidFill>
                  <a:schemeClr val="dk1"/>
                </a:solidFill>
              </a:rPr>
              <a:t>Definition:</a:t>
            </a:r>
            <a:br>
              <a:rPr lang="en-GB" sz="1100" b="1">
                <a:solidFill>
                  <a:schemeClr val="dk1"/>
                </a:solidFill>
              </a:rPr>
            </a:br>
            <a:r>
              <a:rPr lang="en-GB" sz="1100">
                <a:solidFill>
                  <a:schemeClr val="dk1"/>
                </a:solidFill>
              </a:rPr>
              <a:t> Evaluates the AI’s </a:t>
            </a:r>
            <a:r>
              <a:rPr lang="en-GB" sz="1100" b="1">
                <a:solidFill>
                  <a:schemeClr val="dk1"/>
                </a:solidFill>
              </a:rPr>
              <a:t>fluency, tone, pacing, and interaction style</a:t>
            </a:r>
            <a:r>
              <a:rPr lang="en-GB" sz="1100">
                <a:solidFill>
                  <a:schemeClr val="dk1"/>
                </a:solidFill>
              </a:rPr>
              <a:t>, including smooth turn-taking and absence of robotic responses.</a:t>
            </a:r>
            <a:endParaRPr sz="1100">
              <a:solidFill>
                <a:schemeClr val="dk1"/>
              </a:solidFill>
            </a:endParaRPr>
          </a:p>
          <a:p>
            <a:pPr marL="457200" lvl="0" indent="-298450" algn="l" rtl="0">
              <a:spcBef>
                <a:spcPts val="0"/>
              </a:spcBef>
              <a:spcAft>
                <a:spcPts val="0"/>
              </a:spcAft>
              <a:buClr>
                <a:schemeClr val="dk1"/>
              </a:buClr>
              <a:buSzPts val="1100"/>
              <a:buChar char="●"/>
            </a:pPr>
            <a:r>
              <a:rPr lang="en-GB" sz="1100" b="1">
                <a:solidFill>
                  <a:schemeClr val="dk1"/>
                </a:solidFill>
              </a:rPr>
              <a:t>Why it Matters:</a:t>
            </a:r>
            <a:endParaRPr sz="1100" b="1">
              <a:solidFill>
                <a:schemeClr val="dk1"/>
              </a:solidFill>
            </a:endParaRPr>
          </a:p>
          <a:p>
            <a:pPr marL="914400" lvl="1" indent="-298450" algn="l" rtl="0">
              <a:spcBef>
                <a:spcPts val="0"/>
              </a:spcBef>
              <a:spcAft>
                <a:spcPts val="0"/>
              </a:spcAft>
              <a:buClr>
                <a:schemeClr val="dk1"/>
              </a:buClr>
              <a:buSzPts val="1100"/>
              <a:buChar char="○"/>
            </a:pPr>
            <a:r>
              <a:rPr lang="en-GB" sz="1100">
                <a:solidFill>
                  <a:schemeClr val="dk1"/>
                </a:solidFill>
              </a:rPr>
              <a:t>Impacts </a:t>
            </a:r>
            <a:r>
              <a:rPr lang="en-GB" sz="1100" b="1">
                <a:solidFill>
                  <a:schemeClr val="dk1"/>
                </a:solidFill>
              </a:rPr>
              <a:t>user trust and engagement</a:t>
            </a:r>
            <a:endParaRPr sz="1100" b="1">
              <a:solidFill>
                <a:schemeClr val="dk1"/>
              </a:solidFill>
            </a:endParaRPr>
          </a:p>
          <a:p>
            <a:pPr marL="914400" lvl="1" indent="-298450" algn="l" rtl="0">
              <a:spcBef>
                <a:spcPts val="0"/>
              </a:spcBef>
              <a:spcAft>
                <a:spcPts val="0"/>
              </a:spcAft>
              <a:buClr>
                <a:schemeClr val="dk1"/>
              </a:buClr>
              <a:buSzPts val="1100"/>
              <a:buChar char="○"/>
            </a:pPr>
            <a:r>
              <a:rPr lang="en-GB" sz="1100">
                <a:solidFill>
                  <a:schemeClr val="dk1"/>
                </a:solidFill>
              </a:rPr>
              <a:t>Poor naturalness creates friction even if responses are correct</a:t>
            </a:r>
            <a:endParaRPr sz="1100">
              <a:solidFill>
                <a:schemeClr val="dk1"/>
              </a:solidFill>
            </a:endParaRPr>
          </a:p>
          <a:p>
            <a:pPr marL="914400" lvl="1" indent="-298450" algn="l" rtl="0">
              <a:spcBef>
                <a:spcPts val="0"/>
              </a:spcBef>
              <a:spcAft>
                <a:spcPts val="0"/>
              </a:spcAft>
              <a:buClr>
                <a:schemeClr val="dk1"/>
              </a:buClr>
              <a:buSzPts val="1100"/>
              <a:buChar char="○"/>
            </a:pPr>
            <a:r>
              <a:rPr lang="en-GB" sz="1100">
                <a:solidFill>
                  <a:schemeClr val="dk1"/>
                </a:solidFill>
              </a:rPr>
              <a:t>Critical for </a:t>
            </a:r>
            <a:r>
              <a:rPr lang="en-GB" sz="1100" b="1">
                <a:solidFill>
                  <a:schemeClr val="dk1"/>
                </a:solidFill>
              </a:rPr>
              <a:t>user adoption in real-world applications</a:t>
            </a:r>
            <a:endParaRPr sz="1100" b="1">
              <a:solidFill>
                <a:schemeClr val="dk1"/>
              </a:solidFill>
            </a:endParaRPr>
          </a:p>
          <a:p>
            <a:pPr marL="457200" lvl="0" indent="-298450" algn="l" rtl="0">
              <a:spcBef>
                <a:spcPts val="0"/>
              </a:spcBef>
              <a:spcAft>
                <a:spcPts val="0"/>
              </a:spcAft>
              <a:buClr>
                <a:schemeClr val="dk1"/>
              </a:buClr>
              <a:buSzPts val="1100"/>
              <a:buChar char="●"/>
            </a:pPr>
            <a:r>
              <a:rPr lang="en-GB" sz="1100" b="1">
                <a:solidFill>
                  <a:schemeClr val="dk1"/>
                </a:solidFill>
              </a:rPr>
              <a:t>Evaluation Scale (1–5):</a:t>
            </a:r>
            <a:endParaRPr sz="1100" b="1">
              <a:solidFill>
                <a:schemeClr val="dk1"/>
              </a:solidFill>
            </a:endParaRPr>
          </a:p>
          <a:p>
            <a:pPr marL="914400" lvl="1" indent="-298450" algn="l" rtl="0">
              <a:spcBef>
                <a:spcPts val="0"/>
              </a:spcBef>
              <a:spcAft>
                <a:spcPts val="0"/>
              </a:spcAft>
              <a:buClr>
                <a:schemeClr val="dk1"/>
              </a:buClr>
              <a:buSzPts val="1100"/>
              <a:buChar char="○"/>
            </a:pPr>
            <a:r>
              <a:rPr lang="en-GB" sz="1100" b="1">
                <a:solidFill>
                  <a:schemeClr val="dk1"/>
                </a:solidFill>
              </a:rPr>
              <a:t>5:</a:t>
            </a:r>
            <a:r>
              <a:rPr lang="en-GB" sz="1100">
                <a:solidFill>
                  <a:schemeClr val="dk1"/>
                </a:solidFill>
              </a:rPr>
              <a:t> Highly natural, smooth, human-like interaction</a:t>
            </a:r>
            <a:endParaRPr sz="1100">
              <a:solidFill>
                <a:schemeClr val="dk1"/>
              </a:solidFill>
            </a:endParaRPr>
          </a:p>
          <a:p>
            <a:pPr marL="914400" lvl="1" indent="-298450" algn="l" rtl="0">
              <a:spcBef>
                <a:spcPts val="0"/>
              </a:spcBef>
              <a:spcAft>
                <a:spcPts val="0"/>
              </a:spcAft>
              <a:buClr>
                <a:schemeClr val="dk1"/>
              </a:buClr>
              <a:buSzPts val="1100"/>
              <a:buChar char="○"/>
            </a:pPr>
            <a:r>
              <a:rPr lang="en-GB" sz="1100" b="1">
                <a:solidFill>
                  <a:schemeClr val="dk1"/>
                </a:solidFill>
              </a:rPr>
              <a:t>3:</a:t>
            </a:r>
            <a:r>
              <a:rPr lang="en-GB" sz="1100">
                <a:solidFill>
                  <a:schemeClr val="dk1"/>
                </a:solidFill>
              </a:rPr>
              <a:t> Moderately natural with minor issues</a:t>
            </a:r>
            <a:endParaRPr sz="1100">
              <a:solidFill>
                <a:schemeClr val="dk1"/>
              </a:solidFill>
            </a:endParaRPr>
          </a:p>
          <a:p>
            <a:pPr marL="914400" lvl="1" indent="-298450" algn="l" rtl="0">
              <a:spcBef>
                <a:spcPts val="0"/>
              </a:spcBef>
              <a:spcAft>
                <a:spcPts val="0"/>
              </a:spcAft>
              <a:buClr>
                <a:schemeClr val="dk1"/>
              </a:buClr>
              <a:buSzPts val="1100"/>
              <a:buChar char="○"/>
            </a:pPr>
            <a:r>
              <a:rPr lang="en-GB" sz="1100" b="1">
                <a:solidFill>
                  <a:schemeClr val="dk1"/>
                </a:solidFill>
              </a:rPr>
              <a:t>1:</a:t>
            </a:r>
            <a:r>
              <a:rPr lang="en-GB" sz="1100">
                <a:solidFill>
                  <a:schemeClr val="dk1"/>
                </a:solidFill>
              </a:rPr>
              <a:t> Robotic, awkward, or disruptive interaction</a:t>
            </a:r>
            <a:endParaRPr sz="1100">
              <a:solidFill>
                <a:schemeClr val="dk1"/>
              </a:solidFill>
            </a:endParaRPr>
          </a:p>
          <a:p>
            <a:pPr marL="457200" lvl="0" indent="-298450" algn="l" rtl="0">
              <a:spcBef>
                <a:spcPts val="0"/>
              </a:spcBef>
              <a:spcAft>
                <a:spcPts val="0"/>
              </a:spcAft>
              <a:buClr>
                <a:schemeClr val="dk1"/>
              </a:buClr>
              <a:buSzPts val="1100"/>
              <a:buChar char="●"/>
            </a:pPr>
            <a:r>
              <a:rPr lang="en-GB" sz="1100" b="1">
                <a:solidFill>
                  <a:schemeClr val="dk1"/>
                </a:solidFill>
              </a:rPr>
              <a:t>Weight:</a:t>
            </a:r>
            <a:endParaRPr sz="1100" b="1">
              <a:solidFill>
                <a:schemeClr val="dk1"/>
              </a:solidFill>
            </a:endParaRPr>
          </a:p>
          <a:p>
            <a:pPr marL="914400" lvl="1" indent="-298450" algn="l" rtl="0">
              <a:spcBef>
                <a:spcPts val="0"/>
              </a:spcBef>
              <a:spcAft>
                <a:spcPts val="0"/>
              </a:spcAft>
              <a:buClr>
                <a:schemeClr val="dk1"/>
              </a:buClr>
              <a:buSzPts val="1100"/>
              <a:buChar char="○"/>
            </a:pPr>
            <a:r>
              <a:rPr lang="en-GB" sz="1100" b="1">
                <a:solidFill>
                  <a:schemeClr val="dk1"/>
                </a:solidFill>
              </a:rPr>
              <a:t>20%</a:t>
            </a:r>
            <a:r>
              <a:rPr lang="en-GB" sz="1100">
                <a:solidFill>
                  <a:schemeClr val="dk1"/>
                </a:solidFill>
              </a:rPr>
              <a:t> — supports overall </a:t>
            </a:r>
            <a:r>
              <a:rPr lang="en-GB" sz="1100" b="1">
                <a:solidFill>
                  <a:schemeClr val="dk1"/>
                </a:solidFill>
              </a:rPr>
              <a:t>user experience and adoption</a:t>
            </a:r>
            <a:endParaRPr sz="1100" b="1">
              <a:solidFill>
                <a:schemeClr val="dk1"/>
              </a:solidFill>
            </a:endParaRPr>
          </a:p>
          <a:p>
            <a:pPr marL="0" lvl="0" indent="0" algn="l" rtl="0">
              <a:spcBef>
                <a:spcPts val="1200"/>
              </a:spcBef>
              <a:spcAft>
                <a:spcPts val="0"/>
              </a:spcAft>
              <a:buClr>
                <a:schemeClr val="dk1"/>
              </a:buClr>
              <a:buSzPts val="1100"/>
              <a:buFont typeface="Arial"/>
              <a:buNone/>
            </a:pPr>
            <a:endParaRPr sz="1100" b="1">
              <a:solidFill>
                <a:schemeClr val="dk1"/>
              </a:solidFill>
            </a:endParaRPr>
          </a:p>
          <a:p>
            <a:pPr marL="0" lvl="0" indent="0" algn="l" rtl="0">
              <a:spcBef>
                <a:spcPts val="0"/>
              </a:spcBef>
              <a:spcAft>
                <a:spcPts val="1200"/>
              </a:spcAft>
              <a:buNone/>
            </a:pPr>
            <a:endParaRPr sz="1100"/>
          </a:p>
        </p:txBody>
      </p:sp>
      <p:sp>
        <p:nvSpPr>
          <p:cNvPr id="405" name="Google Shape;405;p69"/>
          <p:cNvSpPr txBox="1"/>
          <p:nvPr/>
        </p:nvSpPr>
        <p:spPr>
          <a:xfrm>
            <a:off x="448675" y="2806750"/>
            <a:ext cx="8094300" cy="2336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100">
              <a:solidFill>
                <a:schemeClr val="dk2"/>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sp>
        <p:nvSpPr>
          <p:cNvPr id="410" name="Google Shape;410;p70"/>
          <p:cNvSpPr txBox="1">
            <a:spLocks noGrp="1"/>
          </p:cNvSpPr>
          <p:nvPr>
            <p:ph type="body" idx="1"/>
          </p:nvPr>
        </p:nvSpPr>
        <p:spPr>
          <a:xfrm>
            <a:off x="202050" y="275425"/>
            <a:ext cx="8520600" cy="3416400"/>
          </a:xfrm>
          <a:prstGeom prst="rect">
            <a:avLst/>
          </a:prstGeom>
        </p:spPr>
        <p:txBody>
          <a:bodyPr spcFirstLastPara="1" wrap="square" lIns="91425" tIns="91425" rIns="91425" bIns="91425" anchor="t" anchorCtr="0">
            <a:normAutofit/>
          </a:bodyPr>
          <a:lstStyle/>
          <a:p>
            <a:pPr marL="0" lvl="0" indent="0" algn="l" rtl="0">
              <a:spcBef>
                <a:spcPts val="1400"/>
              </a:spcBef>
              <a:spcAft>
                <a:spcPts val="0"/>
              </a:spcAft>
              <a:buClr>
                <a:schemeClr val="dk1"/>
              </a:buClr>
              <a:buSzPts val="1100"/>
              <a:buFont typeface="Arial"/>
              <a:buNone/>
            </a:pPr>
            <a:r>
              <a:rPr lang="en-GB" sz="1100" b="1">
                <a:solidFill>
                  <a:schemeClr val="dk1"/>
                </a:solidFill>
              </a:rPr>
              <a:t>Criterion 4: Error Handling and Recovery</a:t>
            </a:r>
            <a:endParaRPr sz="1100" b="1">
              <a:solidFill>
                <a:schemeClr val="dk1"/>
              </a:solidFill>
            </a:endParaRPr>
          </a:p>
          <a:p>
            <a:pPr marL="457200" lvl="0" indent="-298450" algn="l" rtl="0">
              <a:spcBef>
                <a:spcPts val="1200"/>
              </a:spcBef>
              <a:spcAft>
                <a:spcPts val="0"/>
              </a:spcAft>
              <a:buClr>
                <a:schemeClr val="dk1"/>
              </a:buClr>
              <a:buSzPts val="1100"/>
              <a:buChar char="●"/>
            </a:pPr>
            <a:r>
              <a:rPr lang="en-GB" sz="1100" b="1">
                <a:solidFill>
                  <a:schemeClr val="dk1"/>
                </a:solidFill>
              </a:rPr>
              <a:t>Definition:</a:t>
            </a:r>
            <a:br>
              <a:rPr lang="en-GB" sz="1100" b="1">
                <a:solidFill>
                  <a:schemeClr val="dk1"/>
                </a:solidFill>
              </a:rPr>
            </a:br>
            <a:r>
              <a:rPr lang="en-GB" sz="1100">
                <a:solidFill>
                  <a:schemeClr val="dk1"/>
                </a:solidFill>
              </a:rPr>
              <a:t> Measures how effectively the AI </a:t>
            </a:r>
            <a:r>
              <a:rPr lang="en-GB" sz="1100" b="1">
                <a:solidFill>
                  <a:schemeClr val="dk1"/>
                </a:solidFill>
              </a:rPr>
              <a:t>handles misunderstandings, ambiguity, or unexpected inputs</a:t>
            </a:r>
            <a:r>
              <a:rPr lang="en-GB" sz="1100">
                <a:solidFill>
                  <a:schemeClr val="dk1"/>
                </a:solidFill>
              </a:rPr>
              <a:t> during the conversation.</a:t>
            </a:r>
            <a:endParaRPr sz="1100">
              <a:solidFill>
                <a:schemeClr val="dk1"/>
              </a:solidFill>
            </a:endParaRPr>
          </a:p>
          <a:p>
            <a:pPr marL="457200" lvl="0" indent="-298450" algn="l" rtl="0">
              <a:spcBef>
                <a:spcPts val="0"/>
              </a:spcBef>
              <a:spcAft>
                <a:spcPts val="0"/>
              </a:spcAft>
              <a:buClr>
                <a:schemeClr val="dk1"/>
              </a:buClr>
              <a:buSzPts val="1100"/>
              <a:buChar char="●"/>
            </a:pPr>
            <a:r>
              <a:rPr lang="en-GB" sz="1100" b="1">
                <a:solidFill>
                  <a:schemeClr val="dk1"/>
                </a:solidFill>
              </a:rPr>
              <a:t>Why it Matters:</a:t>
            </a:r>
            <a:endParaRPr sz="1100" b="1">
              <a:solidFill>
                <a:schemeClr val="dk1"/>
              </a:solidFill>
            </a:endParaRPr>
          </a:p>
          <a:p>
            <a:pPr marL="914400" lvl="1" indent="-298450" algn="l" rtl="0">
              <a:spcBef>
                <a:spcPts val="0"/>
              </a:spcBef>
              <a:spcAft>
                <a:spcPts val="0"/>
              </a:spcAft>
              <a:buClr>
                <a:schemeClr val="dk1"/>
              </a:buClr>
              <a:buSzPts val="1100"/>
              <a:buChar char="○"/>
            </a:pPr>
            <a:r>
              <a:rPr lang="en-GB" sz="1100">
                <a:solidFill>
                  <a:schemeClr val="dk1"/>
                </a:solidFill>
              </a:rPr>
              <a:t>Real-world conversations are </a:t>
            </a:r>
            <a:r>
              <a:rPr lang="en-GB" sz="1100" b="1">
                <a:solidFill>
                  <a:schemeClr val="dk1"/>
                </a:solidFill>
              </a:rPr>
              <a:t>unpredictable</a:t>
            </a:r>
            <a:endParaRPr sz="1100" b="1">
              <a:solidFill>
                <a:schemeClr val="dk1"/>
              </a:solidFill>
            </a:endParaRPr>
          </a:p>
          <a:p>
            <a:pPr marL="914400" lvl="1" indent="-298450" algn="l" rtl="0">
              <a:spcBef>
                <a:spcPts val="0"/>
              </a:spcBef>
              <a:spcAft>
                <a:spcPts val="0"/>
              </a:spcAft>
              <a:buClr>
                <a:schemeClr val="dk1"/>
              </a:buClr>
              <a:buSzPts val="1100"/>
              <a:buChar char="○"/>
            </a:pPr>
            <a:r>
              <a:rPr lang="en-GB" sz="1100">
                <a:solidFill>
                  <a:schemeClr val="dk1"/>
                </a:solidFill>
              </a:rPr>
              <a:t>Strong systems recover gracefully through </a:t>
            </a:r>
            <a:r>
              <a:rPr lang="en-GB" sz="1100" b="1">
                <a:solidFill>
                  <a:schemeClr val="dk1"/>
                </a:solidFill>
              </a:rPr>
              <a:t>clarification and context retention</a:t>
            </a:r>
            <a:endParaRPr sz="1100" b="1">
              <a:solidFill>
                <a:schemeClr val="dk1"/>
              </a:solidFill>
            </a:endParaRPr>
          </a:p>
          <a:p>
            <a:pPr marL="914400" lvl="1" indent="-298450" algn="l" rtl="0">
              <a:spcBef>
                <a:spcPts val="0"/>
              </a:spcBef>
              <a:spcAft>
                <a:spcPts val="0"/>
              </a:spcAft>
              <a:buClr>
                <a:schemeClr val="dk1"/>
              </a:buClr>
              <a:buSzPts val="1100"/>
              <a:buChar char="○"/>
            </a:pPr>
            <a:r>
              <a:rPr lang="en-GB" sz="1100">
                <a:solidFill>
                  <a:schemeClr val="dk1"/>
                </a:solidFill>
              </a:rPr>
              <a:t>Ensures robustness beyond ideal scenarios</a:t>
            </a:r>
            <a:endParaRPr sz="1100">
              <a:solidFill>
                <a:schemeClr val="dk1"/>
              </a:solidFill>
            </a:endParaRPr>
          </a:p>
          <a:p>
            <a:pPr marL="457200" lvl="0" indent="-298450" algn="l" rtl="0">
              <a:spcBef>
                <a:spcPts val="0"/>
              </a:spcBef>
              <a:spcAft>
                <a:spcPts val="0"/>
              </a:spcAft>
              <a:buClr>
                <a:schemeClr val="dk1"/>
              </a:buClr>
              <a:buSzPts val="1100"/>
              <a:buChar char="●"/>
            </a:pPr>
            <a:r>
              <a:rPr lang="en-GB" sz="1100" b="1">
                <a:solidFill>
                  <a:schemeClr val="dk1"/>
                </a:solidFill>
              </a:rPr>
              <a:t>Evaluation Scale (1–5):</a:t>
            </a:r>
            <a:endParaRPr sz="1100" b="1">
              <a:solidFill>
                <a:schemeClr val="dk1"/>
              </a:solidFill>
            </a:endParaRPr>
          </a:p>
          <a:p>
            <a:pPr marL="914400" lvl="1" indent="-298450" algn="l" rtl="0">
              <a:spcBef>
                <a:spcPts val="0"/>
              </a:spcBef>
              <a:spcAft>
                <a:spcPts val="0"/>
              </a:spcAft>
              <a:buClr>
                <a:schemeClr val="dk1"/>
              </a:buClr>
              <a:buSzPts val="1100"/>
              <a:buChar char="○"/>
            </a:pPr>
            <a:r>
              <a:rPr lang="en-GB" sz="1100" b="1">
                <a:solidFill>
                  <a:schemeClr val="dk1"/>
                </a:solidFill>
              </a:rPr>
              <a:t>5:</a:t>
            </a:r>
            <a:r>
              <a:rPr lang="en-GB" sz="1100">
                <a:solidFill>
                  <a:schemeClr val="dk1"/>
                </a:solidFill>
              </a:rPr>
              <a:t> Effectively identifies issues and recovers smoothly</a:t>
            </a:r>
            <a:endParaRPr sz="1100">
              <a:solidFill>
                <a:schemeClr val="dk1"/>
              </a:solidFill>
            </a:endParaRPr>
          </a:p>
          <a:p>
            <a:pPr marL="914400" lvl="1" indent="-298450" algn="l" rtl="0">
              <a:spcBef>
                <a:spcPts val="0"/>
              </a:spcBef>
              <a:spcAft>
                <a:spcPts val="0"/>
              </a:spcAft>
              <a:buClr>
                <a:schemeClr val="dk1"/>
              </a:buClr>
              <a:buSzPts val="1100"/>
              <a:buChar char="○"/>
            </a:pPr>
            <a:r>
              <a:rPr lang="en-GB" sz="1100" b="1">
                <a:solidFill>
                  <a:schemeClr val="dk1"/>
                </a:solidFill>
              </a:rPr>
              <a:t>3:</a:t>
            </a:r>
            <a:r>
              <a:rPr lang="en-GB" sz="1100">
                <a:solidFill>
                  <a:schemeClr val="dk1"/>
                </a:solidFill>
              </a:rPr>
              <a:t> Partial recovery with some gaps</a:t>
            </a:r>
            <a:endParaRPr sz="1100">
              <a:solidFill>
                <a:schemeClr val="dk1"/>
              </a:solidFill>
            </a:endParaRPr>
          </a:p>
          <a:p>
            <a:pPr marL="914400" lvl="1" indent="-298450" algn="l" rtl="0">
              <a:spcBef>
                <a:spcPts val="0"/>
              </a:spcBef>
              <a:spcAft>
                <a:spcPts val="0"/>
              </a:spcAft>
              <a:buClr>
                <a:schemeClr val="dk1"/>
              </a:buClr>
              <a:buSzPts val="1100"/>
              <a:buChar char="○"/>
            </a:pPr>
            <a:r>
              <a:rPr lang="en-GB" sz="1100" b="1">
                <a:solidFill>
                  <a:schemeClr val="dk1"/>
                </a:solidFill>
              </a:rPr>
              <a:t>1:</a:t>
            </a:r>
            <a:r>
              <a:rPr lang="en-GB" sz="1100">
                <a:solidFill>
                  <a:schemeClr val="dk1"/>
                </a:solidFill>
              </a:rPr>
              <a:t> Fails to recover or produces incorrect responses</a:t>
            </a:r>
            <a:endParaRPr sz="1100">
              <a:solidFill>
                <a:schemeClr val="dk1"/>
              </a:solidFill>
            </a:endParaRPr>
          </a:p>
          <a:p>
            <a:pPr marL="457200" lvl="0" indent="-298450" algn="l" rtl="0">
              <a:spcBef>
                <a:spcPts val="0"/>
              </a:spcBef>
              <a:spcAft>
                <a:spcPts val="0"/>
              </a:spcAft>
              <a:buClr>
                <a:schemeClr val="dk1"/>
              </a:buClr>
              <a:buSzPts val="1100"/>
              <a:buChar char="●"/>
            </a:pPr>
            <a:r>
              <a:rPr lang="en-GB" sz="1100" b="1">
                <a:solidFill>
                  <a:schemeClr val="dk1"/>
                </a:solidFill>
              </a:rPr>
              <a:t>Weight:</a:t>
            </a:r>
            <a:endParaRPr sz="1100" b="1">
              <a:solidFill>
                <a:schemeClr val="dk1"/>
              </a:solidFill>
            </a:endParaRPr>
          </a:p>
          <a:p>
            <a:pPr marL="914400" lvl="1" indent="-298450" algn="l" rtl="0">
              <a:spcBef>
                <a:spcPts val="0"/>
              </a:spcBef>
              <a:spcAft>
                <a:spcPts val="0"/>
              </a:spcAft>
              <a:buClr>
                <a:schemeClr val="dk1"/>
              </a:buClr>
              <a:buSzPts val="1100"/>
              <a:buChar char="○"/>
            </a:pPr>
            <a:r>
              <a:rPr lang="en-GB" sz="1100" b="1">
                <a:solidFill>
                  <a:schemeClr val="dk1"/>
                </a:solidFill>
              </a:rPr>
              <a:t>10%</a:t>
            </a:r>
            <a:r>
              <a:rPr lang="en-GB" sz="1100">
                <a:solidFill>
                  <a:schemeClr val="dk1"/>
                </a:solidFill>
              </a:rPr>
              <a:t> — emphasizes </a:t>
            </a:r>
            <a:r>
              <a:rPr lang="en-GB" sz="1100" b="1">
                <a:solidFill>
                  <a:schemeClr val="dk1"/>
                </a:solidFill>
              </a:rPr>
              <a:t>system robustness and reliability</a:t>
            </a:r>
            <a:endParaRPr sz="1100" b="1">
              <a:solidFill>
                <a:schemeClr val="dk1"/>
              </a:solidFill>
            </a:endParaRPr>
          </a:p>
          <a:p>
            <a:pPr marL="0" lvl="0" indent="0" algn="l" rtl="0">
              <a:lnSpc>
                <a:spcPct val="100000"/>
              </a:lnSpc>
              <a:spcBef>
                <a:spcPts val="1200"/>
              </a:spcBef>
              <a:spcAft>
                <a:spcPts val="0"/>
              </a:spcAft>
              <a:buClr>
                <a:schemeClr val="dk1"/>
              </a:buClr>
              <a:buSzPts val="1100"/>
              <a:buFont typeface="Arial"/>
              <a:buNone/>
            </a:pPr>
            <a:endParaRPr sz="1100"/>
          </a:p>
          <a:p>
            <a:pPr marL="0" lvl="0" indent="0" algn="l" rtl="0">
              <a:spcBef>
                <a:spcPts val="0"/>
              </a:spcBef>
              <a:spcAft>
                <a:spcPts val="1200"/>
              </a:spcAft>
              <a:buNone/>
            </a:pPr>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5" name="Google Shape;415;p71"/>
          <p:cNvSpPr txBox="1"/>
          <p:nvPr/>
        </p:nvSpPr>
        <p:spPr>
          <a:xfrm>
            <a:off x="138050" y="182725"/>
            <a:ext cx="8715600" cy="387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400"/>
              </a:spcBef>
              <a:spcAft>
                <a:spcPts val="0"/>
              </a:spcAft>
              <a:buClr>
                <a:schemeClr val="dk1"/>
              </a:buClr>
              <a:buSzPts val="1100"/>
              <a:buFont typeface="Arial"/>
              <a:buNone/>
            </a:pPr>
            <a:r>
              <a:rPr lang="en-GB" sz="1300" b="1">
                <a:solidFill>
                  <a:schemeClr val="dk1"/>
                </a:solidFill>
              </a:rPr>
              <a:t>2. Evaluator Interface Design</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GB" sz="1100">
                <a:solidFill>
                  <a:schemeClr val="dk1"/>
                </a:solidFill>
              </a:rPr>
              <a:t>The interface should help evaluators </a:t>
            </a:r>
            <a:r>
              <a:rPr lang="en-GB" sz="1100" b="1">
                <a:solidFill>
                  <a:schemeClr val="dk1"/>
                </a:solidFill>
              </a:rPr>
              <a:t>work quickly, consistently, and without confusion</a:t>
            </a:r>
            <a:r>
              <a:rPr lang="en-GB" sz="1100">
                <a:solidFill>
                  <a:schemeClr val="dk1"/>
                </a:solidFill>
              </a:rPr>
              <a:t> — everything on screen must support this goal.</a:t>
            </a:r>
            <a:endParaRPr sz="1100">
              <a:solidFill>
                <a:schemeClr val="dk1"/>
              </a:solidFill>
            </a:endParaRPr>
          </a:p>
          <a:p>
            <a:pPr marL="457200" lvl="0" indent="-298450" algn="l" rtl="0">
              <a:lnSpc>
                <a:spcPct val="115000"/>
              </a:lnSpc>
              <a:spcBef>
                <a:spcPts val="1200"/>
              </a:spcBef>
              <a:spcAft>
                <a:spcPts val="0"/>
              </a:spcAft>
              <a:buClr>
                <a:schemeClr val="dk1"/>
              </a:buClr>
              <a:buSzPts val="1100"/>
              <a:buChar char="●"/>
            </a:pPr>
            <a:r>
              <a:rPr lang="en-GB" sz="1100" b="1">
                <a:solidFill>
                  <a:schemeClr val="dk1"/>
                </a:solidFill>
              </a:rPr>
              <a:t>Task Description Panel:</a:t>
            </a:r>
            <a:br>
              <a:rPr lang="en-GB" sz="1100" b="1">
                <a:solidFill>
                  <a:schemeClr val="dk1"/>
                </a:solidFill>
              </a:rPr>
            </a:br>
            <a:r>
              <a:rPr lang="en-GB" sz="1100">
                <a:solidFill>
                  <a:schemeClr val="dk1"/>
                </a:solidFill>
              </a:rPr>
              <a:t> Always visible goal of the conversation → </a:t>
            </a:r>
            <a:r>
              <a:rPr lang="en-GB" sz="1100" b="1">
                <a:solidFill>
                  <a:schemeClr val="dk1"/>
                </a:solidFill>
              </a:rPr>
              <a:t>keeps evaluation aligned</a:t>
            </a:r>
            <a:r>
              <a:rPr lang="en-GB" sz="1100">
                <a:solidFill>
                  <a:schemeClr val="dk1"/>
                </a:solidFill>
              </a:rPr>
              <a:t> and prevents personal interpretation of success.</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GB" sz="1100" b="1">
                <a:solidFill>
                  <a:schemeClr val="dk1"/>
                </a:solidFill>
              </a:rPr>
              <a:t>Audio Player:</a:t>
            </a:r>
            <a:br>
              <a:rPr lang="en-GB" sz="1100" b="1">
                <a:solidFill>
                  <a:schemeClr val="dk1"/>
                </a:solidFill>
              </a:rPr>
            </a:br>
            <a:r>
              <a:rPr lang="en-GB" sz="1100">
                <a:solidFill>
                  <a:schemeClr val="dk1"/>
                </a:solidFill>
              </a:rPr>
              <a:t> Main tool with playback controls (pause, rewind, speed) → enables </a:t>
            </a:r>
            <a:r>
              <a:rPr lang="en-GB" sz="1100" b="1">
                <a:solidFill>
                  <a:schemeClr val="dk1"/>
                </a:solidFill>
              </a:rPr>
              <a:t>efficient and flexible review</a:t>
            </a:r>
            <a:r>
              <a:rPr lang="en-GB" sz="1100">
                <a:solidFill>
                  <a:schemeClr val="dk1"/>
                </a:solidFill>
              </a:rPr>
              <a:t>.</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GB" sz="1100" b="1">
                <a:solidFill>
                  <a:schemeClr val="dk1"/>
                </a:solidFill>
              </a:rPr>
              <a:t>Synchronized Transcript:</a:t>
            </a:r>
            <a:br>
              <a:rPr lang="en-GB" sz="1100" b="1">
                <a:solidFill>
                  <a:schemeClr val="dk1"/>
                </a:solidFill>
              </a:rPr>
            </a:br>
            <a:r>
              <a:rPr lang="en-GB" sz="1100">
                <a:solidFill>
                  <a:schemeClr val="dk1"/>
                </a:solidFill>
              </a:rPr>
              <a:t> Highlights speech in real time with clear speaker distinction → helps </a:t>
            </a:r>
            <a:r>
              <a:rPr lang="en-GB" sz="1100" b="1">
                <a:solidFill>
                  <a:schemeClr val="dk1"/>
                </a:solidFill>
              </a:rPr>
              <a:t>spot errors and review faster without replaying audio</a:t>
            </a:r>
            <a:r>
              <a:rPr lang="en-GB" sz="1100">
                <a:solidFill>
                  <a:schemeClr val="dk1"/>
                </a:solidFill>
              </a:rPr>
              <a:t>.</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GB" sz="1100" b="1">
                <a:solidFill>
                  <a:schemeClr val="dk1"/>
                </a:solidFill>
              </a:rPr>
              <a:t>Rating Panel:</a:t>
            </a:r>
            <a:br>
              <a:rPr lang="en-GB" sz="1100" b="1">
                <a:solidFill>
                  <a:schemeClr val="dk1"/>
                </a:solidFill>
              </a:rPr>
            </a:br>
            <a:r>
              <a:rPr lang="en-GB" sz="1100">
                <a:solidFill>
                  <a:schemeClr val="dk1"/>
                </a:solidFill>
              </a:rPr>
              <a:t> Fixed criteria with clearly defined score labels → ensures </a:t>
            </a:r>
            <a:r>
              <a:rPr lang="en-GB" sz="1100" b="1">
                <a:solidFill>
                  <a:schemeClr val="dk1"/>
                </a:solidFill>
              </a:rPr>
              <a:t>consistent scoring and reduces subjectivity</a:t>
            </a:r>
            <a:r>
              <a:rPr lang="en-GB" sz="1100">
                <a:solidFill>
                  <a:schemeClr val="dk1"/>
                </a:solidFill>
              </a:rPr>
              <a:t>.</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GB" sz="1100" b="1">
                <a:solidFill>
                  <a:schemeClr val="dk1"/>
                </a:solidFill>
              </a:rPr>
              <a:t>Comments Field:</a:t>
            </a:r>
            <a:br>
              <a:rPr lang="en-GB" sz="1100" b="1">
                <a:solidFill>
                  <a:schemeClr val="dk1"/>
                </a:solidFill>
              </a:rPr>
            </a:br>
            <a:r>
              <a:rPr lang="en-GB" sz="1100">
                <a:solidFill>
                  <a:schemeClr val="dk1"/>
                </a:solidFill>
              </a:rPr>
              <a:t> Required for low scores (1–2), optional otherwise → ensures </a:t>
            </a:r>
            <a:r>
              <a:rPr lang="en-GB" sz="1100" b="1">
                <a:solidFill>
                  <a:schemeClr val="dk1"/>
                </a:solidFill>
              </a:rPr>
              <a:t>justification for poor performance</a:t>
            </a:r>
            <a:r>
              <a:rPr lang="en-GB" sz="1100">
                <a:solidFill>
                  <a:schemeClr val="dk1"/>
                </a:solidFill>
              </a:rPr>
              <a:t>.</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GB" sz="1100" b="1">
                <a:solidFill>
                  <a:schemeClr val="dk1"/>
                </a:solidFill>
              </a:rPr>
              <a:t>Flag Control:</a:t>
            </a:r>
            <a:br>
              <a:rPr lang="en-GB" sz="1100" b="1">
                <a:solidFill>
                  <a:schemeClr val="dk1"/>
                </a:solidFill>
              </a:rPr>
            </a:br>
            <a:r>
              <a:rPr lang="en-GB" sz="1100">
                <a:solidFill>
                  <a:schemeClr val="dk1"/>
                </a:solidFill>
              </a:rPr>
              <a:t> Allows marking critical issues (e.g., AI failure, bad audio) → routes cases for </a:t>
            </a:r>
            <a:r>
              <a:rPr lang="en-GB" sz="1100" b="1">
                <a:solidFill>
                  <a:schemeClr val="dk1"/>
                </a:solidFill>
              </a:rPr>
              <a:t>special review instead of normal processing</a:t>
            </a:r>
            <a:r>
              <a:rPr lang="en-GB" sz="1100">
                <a:solidFill>
                  <a:schemeClr val="dk1"/>
                </a:solidFill>
              </a:rPr>
              <a:t>.</a:t>
            </a:r>
            <a:endParaRPr sz="1100">
              <a:solidFill>
                <a:schemeClr val="dk1"/>
              </a:solidFill>
            </a:endParaRPr>
          </a:p>
          <a:p>
            <a:pPr marL="0" lvl="0" indent="0" algn="l" rtl="0">
              <a:spcBef>
                <a:spcPts val="1200"/>
              </a:spcBef>
              <a:spcAft>
                <a:spcPts val="0"/>
              </a:spcAft>
              <a:buNone/>
            </a:pPr>
            <a:endParaRPr sz="1700" b="1">
              <a:solidFill>
                <a:schemeClr val="dk1"/>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420" name="Google Shape;420;p72"/>
          <p:cNvSpPr txBox="1"/>
          <p:nvPr/>
        </p:nvSpPr>
        <p:spPr>
          <a:xfrm>
            <a:off x="1106450" y="242125"/>
            <a:ext cx="4924200" cy="4805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800"/>
              </a:spcBef>
              <a:spcAft>
                <a:spcPts val="0"/>
              </a:spcAft>
              <a:buClr>
                <a:schemeClr val="dk1"/>
              </a:buClr>
              <a:buSzPts val="1100"/>
              <a:buFont typeface="Arial"/>
              <a:buNone/>
            </a:pPr>
            <a:r>
              <a:rPr lang="en-GB" sz="1700" b="1">
                <a:solidFill>
                  <a:schemeClr val="dk1"/>
                </a:solidFill>
              </a:rPr>
              <a:t>Evaluator Workflow (End-to-End)</a:t>
            </a:r>
            <a:endParaRPr sz="1700" b="1">
              <a:solidFill>
                <a:schemeClr val="dk1"/>
              </a:solidFill>
            </a:endParaRPr>
          </a:p>
          <a:p>
            <a:pPr marL="457200" lvl="0" indent="-298450" algn="l" rtl="0">
              <a:lnSpc>
                <a:spcPct val="115000"/>
              </a:lnSpc>
              <a:spcBef>
                <a:spcPts val="1200"/>
              </a:spcBef>
              <a:spcAft>
                <a:spcPts val="0"/>
              </a:spcAft>
              <a:buClr>
                <a:schemeClr val="dk1"/>
              </a:buClr>
              <a:buSzPts val="1100"/>
              <a:buAutoNum type="arabicPeriod"/>
            </a:pPr>
            <a:r>
              <a:rPr lang="en-GB" sz="1100" b="1">
                <a:solidFill>
                  <a:schemeClr val="dk1"/>
                </a:solidFill>
              </a:rPr>
              <a:t>Task Review</a:t>
            </a:r>
            <a:endParaRPr sz="1100" b="1">
              <a:solidFill>
                <a:schemeClr val="dk1"/>
              </a:solidFill>
            </a:endParaRPr>
          </a:p>
          <a:p>
            <a:pPr marL="914400" lvl="1" indent="-298450" algn="l" rtl="0">
              <a:lnSpc>
                <a:spcPct val="115000"/>
              </a:lnSpc>
              <a:spcBef>
                <a:spcPts val="0"/>
              </a:spcBef>
              <a:spcAft>
                <a:spcPts val="0"/>
              </a:spcAft>
              <a:buClr>
                <a:schemeClr val="dk1"/>
              </a:buClr>
              <a:buSzPts val="1100"/>
              <a:buChar char="○"/>
            </a:pPr>
            <a:r>
              <a:rPr lang="en-GB" sz="1100">
                <a:solidFill>
                  <a:schemeClr val="dk1"/>
                </a:solidFill>
              </a:rPr>
              <a:t>Evaluator reads </a:t>
            </a:r>
            <a:r>
              <a:rPr lang="en-GB" sz="1100" b="1">
                <a:solidFill>
                  <a:schemeClr val="dk1"/>
                </a:solidFill>
              </a:rPr>
              <a:t>task description</a:t>
            </a:r>
            <a:r>
              <a:rPr lang="en-GB" sz="1100">
                <a:solidFill>
                  <a:schemeClr val="dk1"/>
                </a:solidFill>
              </a:rPr>
              <a:t> to understand objective</a:t>
            </a:r>
            <a:endParaRPr sz="1100">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GB" sz="1100" b="1">
                <a:solidFill>
                  <a:schemeClr val="dk1"/>
                </a:solidFill>
              </a:rPr>
              <a:t>Initial Listening (Orientation Pass)</a:t>
            </a:r>
            <a:endParaRPr sz="1100" b="1">
              <a:solidFill>
                <a:schemeClr val="dk1"/>
              </a:solidFill>
            </a:endParaRPr>
          </a:p>
          <a:p>
            <a:pPr marL="914400" lvl="1" indent="-298450" algn="l" rtl="0">
              <a:lnSpc>
                <a:spcPct val="115000"/>
              </a:lnSpc>
              <a:spcBef>
                <a:spcPts val="0"/>
              </a:spcBef>
              <a:spcAft>
                <a:spcPts val="0"/>
              </a:spcAft>
              <a:buClr>
                <a:schemeClr val="dk1"/>
              </a:buClr>
              <a:buSzPts val="1100"/>
              <a:buChar char="○"/>
            </a:pPr>
            <a:r>
              <a:rPr lang="en-GB" sz="1100">
                <a:solidFill>
                  <a:schemeClr val="dk1"/>
                </a:solidFill>
              </a:rPr>
              <a:t>Plays full conversation once </a:t>
            </a:r>
            <a:r>
              <a:rPr lang="en-GB" sz="1100" b="1">
                <a:solidFill>
                  <a:schemeClr val="dk1"/>
                </a:solidFill>
              </a:rPr>
              <a:t>without rating</a:t>
            </a:r>
            <a:endParaRPr sz="1100" b="1">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GB" sz="1100" b="1">
                <a:solidFill>
                  <a:schemeClr val="dk1"/>
                </a:solidFill>
              </a:rPr>
              <a:t>Detailed Evaluation</a:t>
            </a:r>
            <a:endParaRPr sz="1100" b="1">
              <a:solidFill>
                <a:schemeClr val="dk1"/>
              </a:solidFill>
            </a:endParaRPr>
          </a:p>
          <a:p>
            <a:pPr marL="914400" lvl="1" indent="-298450" algn="l" rtl="0">
              <a:lnSpc>
                <a:spcPct val="115000"/>
              </a:lnSpc>
              <a:spcBef>
                <a:spcPts val="0"/>
              </a:spcBef>
              <a:spcAft>
                <a:spcPts val="0"/>
              </a:spcAft>
              <a:buClr>
                <a:schemeClr val="dk1"/>
              </a:buClr>
              <a:buSzPts val="1100"/>
              <a:buChar char="○"/>
            </a:pPr>
            <a:r>
              <a:rPr lang="en-GB" sz="1100">
                <a:solidFill>
                  <a:schemeClr val="dk1"/>
                </a:solidFill>
              </a:rPr>
              <a:t>Rates each criterion</a:t>
            </a:r>
            <a:endParaRPr sz="1100">
              <a:solidFill>
                <a:schemeClr val="dk1"/>
              </a:solidFill>
            </a:endParaRPr>
          </a:p>
          <a:p>
            <a:pPr marL="914400" lvl="1" indent="-298450" algn="l" rtl="0">
              <a:lnSpc>
                <a:spcPct val="115000"/>
              </a:lnSpc>
              <a:spcBef>
                <a:spcPts val="0"/>
              </a:spcBef>
              <a:spcAft>
                <a:spcPts val="0"/>
              </a:spcAft>
              <a:buClr>
                <a:schemeClr val="dk1"/>
              </a:buClr>
              <a:buSzPts val="1100"/>
              <a:buChar char="○"/>
            </a:pPr>
            <a:r>
              <a:rPr lang="en-GB" sz="1100">
                <a:solidFill>
                  <a:schemeClr val="dk1"/>
                </a:solidFill>
              </a:rPr>
              <a:t>Rewinds specific segments for verification</a:t>
            </a:r>
            <a:endParaRPr sz="1100">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GB" sz="1100" b="1">
                <a:solidFill>
                  <a:schemeClr val="dk1"/>
                </a:solidFill>
              </a:rPr>
              <a:t>Feedback Submission</a:t>
            </a:r>
            <a:endParaRPr sz="1100" b="1">
              <a:solidFill>
                <a:schemeClr val="dk1"/>
              </a:solidFill>
            </a:endParaRPr>
          </a:p>
          <a:p>
            <a:pPr marL="914400" lvl="1" indent="-298450" algn="l" rtl="0">
              <a:lnSpc>
                <a:spcPct val="115000"/>
              </a:lnSpc>
              <a:spcBef>
                <a:spcPts val="0"/>
              </a:spcBef>
              <a:spcAft>
                <a:spcPts val="0"/>
              </a:spcAft>
              <a:buClr>
                <a:schemeClr val="dk1"/>
              </a:buClr>
              <a:buSzPts val="1100"/>
              <a:buChar char="○"/>
            </a:pPr>
            <a:r>
              <a:rPr lang="en-GB" sz="1100">
                <a:solidFill>
                  <a:schemeClr val="dk1"/>
                </a:solidFill>
              </a:rPr>
              <a:t>Adds </a:t>
            </a:r>
            <a:r>
              <a:rPr lang="en-GB" sz="1100" b="1">
                <a:solidFill>
                  <a:schemeClr val="dk1"/>
                </a:solidFill>
              </a:rPr>
              <a:t>mandatory comments</a:t>
            </a:r>
            <a:r>
              <a:rPr lang="en-GB" sz="1100">
                <a:solidFill>
                  <a:schemeClr val="dk1"/>
                </a:solidFill>
              </a:rPr>
              <a:t> for low scores (≤2)</a:t>
            </a:r>
            <a:endParaRPr sz="1100">
              <a:solidFill>
                <a:schemeClr val="dk1"/>
              </a:solidFill>
            </a:endParaRPr>
          </a:p>
          <a:p>
            <a:pPr marL="914400" lvl="1" indent="-298450" algn="l" rtl="0">
              <a:lnSpc>
                <a:spcPct val="115000"/>
              </a:lnSpc>
              <a:spcBef>
                <a:spcPts val="0"/>
              </a:spcBef>
              <a:spcAft>
                <a:spcPts val="0"/>
              </a:spcAft>
              <a:buClr>
                <a:schemeClr val="dk1"/>
              </a:buClr>
              <a:buSzPts val="1100"/>
              <a:buChar char="○"/>
            </a:pPr>
            <a:r>
              <a:rPr lang="en-GB" sz="1100">
                <a:solidFill>
                  <a:schemeClr val="dk1"/>
                </a:solidFill>
              </a:rPr>
              <a:t>Optional comments for additional context</a:t>
            </a:r>
            <a:endParaRPr sz="1100">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GB" sz="1100" b="1">
                <a:solidFill>
                  <a:schemeClr val="dk1"/>
                </a:solidFill>
              </a:rPr>
              <a:t>Review &amp; Submit</a:t>
            </a:r>
            <a:endParaRPr sz="1100" b="1">
              <a:solidFill>
                <a:schemeClr val="dk1"/>
              </a:solidFill>
            </a:endParaRPr>
          </a:p>
          <a:p>
            <a:pPr marL="914400" lvl="1" indent="-298450" algn="l" rtl="0">
              <a:lnSpc>
                <a:spcPct val="115000"/>
              </a:lnSpc>
              <a:spcBef>
                <a:spcPts val="0"/>
              </a:spcBef>
              <a:spcAft>
                <a:spcPts val="0"/>
              </a:spcAft>
              <a:buClr>
                <a:schemeClr val="dk1"/>
              </a:buClr>
              <a:buSzPts val="1100"/>
              <a:buChar char="○"/>
            </a:pPr>
            <a:r>
              <a:rPr lang="en-GB" sz="1100">
                <a:solidFill>
                  <a:schemeClr val="dk1"/>
                </a:solidFill>
              </a:rPr>
              <a:t>Reviews all ratings on summary screen</a:t>
            </a:r>
            <a:endParaRPr sz="1100">
              <a:solidFill>
                <a:schemeClr val="dk1"/>
              </a:solidFill>
            </a:endParaRPr>
          </a:p>
          <a:p>
            <a:pPr marL="914400" lvl="1" indent="-298450" algn="l" rtl="0">
              <a:lnSpc>
                <a:spcPct val="115000"/>
              </a:lnSpc>
              <a:spcBef>
                <a:spcPts val="0"/>
              </a:spcBef>
              <a:spcAft>
                <a:spcPts val="0"/>
              </a:spcAft>
              <a:buClr>
                <a:schemeClr val="dk1"/>
              </a:buClr>
              <a:buSzPts val="1100"/>
              <a:buChar char="○"/>
            </a:pPr>
            <a:r>
              <a:rPr lang="en-GB" sz="1100">
                <a:solidFill>
                  <a:schemeClr val="dk1"/>
                </a:solidFill>
              </a:rPr>
              <a:t>Submits evaluation</a:t>
            </a:r>
            <a:endParaRPr sz="1100">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GB" sz="1100" b="1">
                <a:solidFill>
                  <a:schemeClr val="dk1"/>
                </a:solidFill>
              </a:rPr>
              <a:t>System Logging</a:t>
            </a:r>
            <a:endParaRPr sz="1100" b="1">
              <a:solidFill>
                <a:schemeClr val="dk1"/>
              </a:solidFill>
            </a:endParaRPr>
          </a:p>
          <a:p>
            <a:pPr marL="914400" lvl="1" indent="-298450" algn="l" rtl="0">
              <a:lnSpc>
                <a:spcPct val="115000"/>
              </a:lnSpc>
              <a:spcBef>
                <a:spcPts val="0"/>
              </a:spcBef>
              <a:spcAft>
                <a:spcPts val="0"/>
              </a:spcAft>
              <a:buClr>
                <a:schemeClr val="dk1"/>
              </a:buClr>
              <a:buSzPts val="1100"/>
              <a:buChar char="○"/>
            </a:pPr>
            <a:r>
              <a:rPr lang="en-GB" sz="1100">
                <a:solidFill>
                  <a:schemeClr val="dk1"/>
                </a:solidFill>
              </a:rPr>
              <a:t>Captures </a:t>
            </a:r>
            <a:r>
              <a:rPr lang="en-GB" sz="1100" b="1">
                <a:solidFill>
                  <a:schemeClr val="dk1"/>
                </a:solidFill>
              </a:rPr>
              <a:t>time spent, timestamps, and scores</a:t>
            </a:r>
            <a:endParaRPr sz="1100" b="1">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n-GB" sz="1300" b="1">
                <a:solidFill>
                  <a:schemeClr val="dk1"/>
                </a:solidFill>
              </a:rPr>
              <a:t>Performance Benchmark</a:t>
            </a:r>
            <a:endParaRPr sz="1300"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GB" sz="1100" b="1">
                <a:solidFill>
                  <a:schemeClr val="dk1"/>
                </a:solidFill>
              </a:rPr>
              <a:t>Target Evaluation Time:</a:t>
            </a:r>
            <a:r>
              <a:rPr lang="en-GB" sz="1100">
                <a:solidFill>
                  <a:schemeClr val="dk1"/>
                </a:solidFill>
              </a:rPr>
              <a:t> 2–4 minutes per conversation</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GB" sz="1100" b="1">
                <a:solidFill>
                  <a:schemeClr val="dk1"/>
                </a:solidFill>
              </a:rPr>
              <a:t>Quality Check:</a:t>
            </a:r>
            <a:endParaRPr sz="1100" b="1">
              <a:solidFill>
                <a:schemeClr val="dk1"/>
              </a:solidFill>
            </a:endParaRPr>
          </a:p>
          <a:p>
            <a:pPr marL="914400" lvl="1" indent="-298450" algn="l" rtl="0">
              <a:lnSpc>
                <a:spcPct val="115000"/>
              </a:lnSpc>
              <a:spcBef>
                <a:spcPts val="0"/>
              </a:spcBef>
              <a:spcAft>
                <a:spcPts val="0"/>
              </a:spcAft>
              <a:buClr>
                <a:schemeClr val="dk1"/>
              </a:buClr>
              <a:buSzPts val="1100"/>
              <a:buChar char="○"/>
            </a:pPr>
            <a:r>
              <a:rPr lang="en-GB" sz="1100">
                <a:solidFill>
                  <a:schemeClr val="dk1"/>
                </a:solidFill>
              </a:rPr>
              <a:t>Evaluations completed in </a:t>
            </a:r>
            <a:r>
              <a:rPr lang="en-GB" sz="1100" b="1">
                <a:solidFill>
                  <a:schemeClr val="dk1"/>
                </a:solidFill>
              </a:rPr>
              <a:t>&lt;60 seconds flagged for review</a:t>
            </a:r>
            <a:endParaRPr sz="1100" b="1">
              <a:solidFill>
                <a:schemeClr val="dk1"/>
              </a:solidFill>
            </a:endParaRPr>
          </a:p>
          <a:p>
            <a:pPr marL="0" lvl="0" indent="0" algn="l" rtl="0">
              <a:spcBef>
                <a:spcPts val="1200"/>
              </a:spcBef>
              <a:spcAft>
                <a:spcPts val="0"/>
              </a:spcAft>
              <a:buNone/>
            </a:pPr>
            <a:endParaRPr sz="1800">
              <a:solidFill>
                <a:schemeClr val="dk2"/>
              </a:solidFil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5" name="Google Shape;425;p73"/>
          <p:cNvSpPr txBox="1"/>
          <p:nvPr/>
        </p:nvSpPr>
        <p:spPr>
          <a:xfrm>
            <a:off x="133425" y="58825"/>
            <a:ext cx="8566200" cy="4897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400"/>
              </a:spcBef>
              <a:spcAft>
                <a:spcPts val="0"/>
              </a:spcAft>
              <a:buClr>
                <a:schemeClr val="dk1"/>
              </a:buClr>
              <a:buSzPts val="1100"/>
              <a:buFont typeface="Arial"/>
              <a:buNone/>
            </a:pPr>
            <a:r>
              <a:rPr lang="en-GB" sz="1300" b="1">
                <a:solidFill>
                  <a:schemeClr val="dk1"/>
                </a:solidFill>
              </a:rPr>
              <a:t>3. Reducing Rating Inconsistency</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GB" sz="1100">
                <a:solidFill>
                  <a:schemeClr val="dk1"/>
                </a:solidFill>
              </a:rPr>
              <a:t>Inconsistency comes from system design, not people — so the goal is to </a:t>
            </a:r>
            <a:r>
              <a:rPr lang="en-GB" sz="1100" b="1">
                <a:solidFill>
                  <a:schemeClr val="dk1"/>
                </a:solidFill>
              </a:rPr>
              <a:t>reduce subjectivity at every step</a:t>
            </a:r>
            <a:r>
              <a:rPr lang="en-GB" sz="1100">
                <a:solidFill>
                  <a:schemeClr val="dk1"/>
                </a:solidFill>
              </a:rPr>
              <a:t>.</a:t>
            </a:r>
            <a:endParaRPr sz="1100">
              <a:solidFill>
                <a:schemeClr val="dk1"/>
              </a:solidFill>
            </a:endParaRPr>
          </a:p>
          <a:p>
            <a:pPr marL="457200" lvl="0" indent="-298450" algn="l" rtl="0">
              <a:lnSpc>
                <a:spcPct val="115000"/>
              </a:lnSpc>
              <a:spcBef>
                <a:spcPts val="1200"/>
              </a:spcBef>
              <a:spcAft>
                <a:spcPts val="0"/>
              </a:spcAft>
              <a:buClr>
                <a:schemeClr val="dk1"/>
              </a:buClr>
              <a:buSzPts val="1100"/>
              <a:buChar char="●"/>
            </a:pPr>
            <a:r>
              <a:rPr lang="en-GB" sz="1100" b="1">
                <a:solidFill>
                  <a:schemeClr val="dk1"/>
                </a:solidFill>
              </a:rPr>
              <a:t>Anchored Rubrics:</a:t>
            </a:r>
            <a:br>
              <a:rPr lang="en-GB" sz="1100" b="1">
                <a:solidFill>
                  <a:schemeClr val="dk1"/>
                </a:solidFill>
              </a:rPr>
            </a:br>
            <a:r>
              <a:rPr lang="en-GB" sz="1100">
                <a:solidFill>
                  <a:schemeClr val="dk1"/>
                </a:solidFill>
              </a:rPr>
              <a:t> Every score point is clearly defined (not just high/low). Evaluators </a:t>
            </a:r>
            <a:r>
              <a:rPr lang="en-GB" sz="1100" b="1">
                <a:solidFill>
                  <a:schemeClr val="dk1"/>
                </a:solidFill>
              </a:rPr>
              <a:t>don’t guess</a:t>
            </a:r>
            <a:r>
              <a:rPr lang="en-GB" sz="1100">
                <a:solidFill>
                  <a:schemeClr val="dk1"/>
                </a:solidFill>
              </a:rPr>
              <a:t> — they follow precise guidelines available during rating.</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GB" sz="1100" b="1">
                <a:solidFill>
                  <a:schemeClr val="dk1"/>
                </a:solidFill>
              </a:rPr>
              <a:t>Gold Standard Examples:</a:t>
            </a:r>
            <a:br>
              <a:rPr lang="en-GB" sz="1100" b="1">
                <a:solidFill>
                  <a:schemeClr val="dk1"/>
                </a:solidFill>
              </a:rPr>
            </a:br>
            <a:r>
              <a:rPr lang="en-GB" sz="1100">
                <a:solidFill>
                  <a:schemeClr val="dk1"/>
                </a:solidFill>
              </a:rPr>
              <a:t> Evaluators train on pre-rated conversations with explanations, helping them understand </a:t>
            </a:r>
            <a:r>
              <a:rPr lang="en-GB" sz="1100" b="1">
                <a:solidFill>
                  <a:schemeClr val="dk1"/>
                </a:solidFill>
              </a:rPr>
              <a:t>what each score actually looks like in practice</a:t>
            </a:r>
            <a:r>
              <a:rPr lang="en-GB" sz="1100">
                <a:solidFill>
                  <a:schemeClr val="dk1"/>
                </a:solidFill>
              </a:rPr>
              <a:t>.</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GB" sz="1100" b="1">
                <a:solidFill>
                  <a:schemeClr val="dk1"/>
                </a:solidFill>
              </a:rPr>
              <a:t>Calibration Rounds:</a:t>
            </a:r>
            <a:br>
              <a:rPr lang="en-GB" sz="1100" b="1">
                <a:solidFill>
                  <a:schemeClr val="dk1"/>
                </a:solidFill>
              </a:rPr>
            </a:br>
            <a:r>
              <a:rPr lang="en-GB" sz="1100">
                <a:solidFill>
                  <a:schemeClr val="dk1"/>
                </a:solidFill>
              </a:rPr>
              <a:t> Regular shared evaluations ensure everyone stays aligned. Large deviations → </a:t>
            </a:r>
            <a:r>
              <a:rPr lang="en-GB" sz="1100" b="1">
                <a:solidFill>
                  <a:schemeClr val="dk1"/>
                </a:solidFill>
              </a:rPr>
              <a:t>flagged for retraining and feedback</a:t>
            </a:r>
            <a:r>
              <a:rPr lang="en-GB" sz="1100">
                <a:solidFill>
                  <a:schemeClr val="dk1"/>
                </a:solidFill>
              </a:rPr>
              <a:t>.</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GB" sz="1100" b="1">
                <a:solidFill>
                  <a:schemeClr val="dk1"/>
                </a:solidFill>
              </a:rPr>
              <a:t>Hidden Benchmark Tasks:</a:t>
            </a:r>
            <a:br>
              <a:rPr lang="en-GB" sz="1100" b="1">
                <a:solidFill>
                  <a:schemeClr val="dk1"/>
                </a:solidFill>
              </a:rPr>
            </a:br>
            <a:r>
              <a:rPr lang="en-GB" sz="1100">
                <a:solidFill>
                  <a:schemeClr val="dk1"/>
                </a:solidFill>
              </a:rPr>
              <a:t> Some tasks have known answers to track evaluator performance over time and </a:t>
            </a:r>
            <a:r>
              <a:rPr lang="en-GB" sz="1100" b="1">
                <a:solidFill>
                  <a:schemeClr val="dk1"/>
                </a:solidFill>
              </a:rPr>
              <a:t>measure reliability objectively</a:t>
            </a:r>
            <a:r>
              <a:rPr lang="en-GB" sz="1100">
                <a:solidFill>
                  <a:schemeClr val="dk1"/>
                </a:solidFill>
              </a:rPr>
              <a:t>.</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GB" sz="1100" b="1">
                <a:solidFill>
                  <a:schemeClr val="dk1"/>
                </a:solidFill>
              </a:rPr>
              <a:t>Structured UI Constraints:</a:t>
            </a:r>
            <a:br>
              <a:rPr lang="en-GB" sz="1100" b="1">
                <a:solidFill>
                  <a:schemeClr val="dk1"/>
                </a:solidFill>
              </a:rPr>
            </a:br>
            <a:r>
              <a:rPr lang="en-GB" sz="1100">
                <a:solidFill>
                  <a:schemeClr val="dk1"/>
                </a:solidFill>
              </a:rPr>
              <a:t> The system enforces complete ratings and required comments, preventing </a:t>
            </a:r>
            <a:r>
              <a:rPr lang="en-GB" sz="1100" b="1">
                <a:solidFill>
                  <a:schemeClr val="dk1"/>
                </a:solidFill>
              </a:rPr>
              <a:t>low-effort or incomplete evaluations</a:t>
            </a:r>
            <a:r>
              <a:rPr lang="en-GB" sz="1100">
                <a:solidFill>
                  <a:schemeClr val="dk1"/>
                </a:solidFill>
              </a:rPr>
              <a:t>.</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GB" sz="1100" b="1">
                <a:solidFill>
                  <a:schemeClr val="dk1"/>
                </a:solidFill>
              </a:rPr>
              <a:t>Weighted Composite Scoring:</a:t>
            </a:r>
            <a:br>
              <a:rPr lang="en-GB" sz="1100" b="1">
                <a:solidFill>
                  <a:schemeClr val="dk1"/>
                </a:solidFill>
              </a:rPr>
            </a:br>
            <a:r>
              <a:rPr lang="en-GB" sz="1100">
                <a:solidFill>
                  <a:schemeClr val="dk1"/>
                </a:solidFill>
              </a:rPr>
              <a:t> Final scores are calculated automatically using fixed weights, so evaluators focus only on </a:t>
            </a:r>
            <a:r>
              <a:rPr lang="en-GB" sz="1100" b="1">
                <a:solidFill>
                  <a:schemeClr val="dk1"/>
                </a:solidFill>
              </a:rPr>
              <a:t>individual criteria, not subjective overall judgment</a:t>
            </a:r>
            <a:r>
              <a:rPr lang="en-GB" sz="1100">
                <a:solidFill>
                  <a:schemeClr val="dk1"/>
                </a:solidFill>
              </a:rPr>
              <a:t>.</a:t>
            </a:r>
            <a:endParaRPr sz="1100">
              <a:solidFill>
                <a:schemeClr val="dk1"/>
              </a:solidFill>
            </a:endParaRPr>
          </a:p>
          <a:p>
            <a:pPr marL="0" lvl="0" indent="0" algn="l" rtl="0">
              <a:spcBef>
                <a:spcPts val="1200"/>
              </a:spcBef>
              <a:spcAft>
                <a:spcPts val="0"/>
              </a:spcAft>
              <a:buNone/>
            </a:pPr>
            <a:endParaRPr sz="1700" b="1">
              <a:solidFill>
                <a:schemeClr val="dk1"/>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sp>
        <p:nvSpPr>
          <p:cNvPr id="430" name="Google Shape;430;p74"/>
          <p:cNvSpPr txBox="1"/>
          <p:nvPr/>
        </p:nvSpPr>
        <p:spPr>
          <a:xfrm>
            <a:off x="37550" y="367250"/>
            <a:ext cx="4851300" cy="3782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endParaRPr sz="1100">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sz="11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GB" sz="1100" b="1">
                <a:solidFill>
                  <a:schemeClr val="dk1"/>
                </a:solidFill>
              </a:rPr>
              <a:t>1. Consistency Metrics</a:t>
            </a:r>
            <a:endParaRPr sz="1100"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GB" sz="1100" b="1">
                <a:solidFill>
                  <a:schemeClr val="dk1"/>
                </a:solidFill>
              </a:rPr>
              <a:t>Inter-rater agreement (IRA):</a:t>
            </a:r>
            <a:r>
              <a:rPr lang="en-GB" sz="1100">
                <a:solidFill>
                  <a:schemeClr val="dk1"/>
                </a:solidFill>
              </a:rPr>
              <a:t> % of cases where evaluators score within ±1 point</a:t>
            </a:r>
            <a:br>
              <a:rPr lang="en-GB" sz="1100">
                <a:solidFill>
                  <a:schemeClr val="dk1"/>
                </a:solidFill>
              </a:rPr>
            </a:br>
            <a:r>
              <a:rPr lang="en-GB" sz="1100">
                <a:solidFill>
                  <a:schemeClr val="dk1"/>
                </a:solidFill>
              </a:rPr>
              <a:t> → </a:t>
            </a:r>
            <a:r>
              <a:rPr lang="en-GB" sz="1100" b="1">
                <a:solidFill>
                  <a:schemeClr val="dk1"/>
                </a:solidFill>
              </a:rPr>
              <a:t>Target:</a:t>
            </a:r>
            <a:r>
              <a:rPr lang="en-GB" sz="1100">
                <a:solidFill>
                  <a:schemeClr val="dk1"/>
                </a:solidFill>
              </a:rPr>
              <a:t> &gt;80% (Task completion: </a:t>
            </a:r>
            <a:r>
              <a:rPr lang="en-GB" sz="1100" b="1">
                <a:solidFill>
                  <a:schemeClr val="dk1"/>
                </a:solidFill>
              </a:rPr>
              <a:t>&gt;90%</a:t>
            </a:r>
            <a:r>
              <a:rPr lang="en-GB" sz="1100">
                <a:solidFill>
                  <a:schemeClr val="dk1"/>
                </a:solidFill>
              </a:rPr>
              <a:t>)</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GB" sz="1100" b="1">
                <a:solidFill>
                  <a:schemeClr val="dk1"/>
                </a:solidFill>
              </a:rPr>
              <a:t>Evaluator variance:</a:t>
            </a:r>
            <a:r>
              <a:rPr lang="en-GB" sz="1100">
                <a:solidFill>
                  <a:schemeClr val="dk1"/>
                </a:solidFill>
              </a:rPr>
              <a:t> Measures scoring consistency of each evaluator</a:t>
            </a:r>
            <a:br>
              <a:rPr lang="en-GB" sz="1100">
                <a:solidFill>
                  <a:schemeClr val="dk1"/>
                </a:solidFill>
              </a:rPr>
            </a:br>
            <a:r>
              <a:rPr lang="en-GB" sz="1100">
                <a:solidFill>
                  <a:schemeClr val="dk1"/>
                </a:solidFill>
              </a:rPr>
              <a:t> → High variance = unstable understanding of rubric</a:t>
            </a:r>
            <a:endParaRPr sz="11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GB" sz="1100" b="1">
                <a:solidFill>
                  <a:schemeClr val="dk1"/>
                </a:solidFill>
              </a:rPr>
              <a:t>2. Speed Metrics</a:t>
            </a:r>
            <a:endParaRPr sz="1100"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GB" sz="1100" b="1">
                <a:solidFill>
                  <a:schemeClr val="dk1"/>
                </a:solidFill>
              </a:rPr>
              <a:t>Avg. time per evaluation:</a:t>
            </a:r>
            <a:r>
              <a:rPr lang="en-GB" sz="1100">
                <a:solidFill>
                  <a:schemeClr val="dk1"/>
                </a:solidFill>
              </a:rPr>
              <a:t> </a:t>
            </a:r>
            <a:r>
              <a:rPr lang="en-GB" sz="1100" b="1">
                <a:solidFill>
                  <a:schemeClr val="dk1"/>
                </a:solidFill>
              </a:rPr>
              <a:t>2–4 minutes</a:t>
            </a:r>
            <a:endParaRPr sz="1100" b="1">
              <a:solidFill>
                <a:schemeClr val="dk1"/>
              </a:solidFill>
            </a:endParaRPr>
          </a:p>
          <a:p>
            <a:pPr marL="457200" lvl="0" indent="-298450" algn="l" rtl="0">
              <a:lnSpc>
                <a:spcPct val="115000"/>
              </a:lnSpc>
              <a:spcBef>
                <a:spcPts val="0"/>
              </a:spcBef>
              <a:spcAft>
                <a:spcPts val="0"/>
              </a:spcAft>
              <a:buClr>
                <a:schemeClr val="dk1"/>
              </a:buClr>
              <a:buSzPts val="1100"/>
              <a:buChar char="●"/>
            </a:pPr>
            <a:r>
              <a:rPr lang="en-GB" sz="1100" b="1">
                <a:solidFill>
                  <a:schemeClr val="dk1"/>
                </a:solidFill>
              </a:rPr>
              <a:t>Throughput:</a:t>
            </a:r>
            <a:r>
              <a:rPr lang="en-GB" sz="1100">
                <a:solidFill>
                  <a:schemeClr val="dk1"/>
                </a:solidFill>
              </a:rPr>
              <a:t> Tasks per hour per evaluator</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GB" sz="1100" b="1">
                <a:solidFill>
                  <a:schemeClr val="dk1"/>
                </a:solidFill>
              </a:rPr>
              <a:t>Queue wait time:</a:t>
            </a:r>
            <a:r>
              <a:rPr lang="en-GB" sz="1100">
                <a:solidFill>
                  <a:schemeClr val="dk1"/>
                </a:solidFill>
              </a:rPr>
              <a:t> Should be </a:t>
            </a:r>
            <a:r>
              <a:rPr lang="en-GB" sz="1100" b="1">
                <a:solidFill>
                  <a:schemeClr val="dk1"/>
                </a:solidFill>
              </a:rPr>
              <a:t>&lt;24 hours</a:t>
            </a:r>
            <a:br>
              <a:rPr lang="en-GB" sz="1100" b="1">
                <a:solidFill>
                  <a:schemeClr val="dk1"/>
                </a:solidFill>
              </a:rPr>
            </a:br>
            <a:r>
              <a:rPr lang="en-GB" sz="1100">
                <a:solidFill>
                  <a:schemeClr val="dk1"/>
                </a:solidFill>
              </a:rPr>
              <a:t> → Longer = insufficient evaluation capacity</a:t>
            </a:r>
            <a:endParaRPr sz="1100">
              <a:solidFill>
                <a:schemeClr val="dk1"/>
              </a:solidFill>
            </a:endParaRPr>
          </a:p>
          <a:p>
            <a:pPr marL="0" lvl="0" indent="0" algn="l" rtl="0">
              <a:spcBef>
                <a:spcPts val="1200"/>
              </a:spcBef>
              <a:spcAft>
                <a:spcPts val="0"/>
              </a:spcAft>
              <a:buNone/>
            </a:pPr>
            <a:endParaRPr sz="1700" b="1">
              <a:solidFill>
                <a:schemeClr val="dk1"/>
              </a:solidFill>
            </a:endParaRPr>
          </a:p>
        </p:txBody>
      </p:sp>
      <p:sp>
        <p:nvSpPr>
          <p:cNvPr id="431" name="Google Shape;431;p74"/>
          <p:cNvSpPr txBox="1"/>
          <p:nvPr/>
        </p:nvSpPr>
        <p:spPr>
          <a:xfrm>
            <a:off x="4687725" y="1145250"/>
            <a:ext cx="4456200" cy="2853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GB" sz="1100" b="1">
                <a:solidFill>
                  <a:schemeClr val="dk1"/>
                </a:solidFill>
              </a:rPr>
              <a:t>3. Reliability Metrics</a:t>
            </a:r>
            <a:endParaRPr sz="1100"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GB" sz="1100" b="1">
                <a:solidFill>
                  <a:schemeClr val="dk1"/>
                </a:solidFill>
              </a:rPr>
              <a:t>Benchmark accuracy:</a:t>
            </a:r>
            <a:r>
              <a:rPr lang="en-GB" sz="1100">
                <a:solidFill>
                  <a:schemeClr val="dk1"/>
                </a:solidFill>
              </a:rPr>
              <a:t> Agreement with gold-standard scores</a:t>
            </a:r>
            <a:br>
              <a:rPr lang="en-GB" sz="1100">
                <a:solidFill>
                  <a:schemeClr val="dk1"/>
                </a:solidFill>
              </a:rPr>
            </a:br>
            <a:r>
              <a:rPr lang="en-GB" sz="1100">
                <a:solidFill>
                  <a:schemeClr val="dk1"/>
                </a:solidFill>
              </a:rPr>
              <a:t> → </a:t>
            </a:r>
            <a:r>
              <a:rPr lang="en-GB" sz="1100" b="1">
                <a:solidFill>
                  <a:schemeClr val="dk1"/>
                </a:solidFill>
              </a:rPr>
              <a:t>Target:</a:t>
            </a:r>
            <a:r>
              <a:rPr lang="en-GB" sz="1100">
                <a:solidFill>
                  <a:schemeClr val="dk1"/>
                </a:solidFill>
              </a:rPr>
              <a:t> &gt;85% (Retrain if &lt;70%)</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GB" sz="1100" b="1">
                <a:solidFill>
                  <a:schemeClr val="dk1"/>
                </a:solidFill>
              </a:rPr>
              <a:t>Re-evaluation rate:</a:t>
            </a:r>
            <a:r>
              <a:rPr lang="en-GB" sz="1100">
                <a:solidFill>
                  <a:schemeClr val="dk1"/>
                </a:solidFill>
              </a:rPr>
              <a:t> % needing a third review</a:t>
            </a:r>
            <a:br>
              <a:rPr lang="en-GB" sz="1100">
                <a:solidFill>
                  <a:schemeClr val="dk1"/>
                </a:solidFill>
              </a:rPr>
            </a:br>
            <a:r>
              <a:rPr lang="en-GB" sz="1100">
                <a:solidFill>
                  <a:schemeClr val="dk1"/>
                </a:solidFill>
              </a:rPr>
              <a:t> → </a:t>
            </a:r>
            <a:r>
              <a:rPr lang="en-GB" sz="1100" b="1">
                <a:solidFill>
                  <a:schemeClr val="dk1"/>
                </a:solidFill>
              </a:rPr>
              <a:t>Target:</a:t>
            </a:r>
            <a:r>
              <a:rPr lang="en-GB" sz="1100">
                <a:solidFill>
                  <a:schemeClr val="dk1"/>
                </a:solidFill>
              </a:rPr>
              <a:t> &lt;15% (Higher = unclear rubrics)</a:t>
            </a:r>
            <a:endParaRPr sz="11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GB" sz="1100" b="1">
                <a:solidFill>
                  <a:schemeClr val="dk1"/>
                </a:solidFill>
              </a:rPr>
              <a:t>4. System Health</a:t>
            </a:r>
            <a:endParaRPr sz="1100"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GB" sz="1100" b="1">
                <a:solidFill>
                  <a:schemeClr val="dk1"/>
                </a:solidFill>
              </a:rPr>
              <a:t>Evaluator drop-off rate:</a:t>
            </a:r>
            <a:r>
              <a:rPr lang="en-GB" sz="1100">
                <a:solidFill>
                  <a:schemeClr val="dk1"/>
                </a:solidFill>
              </a:rPr>
              <a:t> Indicates friction in workflow</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GB" sz="1100" b="1">
                <a:solidFill>
                  <a:schemeClr val="dk1"/>
                </a:solidFill>
              </a:rPr>
              <a:t>Flag rate:</a:t>
            </a:r>
            <a:r>
              <a:rPr lang="en-GB" sz="1100">
                <a:solidFill>
                  <a:schemeClr val="dk1"/>
                </a:solidFill>
              </a:rPr>
              <a:t> % of unusable conversations</a:t>
            </a:r>
            <a:br>
              <a:rPr lang="en-GB" sz="1100">
                <a:solidFill>
                  <a:schemeClr val="dk1"/>
                </a:solidFill>
              </a:rPr>
            </a:br>
            <a:r>
              <a:rPr lang="en-GB" sz="1100">
                <a:solidFill>
                  <a:schemeClr val="dk1"/>
                </a:solidFill>
              </a:rPr>
              <a:t> → High rates = interface or data quality issues </a:t>
            </a:r>
            <a:endParaRPr sz="1100">
              <a:solidFill>
                <a:schemeClr val="dk1"/>
              </a:solidFill>
            </a:endParaRPr>
          </a:p>
          <a:p>
            <a:pPr marL="0" lvl="0" indent="0" algn="l" rtl="0">
              <a:spcBef>
                <a:spcPts val="1200"/>
              </a:spcBef>
              <a:spcAft>
                <a:spcPts val="0"/>
              </a:spcAft>
              <a:buClr>
                <a:schemeClr val="dk1"/>
              </a:buClr>
              <a:buSzPts val="1100"/>
              <a:buFont typeface="Arial"/>
              <a:buNone/>
            </a:pPr>
            <a:endParaRPr sz="1700" b="1">
              <a:solidFill>
                <a:schemeClr val="dk1"/>
              </a:solidFill>
            </a:endParaRPr>
          </a:p>
          <a:p>
            <a:pPr marL="0" lvl="0" indent="0" algn="l" rtl="0">
              <a:spcBef>
                <a:spcPts val="0"/>
              </a:spcBef>
              <a:spcAft>
                <a:spcPts val="0"/>
              </a:spcAft>
              <a:buNone/>
            </a:pPr>
            <a:endParaRPr sz="1800">
              <a:solidFill>
                <a:schemeClr val="dk2"/>
              </a:solidFill>
            </a:endParaRPr>
          </a:p>
        </p:txBody>
      </p:sp>
      <p:sp>
        <p:nvSpPr>
          <p:cNvPr id="432" name="Google Shape;432;p74"/>
          <p:cNvSpPr txBox="1"/>
          <p:nvPr/>
        </p:nvSpPr>
        <p:spPr>
          <a:xfrm>
            <a:off x="83250" y="120800"/>
            <a:ext cx="6870300" cy="694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400"/>
              </a:spcBef>
              <a:spcAft>
                <a:spcPts val="0"/>
              </a:spcAft>
              <a:buClr>
                <a:schemeClr val="dk1"/>
              </a:buClr>
              <a:buSzPts val="1100"/>
              <a:buFont typeface="Arial"/>
              <a:buNone/>
            </a:pPr>
            <a:r>
              <a:rPr lang="en-GB" sz="1300" b="1">
                <a:solidFill>
                  <a:schemeClr val="dk1"/>
                </a:solidFill>
              </a:rPr>
              <a:t>4. Measuring System Quality</a:t>
            </a:r>
            <a:endParaRPr sz="1300" b="1">
              <a:solidFill>
                <a:schemeClr val="dk1"/>
              </a:solidFill>
            </a:endParaRPr>
          </a:p>
          <a:p>
            <a:pPr marL="0" lvl="0" indent="0" algn="l" rtl="0">
              <a:lnSpc>
                <a:spcPct val="115000"/>
              </a:lnSpc>
              <a:spcBef>
                <a:spcPts val="1200"/>
              </a:spcBef>
              <a:spcAft>
                <a:spcPts val="1200"/>
              </a:spcAft>
              <a:buClr>
                <a:schemeClr val="dk1"/>
              </a:buClr>
              <a:buSzPts val="1100"/>
              <a:buFont typeface="Arial"/>
              <a:buNone/>
            </a:pPr>
            <a:r>
              <a:rPr lang="en-GB" sz="1100">
                <a:solidFill>
                  <a:schemeClr val="dk1"/>
                </a:solidFill>
              </a:rPr>
              <a:t>The evaluation system itself must be assessed using four key metric categories:</a:t>
            </a:r>
            <a:endParaRPr sz="1800">
              <a:solidFill>
                <a:schemeClr val="dk2"/>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436"/>
        <p:cNvGrpSpPr/>
        <p:nvPr/>
      </p:nvGrpSpPr>
      <p:grpSpPr>
        <a:xfrm>
          <a:off x="0" y="0"/>
          <a:ext cx="0" cy="0"/>
          <a:chOff x="0" y="0"/>
          <a:chExt cx="0" cy="0"/>
        </a:xfrm>
      </p:grpSpPr>
      <p:sp>
        <p:nvSpPr>
          <p:cNvPr id="437" name="Google Shape;437;p75"/>
          <p:cNvSpPr txBox="1"/>
          <p:nvPr/>
        </p:nvSpPr>
        <p:spPr>
          <a:xfrm>
            <a:off x="109125" y="867925"/>
            <a:ext cx="6993300" cy="3291000"/>
          </a:xfrm>
          <a:prstGeom prst="rect">
            <a:avLst/>
          </a:prstGeom>
          <a:noFill/>
          <a:ln>
            <a:noFill/>
          </a:ln>
        </p:spPr>
        <p:txBody>
          <a:bodyPr spcFirstLastPara="1" wrap="square" lIns="91425" tIns="91425" rIns="91425" bIns="91425" anchor="t" anchorCtr="0">
            <a:noAutofit/>
          </a:bodyPr>
          <a:lstStyle/>
          <a:p>
            <a:pPr marL="457200" lvl="0" indent="-298450" algn="l" rtl="0">
              <a:lnSpc>
                <a:spcPct val="115000"/>
              </a:lnSpc>
              <a:spcBef>
                <a:spcPts val="1200"/>
              </a:spcBef>
              <a:spcAft>
                <a:spcPts val="0"/>
              </a:spcAft>
              <a:buClr>
                <a:schemeClr val="dk1"/>
              </a:buClr>
              <a:buSzPts val="1100"/>
              <a:buChar char="●"/>
            </a:pPr>
            <a:r>
              <a:rPr lang="en-GB" sz="1100" b="1">
                <a:solidFill>
                  <a:schemeClr val="dk1"/>
                </a:solidFill>
              </a:rPr>
              <a:t>Pre-Scoring</a:t>
            </a:r>
            <a:endParaRPr sz="1100" b="1">
              <a:solidFill>
                <a:schemeClr val="dk1"/>
              </a:solidFill>
            </a:endParaRPr>
          </a:p>
          <a:p>
            <a:pPr marL="914400" lvl="1" indent="-298450" algn="l" rtl="0">
              <a:lnSpc>
                <a:spcPct val="115000"/>
              </a:lnSpc>
              <a:spcBef>
                <a:spcPts val="0"/>
              </a:spcBef>
              <a:spcAft>
                <a:spcPts val="0"/>
              </a:spcAft>
              <a:buClr>
                <a:schemeClr val="dk1"/>
              </a:buClr>
              <a:buSzPts val="1100"/>
              <a:buChar char="○"/>
            </a:pPr>
            <a:r>
              <a:rPr lang="en-GB" sz="1100">
                <a:solidFill>
                  <a:schemeClr val="dk1"/>
                </a:solidFill>
              </a:rPr>
              <a:t>AI generates initial scores for all criteria</a:t>
            </a:r>
            <a:endParaRPr sz="1100">
              <a:solidFill>
                <a:schemeClr val="dk1"/>
              </a:solidFill>
            </a:endParaRPr>
          </a:p>
          <a:p>
            <a:pPr marL="914400" lvl="1" indent="-298450" algn="l" rtl="0">
              <a:lnSpc>
                <a:spcPct val="115000"/>
              </a:lnSpc>
              <a:spcBef>
                <a:spcPts val="0"/>
              </a:spcBef>
              <a:spcAft>
                <a:spcPts val="0"/>
              </a:spcAft>
              <a:buClr>
                <a:schemeClr val="dk1"/>
              </a:buClr>
              <a:buSzPts val="1100"/>
              <a:buChar char="○"/>
            </a:pPr>
            <a:r>
              <a:rPr lang="en-GB" sz="1100">
                <a:solidFill>
                  <a:schemeClr val="dk1"/>
                </a:solidFill>
              </a:rPr>
              <a:t>Evaluators </a:t>
            </a:r>
            <a:r>
              <a:rPr lang="en-GB" sz="1100" b="1">
                <a:solidFill>
                  <a:schemeClr val="dk1"/>
                </a:solidFill>
              </a:rPr>
              <a:t>validate or adjust</a:t>
            </a:r>
            <a:r>
              <a:rPr lang="en-GB" sz="1100">
                <a:solidFill>
                  <a:schemeClr val="dk1"/>
                </a:solidFill>
              </a:rPr>
              <a:t> after first listen</a:t>
            </a:r>
            <a:endParaRPr sz="1100">
              <a:solidFill>
                <a:schemeClr val="dk1"/>
              </a:solidFill>
            </a:endParaRPr>
          </a:p>
          <a:p>
            <a:pPr marL="914400" lvl="1" indent="-298450" algn="l" rtl="0">
              <a:lnSpc>
                <a:spcPct val="115000"/>
              </a:lnSpc>
              <a:spcBef>
                <a:spcPts val="0"/>
              </a:spcBef>
              <a:spcAft>
                <a:spcPts val="0"/>
              </a:spcAft>
              <a:buClr>
                <a:schemeClr val="dk1"/>
              </a:buClr>
              <a:buSzPts val="1100"/>
              <a:buChar char="○"/>
            </a:pPr>
            <a:r>
              <a:rPr lang="en-GB" sz="1100">
                <a:solidFill>
                  <a:schemeClr val="dk1"/>
                </a:solidFill>
              </a:rPr>
              <a:t>Reduces effort and improves </a:t>
            </a:r>
            <a:r>
              <a:rPr lang="en-GB" sz="1100" b="1">
                <a:solidFill>
                  <a:schemeClr val="dk1"/>
                </a:solidFill>
              </a:rPr>
              <a:t>evaluation speed</a:t>
            </a:r>
            <a:endParaRPr sz="1100" b="1">
              <a:solidFill>
                <a:schemeClr val="dk1"/>
              </a:solidFill>
            </a:endParaRPr>
          </a:p>
          <a:p>
            <a:pPr marL="457200" lvl="0" indent="-298450" algn="l" rtl="0">
              <a:lnSpc>
                <a:spcPct val="115000"/>
              </a:lnSpc>
              <a:spcBef>
                <a:spcPts val="0"/>
              </a:spcBef>
              <a:spcAft>
                <a:spcPts val="0"/>
              </a:spcAft>
              <a:buClr>
                <a:schemeClr val="dk1"/>
              </a:buClr>
              <a:buSzPts val="1100"/>
              <a:buChar char="●"/>
            </a:pPr>
            <a:r>
              <a:rPr lang="en-GB" sz="1100" b="1">
                <a:solidFill>
                  <a:schemeClr val="dk1"/>
                </a:solidFill>
              </a:rPr>
              <a:t>Smart Prioritization</a:t>
            </a:r>
            <a:endParaRPr sz="1100" b="1">
              <a:solidFill>
                <a:schemeClr val="dk1"/>
              </a:solidFill>
            </a:endParaRPr>
          </a:p>
          <a:p>
            <a:pPr marL="914400" lvl="1" indent="-298450" algn="l" rtl="0">
              <a:lnSpc>
                <a:spcPct val="115000"/>
              </a:lnSpc>
              <a:spcBef>
                <a:spcPts val="0"/>
              </a:spcBef>
              <a:spcAft>
                <a:spcPts val="0"/>
              </a:spcAft>
              <a:buClr>
                <a:schemeClr val="dk1"/>
              </a:buClr>
              <a:buSzPts val="1100"/>
              <a:buChar char="○"/>
            </a:pPr>
            <a:r>
              <a:rPr lang="en-GB" sz="1100">
                <a:solidFill>
                  <a:schemeClr val="dk1"/>
                </a:solidFill>
              </a:rPr>
              <a:t>AI ranks conversations by </a:t>
            </a:r>
            <a:r>
              <a:rPr lang="en-GB" sz="1100" b="1">
                <a:solidFill>
                  <a:schemeClr val="dk1"/>
                </a:solidFill>
              </a:rPr>
              <a:t>complexity or uncertainty</a:t>
            </a:r>
            <a:endParaRPr sz="1100" b="1">
              <a:solidFill>
                <a:schemeClr val="dk1"/>
              </a:solidFill>
            </a:endParaRPr>
          </a:p>
          <a:p>
            <a:pPr marL="914400" lvl="1" indent="-298450" algn="l" rtl="0">
              <a:lnSpc>
                <a:spcPct val="115000"/>
              </a:lnSpc>
              <a:spcBef>
                <a:spcPts val="0"/>
              </a:spcBef>
              <a:spcAft>
                <a:spcPts val="0"/>
              </a:spcAft>
              <a:buClr>
                <a:schemeClr val="dk1"/>
              </a:buClr>
              <a:buSzPts val="1100"/>
              <a:buChar char="○"/>
            </a:pPr>
            <a:r>
              <a:rPr lang="en-GB" sz="1100">
                <a:solidFill>
                  <a:schemeClr val="dk1"/>
                </a:solidFill>
              </a:rPr>
              <a:t>High-risk cases → experienced evaluators</a:t>
            </a:r>
            <a:endParaRPr sz="1100">
              <a:solidFill>
                <a:schemeClr val="dk1"/>
              </a:solidFill>
            </a:endParaRPr>
          </a:p>
          <a:p>
            <a:pPr marL="914400" lvl="1" indent="-298450" algn="l" rtl="0">
              <a:lnSpc>
                <a:spcPct val="115000"/>
              </a:lnSpc>
              <a:spcBef>
                <a:spcPts val="0"/>
              </a:spcBef>
              <a:spcAft>
                <a:spcPts val="0"/>
              </a:spcAft>
              <a:buClr>
                <a:schemeClr val="dk1"/>
              </a:buClr>
              <a:buSzPts val="1100"/>
              <a:buChar char="○"/>
            </a:pPr>
            <a:r>
              <a:rPr lang="en-GB" sz="1100">
                <a:solidFill>
                  <a:schemeClr val="dk1"/>
                </a:solidFill>
              </a:rPr>
              <a:t>Routine cases → standard evaluators</a:t>
            </a:r>
            <a:endParaRPr sz="1100">
              <a:solidFill>
                <a:schemeClr val="dk1"/>
              </a:solidFill>
            </a:endParaRPr>
          </a:p>
          <a:p>
            <a:pPr marL="914400" lvl="1" indent="-298450" algn="l" rtl="0">
              <a:lnSpc>
                <a:spcPct val="115000"/>
              </a:lnSpc>
              <a:spcBef>
                <a:spcPts val="0"/>
              </a:spcBef>
              <a:spcAft>
                <a:spcPts val="0"/>
              </a:spcAft>
              <a:buClr>
                <a:schemeClr val="dk1"/>
              </a:buClr>
              <a:buSzPts val="1100"/>
              <a:buChar char="○"/>
            </a:pPr>
            <a:r>
              <a:rPr lang="en-GB" sz="1100">
                <a:solidFill>
                  <a:schemeClr val="dk1"/>
                </a:solidFill>
              </a:rPr>
              <a:t>Optimizes </a:t>
            </a:r>
            <a:r>
              <a:rPr lang="en-GB" sz="1100" b="1">
                <a:solidFill>
                  <a:schemeClr val="dk1"/>
                </a:solidFill>
              </a:rPr>
              <a:t>resource allocation</a:t>
            </a:r>
            <a:endParaRPr sz="1100" b="1">
              <a:solidFill>
                <a:schemeClr val="dk1"/>
              </a:solidFill>
            </a:endParaRPr>
          </a:p>
          <a:p>
            <a:pPr marL="457200" lvl="0" indent="-298450" algn="l" rtl="0">
              <a:lnSpc>
                <a:spcPct val="115000"/>
              </a:lnSpc>
              <a:spcBef>
                <a:spcPts val="0"/>
              </a:spcBef>
              <a:spcAft>
                <a:spcPts val="0"/>
              </a:spcAft>
              <a:buClr>
                <a:schemeClr val="dk1"/>
              </a:buClr>
              <a:buSzPts val="1100"/>
              <a:buChar char="●"/>
            </a:pPr>
            <a:r>
              <a:rPr lang="en-GB" sz="1100" b="1">
                <a:solidFill>
                  <a:schemeClr val="dk1"/>
                </a:solidFill>
              </a:rPr>
              <a:t>Automated Issue Highlighting</a:t>
            </a:r>
            <a:endParaRPr sz="1100" b="1">
              <a:solidFill>
                <a:schemeClr val="dk1"/>
              </a:solidFill>
            </a:endParaRPr>
          </a:p>
          <a:p>
            <a:pPr marL="914400" lvl="1" indent="-298450" algn="l" rtl="0">
              <a:lnSpc>
                <a:spcPct val="115000"/>
              </a:lnSpc>
              <a:spcBef>
                <a:spcPts val="0"/>
              </a:spcBef>
              <a:spcAft>
                <a:spcPts val="0"/>
              </a:spcAft>
              <a:buClr>
                <a:schemeClr val="dk1"/>
              </a:buClr>
              <a:buSzPts val="1100"/>
              <a:buChar char="○"/>
            </a:pPr>
            <a:r>
              <a:rPr lang="en-GB" sz="1100">
                <a:solidFill>
                  <a:schemeClr val="dk1"/>
                </a:solidFill>
              </a:rPr>
              <a:t>Flags potential problem areas (e.g., silences, repetition, topic shifts)</a:t>
            </a:r>
            <a:endParaRPr sz="1100">
              <a:solidFill>
                <a:schemeClr val="dk1"/>
              </a:solidFill>
            </a:endParaRPr>
          </a:p>
          <a:p>
            <a:pPr marL="914400" lvl="1" indent="-298450" algn="l" rtl="0">
              <a:lnSpc>
                <a:spcPct val="115000"/>
              </a:lnSpc>
              <a:spcBef>
                <a:spcPts val="0"/>
              </a:spcBef>
              <a:spcAft>
                <a:spcPts val="0"/>
              </a:spcAft>
              <a:buClr>
                <a:schemeClr val="dk1"/>
              </a:buClr>
              <a:buSzPts val="1100"/>
              <a:buChar char="○"/>
            </a:pPr>
            <a:r>
              <a:rPr lang="en-GB" sz="1100">
                <a:solidFill>
                  <a:schemeClr val="dk1"/>
                </a:solidFill>
              </a:rPr>
              <a:t>Enables </a:t>
            </a:r>
            <a:r>
              <a:rPr lang="en-GB" sz="1100" b="1">
                <a:solidFill>
                  <a:schemeClr val="dk1"/>
                </a:solidFill>
              </a:rPr>
              <a:t>targeted review instead of full replays</a:t>
            </a:r>
            <a:endParaRPr sz="1100" b="1">
              <a:solidFill>
                <a:schemeClr val="dk1"/>
              </a:solidFill>
            </a:endParaRPr>
          </a:p>
          <a:p>
            <a:pPr marL="457200" lvl="0" indent="-298450" algn="l" rtl="0">
              <a:lnSpc>
                <a:spcPct val="115000"/>
              </a:lnSpc>
              <a:spcBef>
                <a:spcPts val="0"/>
              </a:spcBef>
              <a:spcAft>
                <a:spcPts val="0"/>
              </a:spcAft>
              <a:buClr>
                <a:schemeClr val="dk1"/>
              </a:buClr>
              <a:buSzPts val="1100"/>
              <a:buChar char="●"/>
            </a:pPr>
            <a:r>
              <a:rPr lang="en-GB" sz="1100" b="1">
                <a:solidFill>
                  <a:schemeClr val="dk1"/>
                </a:solidFill>
              </a:rPr>
              <a:t>Transcript Summary Generation</a:t>
            </a:r>
            <a:endParaRPr sz="1100" b="1">
              <a:solidFill>
                <a:schemeClr val="dk1"/>
              </a:solidFill>
            </a:endParaRPr>
          </a:p>
          <a:p>
            <a:pPr marL="914400" lvl="1" indent="-298450" algn="l" rtl="0">
              <a:lnSpc>
                <a:spcPct val="115000"/>
              </a:lnSpc>
              <a:spcBef>
                <a:spcPts val="0"/>
              </a:spcBef>
              <a:spcAft>
                <a:spcPts val="0"/>
              </a:spcAft>
              <a:buClr>
                <a:schemeClr val="dk1"/>
              </a:buClr>
              <a:buSzPts val="1100"/>
              <a:buChar char="○"/>
            </a:pPr>
            <a:r>
              <a:rPr lang="en-GB" sz="1100">
                <a:solidFill>
                  <a:schemeClr val="dk1"/>
                </a:solidFill>
              </a:rPr>
              <a:t>Provides concise summary of conversation and key issues</a:t>
            </a:r>
            <a:endParaRPr sz="1100">
              <a:solidFill>
                <a:schemeClr val="dk1"/>
              </a:solidFill>
            </a:endParaRPr>
          </a:p>
          <a:p>
            <a:pPr marL="914400" lvl="1" indent="-298450" algn="l" rtl="0">
              <a:lnSpc>
                <a:spcPct val="115000"/>
              </a:lnSpc>
              <a:spcBef>
                <a:spcPts val="0"/>
              </a:spcBef>
              <a:spcAft>
                <a:spcPts val="0"/>
              </a:spcAft>
              <a:buClr>
                <a:schemeClr val="dk1"/>
              </a:buClr>
              <a:buSzPts val="1100"/>
              <a:buChar char="○"/>
            </a:pPr>
            <a:r>
              <a:rPr lang="en-GB" sz="1100">
                <a:solidFill>
                  <a:schemeClr val="dk1"/>
                </a:solidFill>
              </a:rPr>
              <a:t>Helps evaluators </a:t>
            </a:r>
            <a:r>
              <a:rPr lang="en-GB" sz="1100" b="1">
                <a:solidFill>
                  <a:schemeClr val="dk1"/>
                </a:solidFill>
              </a:rPr>
              <a:t>quickly orient context</a:t>
            </a:r>
            <a:endParaRPr sz="1100" b="1">
              <a:solidFill>
                <a:schemeClr val="dk1"/>
              </a:solidFill>
            </a:endParaRPr>
          </a:p>
          <a:p>
            <a:pPr marL="0" lvl="0" indent="0" algn="l" rtl="0">
              <a:spcBef>
                <a:spcPts val="1200"/>
              </a:spcBef>
              <a:spcAft>
                <a:spcPts val="0"/>
              </a:spcAft>
              <a:buNone/>
            </a:pPr>
            <a:endParaRPr sz="1700" b="1">
              <a:solidFill>
                <a:schemeClr val="dk1"/>
              </a:solidFill>
            </a:endParaRPr>
          </a:p>
        </p:txBody>
      </p:sp>
      <p:sp>
        <p:nvSpPr>
          <p:cNvPr id="438" name="Google Shape;438;p75"/>
          <p:cNvSpPr txBox="1"/>
          <p:nvPr/>
        </p:nvSpPr>
        <p:spPr>
          <a:xfrm>
            <a:off x="109125" y="549150"/>
            <a:ext cx="8742900" cy="620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200">
                <a:solidFill>
                  <a:schemeClr val="dk1"/>
                </a:solidFill>
              </a:rPr>
              <a:t>When volume is high, the goal is not to replace human evaluators but to make their time count more. AI assists in :</a:t>
            </a:r>
            <a:endParaRPr sz="1200">
              <a:solidFill>
                <a:schemeClr val="dk1"/>
              </a:solidFill>
            </a:endParaRPr>
          </a:p>
        </p:txBody>
      </p:sp>
      <p:sp>
        <p:nvSpPr>
          <p:cNvPr id="439" name="Google Shape;439;p75"/>
          <p:cNvSpPr txBox="1"/>
          <p:nvPr/>
        </p:nvSpPr>
        <p:spPr>
          <a:xfrm>
            <a:off x="63450" y="4049300"/>
            <a:ext cx="8742900" cy="429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GB" sz="1100">
                <a:solidFill>
                  <a:schemeClr val="dk1"/>
                </a:solidFill>
              </a:rPr>
              <a:t>A reliable evaluation system is built on </a:t>
            </a:r>
            <a:r>
              <a:rPr lang="en-GB" sz="1100" b="1">
                <a:solidFill>
                  <a:schemeClr val="dk1"/>
                </a:solidFill>
              </a:rPr>
              <a:t>clear criteria, intuitive interface, continuous calibration, and strong metrics</a:t>
            </a:r>
            <a:r>
              <a:rPr lang="en-GB" sz="1100">
                <a:solidFill>
                  <a:schemeClr val="dk1"/>
                </a:solidFill>
              </a:rPr>
              <a:t>. At scale, AI improves efficiency by handling routine tasks and highlighting complex cases, while </a:t>
            </a:r>
            <a:r>
              <a:rPr lang="en-GB" sz="1100" b="1">
                <a:solidFill>
                  <a:schemeClr val="dk1"/>
                </a:solidFill>
              </a:rPr>
              <a:t>human judgment remains essential for final quality decisions</a:t>
            </a:r>
            <a:r>
              <a:rPr lang="en-GB" sz="1100">
                <a:solidFill>
                  <a:schemeClr val="dk1"/>
                </a:solidFill>
              </a:rPr>
              <a:t>.</a:t>
            </a:r>
            <a:endParaRPr sz="1100">
              <a:solidFill>
                <a:schemeClr val="dk1"/>
              </a:solidFill>
            </a:endParaRPr>
          </a:p>
          <a:p>
            <a:pPr marL="0" lvl="0" indent="0" algn="l" rtl="0">
              <a:spcBef>
                <a:spcPts val="1200"/>
              </a:spcBef>
              <a:spcAft>
                <a:spcPts val="0"/>
              </a:spcAft>
              <a:buNone/>
            </a:pPr>
            <a:endParaRPr sz="1800">
              <a:solidFill>
                <a:schemeClr val="dk2"/>
              </a:solidFill>
            </a:endParaRPr>
          </a:p>
        </p:txBody>
      </p:sp>
      <p:sp>
        <p:nvSpPr>
          <p:cNvPr id="440" name="Google Shape;440;p75"/>
          <p:cNvSpPr txBox="1"/>
          <p:nvPr/>
        </p:nvSpPr>
        <p:spPr>
          <a:xfrm>
            <a:off x="841525" y="111650"/>
            <a:ext cx="5664300" cy="429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800" b="1" u="sng">
                <a:solidFill>
                  <a:schemeClr val="dk1"/>
                </a:solidFill>
              </a:rPr>
              <a:t>Bonus question - answer</a:t>
            </a:r>
            <a:endParaRPr sz="1800" b="1" u="sng">
              <a:solidFill>
                <a:schemeClr val="dk1"/>
              </a:solidFill>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sp>
        <p:nvSpPr>
          <p:cNvPr id="445" name="Google Shape;445;p76"/>
          <p:cNvSpPr txBox="1">
            <a:spLocks noGrp="1"/>
          </p:cNvSpPr>
          <p:nvPr>
            <p:ph type="title"/>
          </p:nvPr>
        </p:nvSpPr>
        <p:spPr>
          <a:xfrm>
            <a:off x="63925" y="1806900"/>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GB" dirty="0"/>
              <a:t>THANK </a:t>
            </a:r>
            <a:r>
              <a:rPr lang="en-GB" dirty="0" smtClean="0"/>
              <a:t>YOU</a:t>
            </a:r>
            <a:br>
              <a:rPr lang="en-GB" dirty="0" smtClean="0"/>
            </a:br>
            <a:r>
              <a:rPr lang="en-GB" dirty="0" smtClean="0"/>
              <a:t/>
            </a:r>
            <a:br>
              <a:rPr lang="en-GB" dirty="0" smtClean="0"/>
            </a:br>
            <a:r>
              <a:rPr lang="en-GB" dirty="0" smtClean="0"/>
              <a:t>By – Ravi </a:t>
            </a:r>
            <a:r>
              <a:rPr lang="en-GB" dirty="0" err="1" smtClean="0"/>
              <a:t>Vinayak</a:t>
            </a:r>
            <a:r>
              <a:rPr lang="en-GB" dirty="0" smtClean="0"/>
              <a:t> </a:t>
            </a: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3704</Words>
  <PresentationFormat>On-screen Show (16:9)</PresentationFormat>
  <Paragraphs>438</Paragraphs>
  <Slides>63</Slides>
  <Notes>63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63</vt:i4>
      </vt:variant>
    </vt:vector>
  </HeadingPairs>
  <TitlesOfParts>
    <vt:vector size="66" baseType="lpstr">
      <vt:lpstr>Arial</vt:lpstr>
      <vt:lpstr>Roboto Mono</vt:lpstr>
      <vt:lpstr>Simple Light</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Part II — Automated System to Detect &amp; Block Low-Quality Transcribers</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THANK YOU  By – Ravi Vinayak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lenovo</dc:creator>
  <cp:lastModifiedBy>lenovo</cp:lastModifiedBy>
  <cp:revision>1</cp:revision>
  <dcterms:modified xsi:type="dcterms:W3CDTF">2026-09-26T11:40:39Z</dcterms:modified>
</cp:coreProperties>
</file>